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thầy và toàn thể các bạn. Nhóm gồm Lê Quốc Khánh, Nguyễn Bửu Phúc, Nguyễn Hữu Đức và Phạm Triệu Khang Duy xin trình bày chủ đề Career Opportunities in IC Design at Marvell Vietnam. Bài báo cáo không chỉ giới thiệu doanh nghiệp mà tập trung vào góc nhìn hướng nghiệp: Marvell làm gì, các nhóm kỹ sư tham gia vào đâu trong quy trình IC design, kỹ năng nào được yêu cầu và sinh viên nên chuẩn bị ra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đầu trình bày ngắn gọn Marvell là công ty gì, vị thế của Việt Nam trong mạng lưới R&amp;D toàn cầu, và những nhóm sản phẩm kỹ sư Việt Nam có thể tham gia phát triển. Mục tiêu là tạo bối cảnh trước khi đi vào từng career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Marvell Technology là tập đoàn bán dẫn hoạt động trong lĩnh vực hạ tầng dữ liệu, với các sản phẩm phục vụ data center, cloud, AI, 5G và lưu trữ. Theo nội dung nhóm tổng hợp, Việt Nam đã trở thành trung tâm R&amp;D lớn thứ ba của Marvell trên toàn cầu, với hai cơ sở chính tại Thành phố Hồ Chí Minh và Đà Nẵng, cùng hơn 500 kỹ sư. Điều quan trọng là đội ngũ tại Việt Nam tham gia vào các hoạt động kỹ thuật và thiết kế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nhóm sản phẩm chính gồm Custom ASIC/SoC, high-speed networking, high-speed SerDes/PCIe và storage controllers. Khi nhìn vào bốn nhóm này, ta thấy Marvell cần cả kỹ sư digital, verification, physical, analog và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hiểu các vị trí nghề nghiệp, trước hết cần nhìn vào ASIC design flow. Specification xác định kiến trúc. RTL Design hiện thực chức năng bằng Verilog hoặc SystemVerilog; Verification kiểm tra tính đúng. Tiếp theo là synthesis và DFT, rồi Physical Design và STA, cuối cùng là tape-out và silicon validation. Mỗi giai đoạn tương ứng với những nhóm kỹ sư khác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 dữ liệu chương trình internship 2026 mà nhóm sử dụng, có 66 vị trí thực tập trải trên nhiều mảng. Điều đáng chú ý là nhu cầu phân bố từ Digital, Analog, Physical Design đến DFT, Verification và các nhóm khác, tạo nhiều hướng lựa chọn tùy thế mạnh của sinh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Digital/RTL Design chuyển specification thành mô tả phần cứng, ví dụ FSM, datapath hay các module điều khiển. Verification xây dựng testbench, stimulus, assertions hoặc UVM environment để tìm lỗi. Nói ngắn gọn, RTL Design tạo ra thiết kế, còn Verification chứng minh rằng thiết kế hoạt động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DFT thêm các cấu trúc giúp kiểm tra chip sau sản xuất như Scan Chain, MBIST và ATPG. Physical Design nhận netlist sau synthesis và thực hiện floorplan, placement, CTS, routing và timing closure. Analog/Mixed-Signal thiết kế các khối như SerDes, PLL, ADC hoặc DAC, nên cần nền tảng transistor, CMOS và công cụ analog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mảng có skill set riêng. Digital tập trung logic số, Verilog/SystemVerilog; Verification cần UVM và testbench; DFT cần scan, ATPG, MBIST; Physical Design cần PnR, STA, timing closure; Analog cần SPICE, Spectre và transistor-level design. Điểm chung là Linux, đọc tài liệu tiếng Anh và scripting.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phân bố internship 2026 của nhóm, Digital Design và Analog Design đều có 13 vị trí, Physical Design 10, Analog Layout 6, còn Verification, DFT, STA có số lượng nhỏ hơn. Không nên kết luận một nghề luôn tốt hơn nghề khác; điều quan trọng là Marvell Vietnam cần nhân lực ở cả frontend, backend và analog.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Bên cạnh nội dung công việc, sinh viên quan tâm đến đãi ngộ và cách chuẩn bị. Nhóm tập trung vào cấu trúc benefit như allowance, lương tháng 13, performance bonus, RSU và bảo hiểm, thay vì khẳng định một mức lương cố định. Roadmap gồm bốn bước: nền tảng, thực hành project, công cụ Linux/scripting, và tiếng Anh kỹ thuật cùng kỹ năng phỏng vấn.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Marvell Vietnam mang lại nhiều hướng nghề nghiệp trong IC Design. Điểm quan trọng nhất đối với sinh viên không phải là học tất cả mọi thứ cùng lúc, mà là chọn một track phù hợp và xây nền tảng đủ sâu cho track đó. Nhóm xin cảm ơn thầy và các bạn đã lắng nghe và rất mong nhận được câu hỏi hoặc góp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07111F"/>
            </a:solidFill>
            <a:prstDash val="solid"/>
          </a:ln>
        </p:spPr>
      </p:sp>
      <p:sp>
        <p:nvSpPr>
          <p:cNvPr id="3" name="Shape 1"/>
          <p:cNvSpPr/>
          <p:nvPr/>
        </p:nvSpPr>
        <p:spPr>
          <a:xfrm>
            <a:off x="530352" y="6464808"/>
            <a:ext cx="11109960" cy="0"/>
          </a:xfrm>
          <a:prstGeom prst="line">
            <a:avLst/>
          </a:prstGeom>
          <a:noFill/>
          <a:ln w="12700">
            <a:solidFill>
              <a:srgbClr val="1E344B"/>
            </a:solidFill>
            <a:prstDash val="solid"/>
          </a:ln>
        </p:spPr>
      </p:sp>
      <p:sp>
        <p:nvSpPr>
          <p:cNvPr id="4" name="Text 2"/>
          <p:cNvSpPr/>
          <p:nvPr/>
        </p:nvSpPr>
        <p:spPr>
          <a:xfrm>
            <a:off x="566928" y="6519672"/>
            <a:ext cx="5212080" cy="164592"/>
          </a:xfrm>
          <a:prstGeom prst="rect">
            <a:avLst/>
          </a:prstGeom>
          <a:noFill/>
          <a:ln/>
        </p:spPr>
        <p:txBody>
          <a:bodyPr wrap="square" lIns="0" tIns="0" rIns="0" bIns="0" rtlCol="0" anchor="ctr"/>
          <a:lstStyle/>
          <a:p>
            <a:pPr indent="0" marL="0">
              <a:buNone/>
            </a:pPr>
            <a:r>
              <a:rPr lang="en-US" sz="750" b="1" dirty="0">
                <a:solidFill>
                  <a:srgbClr val="6F829A"/>
                </a:solidFill>
                <a:latin typeface="Aptos" pitchFamily="34" charset="0"/>
                <a:ea typeface="Aptos" pitchFamily="34" charset="-122"/>
                <a:cs typeface="Aptos" pitchFamily="34" charset="-120"/>
              </a:rPr>
              <a:t>MARVELL VIETNAM · CAREER OPPORTUNITIES</a:t>
            </a:r>
            <a:endParaRPr lang="en-US" sz="750" dirty="0"/>
          </a:p>
        </p:txBody>
      </p:sp>
      <p:sp>
        <p:nvSpPr>
          <p:cNvPr id="25" name="Slide Number Placeholder 0"/>
          <p:cNvSpPr>
            <a:spLocks noGrp="1"/>
          </p:cNvSpPr>
          <p:nvPr>
            <p:ph type="sldNum" sz="quarter" idx="4294967295"/>
          </p:nvPr>
        </p:nvSpPr>
        <p:spPr>
          <a:xfrm>
            <a:off x="11201400" y="650138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F829A"/>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50138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F829A"/>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66928" y="402336"/>
            <a:ext cx="5943600" cy="201168"/>
          </a:xfrm>
          <a:prstGeom prst="rect">
            <a:avLst/>
          </a:prstGeom>
          <a:noFill/>
          <a:ln/>
        </p:spPr>
        <p:txBody>
          <a:bodyPr wrap="square" lIns="0" tIns="0" rIns="0" bIns="0" rtlCol="0" anchor="ctr">
            <a:normAutofit/>
          </a:bodyPr>
          <a:lstStyle/>
          <a:p>
            <a:pPr algn="l" indent="0" marL="0">
              <a:buNone/>
            </a:pPr>
            <a:r>
              <a:rPr lang="en-US" sz="930" b="1" spc="140" kern="0" dirty="0">
                <a:solidFill>
                  <a:srgbClr val="4FD1C5"/>
                </a:solidFill>
                <a:latin typeface="Aptos" pitchFamily="34" charset="0"/>
                <a:ea typeface="Aptos" pitchFamily="34" charset="-122"/>
                <a:cs typeface="Aptos" pitchFamily="34" charset="-120"/>
              </a:rPr>
              <a:t>ADDITIONAL TOPICS · IC DESIGN CAREER</a:t>
            </a:r>
            <a:endParaRPr lang="en-US" sz="930" dirty="0"/>
          </a:p>
        </p:txBody>
      </p:sp>
      <p:sp>
        <p:nvSpPr>
          <p:cNvPr id="3" name="Shape 1"/>
          <p:cNvSpPr/>
          <p:nvPr/>
        </p:nvSpPr>
        <p:spPr>
          <a:xfrm>
            <a:off x="585216" y="1069848"/>
            <a:ext cx="2651760" cy="310896"/>
          </a:xfrm>
          <a:prstGeom prst="roundRect">
            <a:avLst>
              <a:gd name="adj" fmla="val 41176"/>
            </a:avLst>
          </a:prstGeom>
          <a:solidFill>
            <a:srgbClr val="0D2435">
              <a:alpha val="90000"/>
            </a:srgbClr>
          </a:solidFill>
          <a:ln w="12700">
            <a:solidFill>
              <a:srgbClr val="4FD1C5">
                <a:alpha val="60000"/>
              </a:srgbClr>
            </a:solidFill>
            <a:prstDash val="solid"/>
          </a:ln>
        </p:spPr>
      </p:sp>
      <p:sp>
        <p:nvSpPr>
          <p:cNvPr id="4" name="Shape 2"/>
          <p:cNvSpPr/>
          <p:nvPr/>
        </p:nvSpPr>
        <p:spPr>
          <a:xfrm>
            <a:off x="676656" y="1175004"/>
            <a:ext cx="73152" cy="73152"/>
          </a:xfrm>
          <a:prstGeom prst="ellipse">
            <a:avLst/>
          </a:prstGeom>
          <a:solidFill>
            <a:srgbClr val="4FD1C5"/>
          </a:solidFill>
          <a:ln w="12700">
            <a:solidFill>
              <a:srgbClr val="4FD1C5"/>
            </a:solidFill>
            <a:prstDash val="solid"/>
          </a:ln>
        </p:spPr>
      </p:sp>
      <p:sp>
        <p:nvSpPr>
          <p:cNvPr id="5" name="Text 3"/>
          <p:cNvSpPr/>
          <p:nvPr/>
        </p:nvSpPr>
        <p:spPr>
          <a:xfrm>
            <a:off x="795528" y="1088136"/>
            <a:ext cx="2404872"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20–30 minute class presentation</a:t>
            </a:r>
            <a:endParaRPr lang="en-US" sz="920" dirty="0"/>
          </a:p>
        </p:txBody>
      </p:sp>
      <p:sp>
        <p:nvSpPr>
          <p:cNvPr id="6" name="Text 4"/>
          <p:cNvSpPr/>
          <p:nvPr/>
        </p:nvSpPr>
        <p:spPr>
          <a:xfrm>
            <a:off x="585216" y="1572768"/>
            <a:ext cx="8778240" cy="603504"/>
          </a:xfrm>
          <a:prstGeom prst="rect">
            <a:avLst/>
          </a:prstGeom>
          <a:noFill/>
          <a:ln/>
        </p:spPr>
        <p:txBody>
          <a:bodyPr wrap="square" lIns="0" tIns="0" rIns="0" bIns="0" rtlCol="0" anchor="ctr">
            <a:normAutofit/>
          </a:bodyPr>
          <a:lstStyle/>
          <a:p>
            <a:pPr algn="l" indent="0" marL="0">
              <a:buNone/>
            </a:pPr>
            <a:r>
              <a:rPr lang="en-US" sz="3400" b="1" dirty="0">
                <a:solidFill>
                  <a:srgbClr val="F5F8FC"/>
                </a:solidFill>
                <a:latin typeface="Aptos Display" pitchFamily="34" charset="0"/>
                <a:ea typeface="Aptos Display" pitchFamily="34" charset="-122"/>
                <a:cs typeface="Aptos Display" pitchFamily="34" charset="-120"/>
              </a:rPr>
              <a:t>Career Opportunities in</a:t>
            </a:r>
            <a:endParaRPr lang="en-US" sz="3400" dirty="0"/>
          </a:p>
        </p:txBody>
      </p:sp>
      <p:sp>
        <p:nvSpPr>
          <p:cNvPr id="7" name="Text 5"/>
          <p:cNvSpPr/>
          <p:nvPr/>
        </p:nvSpPr>
        <p:spPr>
          <a:xfrm>
            <a:off x="585216" y="2176272"/>
            <a:ext cx="10789920" cy="685800"/>
          </a:xfrm>
          <a:prstGeom prst="rect">
            <a:avLst/>
          </a:prstGeom>
          <a:noFill/>
          <a:ln/>
        </p:spPr>
        <p:txBody>
          <a:bodyPr wrap="square" lIns="0" tIns="0" rIns="0" bIns="0" rtlCol="0" anchor="ctr">
            <a:normAutofit/>
          </a:bodyPr>
          <a:lstStyle/>
          <a:p>
            <a:pPr algn="l" indent="0" marL="0">
              <a:buNone/>
            </a:pPr>
            <a:r>
              <a:rPr lang="en-US" sz="3900" b="1" dirty="0">
                <a:solidFill>
                  <a:srgbClr val="4FD1C5"/>
                </a:solidFill>
                <a:latin typeface="Aptos Display" pitchFamily="34" charset="0"/>
                <a:ea typeface="Aptos Display" pitchFamily="34" charset="-122"/>
                <a:cs typeface="Aptos Display" pitchFamily="34" charset="-120"/>
              </a:rPr>
              <a:t>IC Design at Marvell Vietnam</a:t>
            </a:r>
            <a:endParaRPr lang="en-US" sz="3900" dirty="0"/>
          </a:p>
        </p:txBody>
      </p:sp>
      <p:sp>
        <p:nvSpPr>
          <p:cNvPr id="8" name="Text 6"/>
          <p:cNvSpPr/>
          <p:nvPr/>
        </p:nvSpPr>
        <p:spPr>
          <a:xfrm>
            <a:off x="603504" y="3017520"/>
            <a:ext cx="10058400" cy="585216"/>
          </a:xfrm>
          <a:prstGeom prst="rect">
            <a:avLst/>
          </a:prstGeom>
          <a:noFill/>
          <a:ln/>
        </p:spPr>
        <p:txBody>
          <a:bodyPr wrap="square" lIns="0" tIns="0" rIns="0" bIns="0" rtlCol="0" anchor="ctr">
            <a:normAutofit/>
          </a:bodyPr>
          <a:lstStyle/>
          <a:p>
            <a:pPr algn="l" indent="0" marL="0">
              <a:buNone/>
            </a:pPr>
            <a:r>
              <a:rPr lang="en-US" sz="1800" dirty="0">
                <a:solidFill>
                  <a:srgbClr val="B7C4D6"/>
                </a:solidFill>
                <a:latin typeface="Aptos" pitchFamily="34" charset="0"/>
                <a:ea typeface="Aptos" pitchFamily="34" charset="-122"/>
                <a:cs typeface="Aptos" pitchFamily="34" charset="-120"/>
              </a:rPr>
              <a:t>From ASIC design flow to engineering roles, skills, compensation and a student-ready roadmap.</a:t>
            </a:r>
            <a:endParaRPr lang="en-US" sz="1800" dirty="0"/>
          </a:p>
        </p:txBody>
      </p:sp>
      <p:sp>
        <p:nvSpPr>
          <p:cNvPr id="9" name="Shape 7"/>
          <p:cNvSpPr/>
          <p:nvPr/>
        </p:nvSpPr>
        <p:spPr>
          <a:xfrm>
            <a:off x="594360" y="4754880"/>
            <a:ext cx="2487168" cy="0"/>
          </a:xfrm>
          <a:prstGeom prst="line">
            <a:avLst/>
          </a:prstGeom>
          <a:noFill/>
          <a:ln w="17780">
            <a:solidFill>
              <a:srgbClr val="26415D"/>
            </a:solidFill>
            <a:prstDash val="solid"/>
            <a:headEnd type="none"/>
            <a:tailEnd type="none"/>
          </a:ln>
        </p:spPr>
      </p:sp>
      <p:sp>
        <p:nvSpPr>
          <p:cNvPr id="10" name="Text 8"/>
          <p:cNvSpPr/>
          <p:nvPr/>
        </p:nvSpPr>
        <p:spPr>
          <a:xfrm>
            <a:off x="594360" y="4855464"/>
            <a:ext cx="2487168" cy="256032"/>
          </a:xfrm>
          <a:prstGeom prst="rect">
            <a:avLst/>
          </a:prstGeom>
          <a:noFill/>
          <a:ln/>
        </p:spPr>
        <p:txBody>
          <a:bodyPr wrap="square" lIns="0" tIns="0" rIns="0" bIns="0" rtlCol="0" anchor="ctr">
            <a:normAutofit/>
          </a:bodyPr>
          <a:lstStyle/>
          <a:p>
            <a:pPr algn="l" indent="0" marL="0">
              <a:buNone/>
            </a:pPr>
            <a:r>
              <a:rPr lang="en-US" sz="1180" b="1" dirty="0">
                <a:solidFill>
                  <a:srgbClr val="F5F8FC"/>
                </a:solidFill>
                <a:latin typeface="Aptos" pitchFamily="34" charset="0"/>
                <a:ea typeface="Aptos" pitchFamily="34" charset="-122"/>
                <a:cs typeface="Aptos" pitchFamily="34" charset="-120"/>
              </a:rPr>
              <a:t>Lê Quốc Khánh</a:t>
            </a:r>
            <a:endParaRPr lang="en-US" sz="1180" dirty="0"/>
          </a:p>
        </p:txBody>
      </p:sp>
      <p:sp>
        <p:nvSpPr>
          <p:cNvPr id="11" name="Text 9"/>
          <p:cNvSpPr/>
          <p:nvPr/>
        </p:nvSpPr>
        <p:spPr>
          <a:xfrm>
            <a:off x="594360" y="5148072"/>
            <a:ext cx="2487168" cy="347472"/>
          </a:xfrm>
          <a:prstGeom prst="rect">
            <a:avLst/>
          </a:prstGeom>
          <a:noFill/>
          <a:ln/>
        </p:spPr>
        <p:txBody>
          <a:bodyPr wrap="square" lIns="0" tIns="0" rIns="0" bIns="0" rtlCol="0" anchor="ctr">
            <a:normAutofit/>
          </a:bodyPr>
          <a:lstStyle/>
          <a:p>
            <a:pPr algn="l" indent="0" marL="0">
              <a:buNone/>
            </a:pPr>
            <a:r>
              <a:rPr lang="en-US" sz="1000" dirty="0">
                <a:solidFill>
                  <a:srgbClr val="B7C4D6"/>
                </a:solidFill>
                <a:latin typeface="Aptos" pitchFamily="34" charset="0"/>
                <a:ea typeface="Aptos" pitchFamily="34" charset="-122"/>
                <a:cs typeface="Aptos" pitchFamily="34" charset="-120"/>
              </a:rPr>
              <a:t>Overview &amp; introduction</a:t>
            </a:r>
            <a:endParaRPr lang="en-US" sz="1000" dirty="0"/>
          </a:p>
        </p:txBody>
      </p:sp>
      <p:sp>
        <p:nvSpPr>
          <p:cNvPr id="12" name="Shape 10"/>
          <p:cNvSpPr/>
          <p:nvPr/>
        </p:nvSpPr>
        <p:spPr>
          <a:xfrm>
            <a:off x="3383280" y="4754880"/>
            <a:ext cx="2487168" cy="0"/>
          </a:xfrm>
          <a:prstGeom prst="line">
            <a:avLst/>
          </a:prstGeom>
          <a:noFill/>
          <a:ln w="17780">
            <a:solidFill>
              <a:srgbClr val="26415D"/>
            </a:solidFill>
            <a:prstDash val="solid"/>
            <a:headEnd type="none"/>
            <a:tailEnd type="none"/>
          </a:ln>
        </p:spPr>
      </p:sp>
      <p:sp>
        <p:nvSpPr>
          <p:cNvPr id="13" name="Text 11"/>
          <p:cNvSpPr/>
          <p:nvPr/>
        </p:nvSpPr>
        <p:spPr>
          <a:xfrm>
            <a:off x="3383280" y="4855464"/>
            <a:ext cx="2487168" cy="256032"/>
          </a:xfrm>
          <a:prstGeom prst="rect">
            <a:avLst/>
          </a:prstGeom>
          <a:noFill/>
          <a:ln/>
        </p:spPr>
        <p:txBody>
          <a:bodyPr wrap="square" lIns="0" tIns="0" rIns="0" bIns="0" rtlCol="0" anchor="ctr">
            <a:normAutofit/>
          </a:bodyPr>
          <a:lstStyle/>
          <a:p>
            <a:pPr algn="l" indent="0" marL="0">
              <a:buNone/>
            </a:pPr>
            <a:r>
              <a:rPr lang="en-US" sz="1180" b="1" dirty="0">
                <a:solidFill>
                  <a:srgbClr val="F5F8FC"/>
                </a:solidFill>
                <a:latin typeface="Aptos" pitchFamily="34" charset="0"/>
                <a:ea typeface="Aptos" pitchFamily="34" charset="-122"/>
                <a:cs typeface="Aptos" pitchFamily="34" charset="-120"/>
              </a:rPr>
              <a:t>Nguyễn Bửu Phúc</a:t>
            </a:r>
            <a:endParaRPr lang="en-US" sz="1180" dirty="0"/>
          </a:p>
        </p:txBody>
      </p:sp>
      <p:sp>
        <p:nvSpPr>
          <p:cNvPr id="14" name="Text 12"/>
          <p:cNvSpPr/>
          <p:nvPr/>
        </p:nvSpPr>
        <p:spPr>
          <a:xfrm>
            <a:off x="3383280" y="5148072"/>
            <a:ext cx="2487168" cy="347472"/>
          </a:xfrm>
          <a:prstGeom prst="rect">
            <a:avLst/>
          </a:prstGeom>
          <a:noFill/>
          <a:ln/>
        </p:spPr>
        <p:txBody>
          <a:bodyPr wrap="square" lIns="0" tIns="0" rIns="0" bIns="0" rtlCol="0" anchor="ctr">
            <a:normAutofit/>
          </a:bodyPr>
          <a:lstStyle/>
          <a:p>
            <a:pPr algn="l" indent="0" marL="0">
              <a:buNone/>
            </a:pPr>
            <a:r>
              <a:rPr lang="en-US" sz="1000" dirty="0">
                <a:solidFill>
                  <a:srgbClr val="B7C4D6"/>
                </a:solidFill>
                <a:latin typeface="Aptos" pitchFamily="34" charset="0"/>
                <a:ea typeface="Aptos" pitchFamily="34" charset="-122"/>
                <a:cs typeface="Aptos" pitchFamily="34" charset="-120"/>
              </a:rPr>
              <a:t>ASIC flow · RTL · DV</a:t>
            </a:r>
            <a:endParaRPr lang="en-US" sz="1000" dirty="0"/>
          </a:p>
        </p:txBody>
      </p:sp>
      <p:sp>
        <p:nvSpPr>
          <p:cNvPr id="15" name="Shape 13"/>
          <p:cNvSpPr/>
          <p:nvPr/>
        </p:nvSpPr>
        <p:spPr>
          <a:xfrm>
            <a:off x="6172200" y="4754880"/>
            <a:ext cx="2487168" cy="0"/>
          </a:xfrm>
          <a:prstGeom prst="line">
            <a:avLst/>
          </a:prstGeom>
          <a:noFill/>
          <a:ln w="17780">
            <a:solidFill>
              <a:srgbClr val="26415D"/>
            </a:solidFill>
            <a:prstDash val="solid"/>
            <a:headEnd type="none"/>
            <a:tailEnd type="none"/>
          </a:ln>
        </p:spPr>
      </p:sp>
      <p:sp>
        <p:nvSpPr>
          <p:cNvPr id="16" name="Text 14"/>
          <p:cNvSpPr/>
          <p:nvPr/>
        </p:nvSpPr>
        <p:spPr>
          <a:xfrm>
            <a:off x="6172200" y="4855464"/>
            <a:ext cx="2487168" cy="256032"/>
          </a:xfrm>
          <a:prstGeom prst="rect">
            <a:avLst/>
          </a:prstGeom>
          <a:noFill/>
          <a:ln/>
        </p:spPr>
        <p:txBody>
          <a:bodyPr wrap="square" lIns="0" tIns="0" rIns="0" bIns="0" rtlCol="0" anchor="ctr">
            <a:normAutofit/>
          </a:bodyPr>
          <a:lstStyle/>
          <a:p>
            <a:pPr algn="l" indent="0" marL="0">
              <a:buNone/>
            </a:pPr>
            <a:r>
              <a:rPr lang="en-US" sz="1180" b="1" dirty="0">
                <a:solidFill>
                  <a:srgbClr val="F5F8FC"/>
                </a:solidFill>
                <a:latin typeface="Aptos" pitchFamily="34" charset="0"/>
                <a:ea typeface="Aptos" pitchFamily="34" charset="-122"/>
                <a:cs typeface="Aptos" pitchFamily="34" charset="-120"/>
              </a:rPr>
              <a:t>Nguyễn Hữu Đức</a:t>
            </a:r>
            <a:endParaRPr lang="en-US" sz="1180" dirty="0"/>
          </a:p>
        </p:txBody>
      </p:sp>
      <p:sp>
        <p:nvSpPr>
          <p:cNvPr id="17" name="Text 15"/>
          <p:cNvSpPr/>
          <p:nvPr/>
        </p:nvSpPr>
        <p:spPr>
          <a:xfrm>
            <a:off x="6172200" y="5148072"/>
            <a:ext cx="2487168" cy="347472"/>
          </a:xfrm>
          <a:prstGeom prst="rect">
            <a:avLst/>
          </a:prstGeom>
          <a:noFill/>
          <a:ln/>
        </p:spPr>
        <p:txBody>
          <a:bodyPr wrap="square" lIns="0" tIns="0" rIns="0" bIns="0" rtlCol="0" anchor="ctr">
            <a:normAutofit/>
          </a:bodyPr>
          <a:lstStyle/>
          <a:p>
            <a:pPr algn="l" indent="0" marL="0">
              <a:buNone/>
            </a:pPr>
            <a:r>
              <a:rPr lang="en-US" sz="1000" dirty="0">
                <a:solidFill>
                  <a:srgbClr val="B7C4D6"/>
                </a:solidFill>
                <a:latin typeface="Aptos" pitchFamily="34" charset="0"/>
                <a:ea typeface="Aptos" pitchFamily="34" charset="-122"/>
                <a:cs typeface="Aptos" pitchFamily="34" charset="-120"/>
              </a:rPr>
              <a:t>DFT · PD · AMS · skills</a:t>
            </a:r>
            <a:endParaRPr lang="en-US" sz="1000" dirty="0"/>
          </a:p>
        </p:txBody>
      </p:sp>
      <p:sp>
        <p:nvSpPr>
          <p:cNvPr id="18" name="Shape 16"/>
          <p:cNvSpPr/>
          <p:nvPr/>
        </p:nvSpPr>
        <p:spPr>
          <a:xfrm>
            <a:off x="8961120" y="4754880"/>
            <a:ext cx="2487168" cy="0"/>
          </a:xfrm>
          <a:prstGeom prst="line">
            <a:avLst/>
          </a:prstGeom>
          <a:noFill/>
          <a:ln w="17780">
            <a:solidFill>
              <a:srgbClr val="26415D"/>
            </a:solidFill>
            <a:prstDash val="solid"/>
            <a:headEnd type="none"/>
            <a:tailEnd type="none"/>
          </a:ln>
        </p:spPr>
      </p:sp>
      <p:sp>
        <p:nvSpPr>
          <p:cNvPr id="19" name="Text 17"/>
          <p:cNvSpPr/>
          <p:nvPr/>
        </p:nvSpPr>
        <p:spPr>
          <a:xfrm>
            <a:off x="8961120" y="4855464"/>
            <a:ext cx="2487168" cy="256032"/>
          </a:xfrm>
          <a:prstGeom prst="rect">
            <a:avLst/>
          </a:prstGeom>
          <a:noFill/>
          <a:ln/>
        </p:spPr>
        <p:txBody>
          <a:bodyPr wrap="square" lIns="0" tIns="0" rIns="0" bIns="0" rtlCol="0" anchor="ctr">
            <a:normAutofit/>
          </a:bodyPr>
          <a:lstStyle/>
          <a:p>
            <a:pPr algn="l" indent="0" marL="0">
              <a:buNone/>
            </a:pPr>
            <a:r>
              <a:rPr lang="en-US" sz="1180" b="1" dirty="0">
                <a:solidFill>
                  <a:srgbClr val="F5F8FC"/>
                </a:solidFill>
                <a:latin typeface="Aptos" pitchFamily="34" charset="0"/>
                <a:ea typeface="Aptos" pitchFamily="34" charset="-122"/>
                <a:cs typeface="Aptos" pitchFamily="34" charset="-120"/>
              </a:rPr>
              <a:t>Phạm Triệu Khang Duy</a:t>
            </a:r>
            <a:endParaRPr lang="en-US" sz="1180" dirty="0"/>
          </a:p>
        </p:txBody>
      </p:sp>
      <p:sp>
        <p:nvSpPr>
          <p:cNvPr id="20" name="Text 18"/>
          <p:cNvSpPr/>
          <p:nvPr/>
        </p:nvSpPr>
        <p:spPr>
          <a:xfrm>
            <a:off x="8961120" y="5148072"/>
            <a:ext cx="2487168" cy="347472"/>
          </a:xfrm>
          <a:prstGeom prst="rect">
            <a:avLst/>
          </a:prstGeom>
          <a:noFill/>
          <a:ln/>
        </p:spPr>
        <p:txBody>
          <a:bodyPr wrap="square" lIns="0" tIns="0" rIns="0" bIns="0" rtlCol="0" anchor="ctr">
            <a:normAutofit/>
          </a:bodyPr>
          <a:lstStyle/>
          <a:p>
            <a:pPr algn="l" indent="0" marL="0">
              <a:buNone/>
            </a:pPr>
            <a:r>
              <a:rPr lang="en-US" sz="1000" dirty="0">
                <a:solidFill>
                  <a:srgbClr val="B7C4D6"/>
                </a:solidFill>
                <a:latin typeface="Aptos" pitchFamily="34" charset="0"/>
                <a:ea typeface="Aptos" pitchFamily="34" charset="-122"/>
                <a:cs typeface="Aptos" pitchFamily="34" charset="-120"/>
              </a:rPr>
              <a:t>Compensation · roadmap · Q&amp;A</a:t>
            </a:r>
            <a:endParaRPr lang="en-US" sz="1000" dirty="0"/>
          </a:p>
        </p:txBody>
      </p:sp>
      <p:sp>
        <p:nvSpPr>
          <p:cNvPr id="21" name="Text 19"/>
          <p:cNvSpPr/>
          <p:nvPr/>
        </p:nvSpPr>
        <p:spPr>
          <a:xfrm>
            <a:off x="594360" y="5907024"/>
            <a:ext cx="5486400" cy="201168"/>
          </a:xfrm>
          <a:prstGeom prst="rect">
            <a:avLst/>
          </a:prstGeom>
          <a:noFill/>
          <a:ln/>
        </p:spPr>
        <p:txBody>
          <a:bodyPr wrap="square" lIns="0" tIns="0" rIns="0" bIns="0" rtlCol="0" anchor="ctr">
            <a:normAutofit/>
          </a:bodyPr>
          <a:lstStyle/>
          <a:p>
            <a:pPr algn="l" indent="0" marL="0">
              <a:buNone/>
            </a:pPr>
            <a:r>
              <a:rPr lang="en-US" sz="960" dirty="0">
                <a:solidFill>
                  <a:srgbClr val="B7C4D6"/>
                </a:solidFill>
                <a:latin typeface="Aptos" pitchFamily="34" charset="0"/>
                <a:ea typeface="Aptos" pitchFamily="34" charset="-122"/>
                <a:cs typeface="Aptos" pitchFamily="34" charset="-120"/>
              </a:rPr>
              <a:t>Marvell Vietnam · Ho Chi Minh City &amp; Da Nang</a:t>
            </a:r>
            <a:endParaRPr lang="en-US" sz="960" dirty="0"/>
          </a:p>
        </p:txBody>
      </p:sp>
      <p:sp>
        <p:nvSpPr>
          <p:cNvPr id="22" name="Text 20"/>
          <p:cNvSpPr/>
          <p:nvPr/>
        </p:nvSpPr>
        <p:spPr>
          <a:xfrm>
            <a:off x="10561320" y="5907024"/>
            <a:ext cx="822960" cy="201168"/>
          </a:xfrm>
          <a:prstGeom prst="rect">
            <a:avLst/>
          </a:prstGeom>
          <a:noFill/>
          <a:ln/>
        </p:spPr>
        <p:txBody>
          <a:bodyPr wrap="square" lIns="0" tIns="0" rIns="0" bIns="0" rtlCol="0" anchor="ctr">
            <a:normAutofit/>
          </a:bodyPr>
          <a:lstStyle/>
          <a:p>
            <a:pPr algn="r" indent="0" marL="0">
              <a:buNone/>
            </a:pPr>
            <a:r>
              <a:rPr lang="en-US" sz="960" dirty="0">
                <a:solidFill>
                  <a:srgbClr val="B7C4D6"/>
                </a:solidFill>
                <a:latin typeface="Aptos" pitchFamily="34" charset="0"/>
                <a:ea typeface="Aptos" pitchFamily="34" charset="-122"/>
                <a:cs typeface="Aptos" pitchFamily="34" charset="-120"/>
              </a:rPr>
              <a:t>2026</a:t>
            </a:r>
            <a:endParaRPr lang="en-US" sz="960" dirty="0"/>
          </a:p>
        </p:txBody>
      </p:sp>
      <p:sp>
        <p:nvSpPr>
          <p:cNvPr id="25" name="Slide Number Placeholder 0"/>
          <p:cNvSpPr>
            <a:spLocks noGrp="1"/>
          </p:cNvSpPr>
          <p:nvPr>
            <p:ph type="sldNum" sz="quarter" idx="4294967295"/>
          </p:nvPr>
        </p:nvSpPr>
        <p:spPr>
          <a:xfrm>
            <a:off x="11201400" y="650138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F829A"/>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47472"/>
            <a:ext cx="5303520" cy="201168"/>
          </a:xfrm>
          <a:prstGeom prst="rect">
            <a:avLst/>
          </a:prstGeom>
          <a:noFill/>
          <a:ln/>
        </p:spPr>
        <p:txBody>
          <a:bodyPr wrap="square" lIns="0" tIns="0" rIns="0" bIns="0" rtlCol="0" anchor="ctr">
            <a:normAutofit/>
          </a:bodyPr>
          <a:lstStyle/>
          <a:p>
            <a:pPr algn="l" indent="0" marL="0">
              <a:buNone/>
            </a:pPr>
            <a:r>
              <a:rPr lang="en-US" sz="930" b="1" spc="140" kern="0" dirty="0">
                <a:solidFill>
                  <a:srgbClr val="4FD1C5"/>
                </a:solidFill>
                <a:latin typeface="Aptos" pitchFamily="34" charset="0"/>
                <a:ea typeface="Aptos" pitchFamily="34" charset="-122"/>
                <a:cs typeface="Aptos" pitchFamily="34" charset="-120"/>
              </a:rPr>
              <a:t>SECTION 01</a:t>
            </a:r>
            <a:endParaRPr lang="en-US" sz="930" dirty="0"/>
          </a:p>
        </p:txBody>
      </p:sp>
      <p:sp>
        <p:nvSpPr>
          <p:cNvPr id="3" name="Text 1"/>
          <p:cNvSpPr/>
          <p:nvPr/>
        </p:nvSpPr>
        <p:spPr>
          <a:xfrm>
            <a:off x="585216" y="1581912"/>
            <a:ext cx="8961120" cy="612648"/>
          </a:xfrm>
          <a:prstGeom prst="rect">
            <a:avLst/>
          </a:prstGeom>
          <a:noFill/>
          <a:ln/>
        </p:spPr>
        <p:txBody>
          <a:bodyPr wrap="square" lIns="0" tIns="0" rIns="0" bIns="0" rtlCol="0" anchor="ctr">
            <a:normAutofit/>
          </a:bodyPr>
          <a:lstStyle/>
          <a:p>
            <a:pPr algn="l" indent="0" marL="0">
              <a:buNone/>
            </a:pPr>
            <a:r>
              <a:rPr lang="en-US" sz="3800" b="1" dirty="0">
                <a:solidFill>
                  <a:srgbClr val="F5F8FC"/>
                </a:solidFill>
                <a:latin typeface="Aptos Display" pitchFamily="34" charset="0"/>
                <a:ea typeface="Aptos Display" pitchFamily="34" charset="-122"/>
                <a:cs typeface="Aptos Display" pitchFamily="34" charset="-120"/>
              </a:rPr>
              <a:t>Marvell Overview</a:t>
            </a:r>
            <a:endParaRPr lang="en-US" sz="3800" dirty="0"/>
          </a:p>
        </p:txBody>
      </p:sp>
      <p:sp>
        <p:nvSpPr>
          <p:cNvPr id="4" name="Text 2"/>
          <p:cNvSpPr/>
          <p:nvPr/>
        </p:nvSpPr>
        <p:spPr>
          <a:xfrm>
            <a:off x="585216" y="2212848"/>
            <a:ext cx="8961120" cy="658368"/>
          </a:xfrm>
          <a:prstGeom prst="rect">
            <a:avLst/>
          </a:prstGeom>
          <a:noFill/>
          <a:ln/>
        </p:spPr>
        <p:txBody>
          <a:bodyPr wrap="square" lIns="0" tIns="0" rIns="0" bIns="0" rtlCol="0" anchor="ctr">
            <a:normAutofit/>
          </a:bodyPr>
          <a:lstStyle/>
          <a:p>
            <a:pPr algn="l" indent="0" marL="0">
              <a:buNone/>
            </a:pPr>
            <a:r>
              <a:rPr lang="en-US" sz="3800" b="1" dirty="0">
                <a:solidFill>
                  <a:srgbClr val="4FD1C5"/>
                </a:solidFill>
                <a:latin typeface="Aptos Display" pitchFamily="34" charset="0"/>
                <a:ea typeface="Aptos Display" pitchFamily="34" charset="-122"/>
                <a:cs typeface="Aptos Display" pitchFamily="34" charset="-120"/>
              </a:rPr>
              <a:t>&amp; Vietnam R&amp;D Hub</a:t>
            </a:r>
            <a:endParaRPr lang="en-US" sz="3800" dirty="0"/>
          </a:p>
        </p:txBody>
      </p:sp>
      <p:sp>
        <p:nvSpPr>
          <p:cNvPr id="5" name="Text 3"/>
          <p:cNvSpPr/>
          <p:nvPr/>
        </p:nvSpPr>
        <p:spPr>
          <a:xfrm>
            <a:off x="603504" y="3136392"/>
            <a:ext cx="8138160" cy="731520"/>
          </a:xfrm>
          <a:prstGeom prst="rect">
            <a:avLst/>
          </a:prstGeom>
          <a:noFill/>
          <a:ln/>
        </p:spPr>
        <p:txBody>
          <a:bodyPr wrap="square" lIns="0" tIns="0" rIns="0" bIns="0" rtlCol="0" anchor="ctr">
            <a:normAutofit/>
          </a:bodyPr>
          <a:lstStyle/>
          <a:p>
            <a:pPr algn="l" indent="0" marL="0">
              <a:buNone/>
            </a:pPr>
            <a:r>
              <a:rPr lang="en-US" sz="1800" dirty="0">
                <a:solidFill>
                  <a:srgbClr val="B7C4D6"/>
                </a:solidFill>
                <a:latin typeface="Aptos" pitchFamily="34" charset="0"/>
                <a:ea typeface="Aptos" pitchFamily="34" charset="-122"/>
                <a:cs typeface="Aptos" pitchFamily="34" charset="-120"/>
              </a:rPr>
              <a:t>Why Vietnam matters in Marvell’s global engineering network—and what technologies are being built here.</a:t>
            </a:r>
            <a:endParaRPr lang="en-US" sz="1800" dirty="0"/>
          </a:p>
        </p:txBody>
      </p:sp>
      <p:sp>
        <p:nvSpPr>
          <p:cNvPr id="6" name="Text 4"/>
          <p:cNvSpPr/>
          <p:nvPr/>
        </p:nvSpPr>
        <p:spPr>
          <a:xfrm>
            <a:off x="9738360" y="4352544"/>
            <a:ext cx="1691640" cy="1078992"/>
          </a:xfrm>
          <a:prstGeom prst="rect">
            <a:avLst/>
          </a:prstGeom>
          <a:noFill/>
          <a:ln/>
        </p:spPr>
        <p:txBody>
          <a:bodyPr wrap="square" lIns="0" tIns="0" rIns="0" bIns="0" rtlCol="0" anchor="ctr">
            <a:normAutofit/>
          </a:bodyPr>
          <a:lstStyle/>
          <a:p>
            <a:pPr algn="r" indent="0" marL="0">
              <a:buNone/>
            </a:pPr>
            <a:r>
              <a:rPr lang="en-US" sz="7500" b="1" dirty="0">
                <a:solidFill>
                  <a:srgbClr val="20354A"/>
                </a:solidFill>
                <a:latin typeface="Aptos" pitchFamily="34" charset="0"/>
                <a:ea typeface="Aptos" pitchFamily="34" charset="-122"/>
                <a:cs typeface="Aptos" pitchFamily="34" charset="-120"/>
              </a:rPr>
              <a:t>01</a:t>
            </a:r>
            <a:endParaRPr lang="en-US" sz="7500" dirty="0"/>
          </a:p>
        </p:txBody>
      </p:sp>
      <p:sp>
        <p:nvSpPr>
          <p:cNvPr id="7" name="Shape 5"/>
          <p:cNvSpPr/>
          <p:nvPr/>
        </p:nvSpPr>
        <p:spPr>
          <a:xfrm>
            <a:off x="9555480" y="338328"/>
            <a:ext cx="2057400" cy="310896"/>
          </a:xfrm>
          <a:prstGeom prst="roundRect">
            <a:avLst>
              <a:gd name="adj" fmla="val 35294"/>
            </a:avLst>
          </a:prstGeom>
          <a:solidFill>
            <a:srgbClr val="10263D"/>
          </a:solidFill>
          <a:ln w="12700">
            <a:solidFill>
              <a:srgbClr val="26415D"/>
            </a:solidFill>
            <a:prstDash val="solid"/>
          </a:ln>
        </p:spPr>
      </p:sp>
      <p:sp>
        <p:nvSpPr>
          <p:cNvPr id="8" name="Text 6"/>
          <p:cNvSpPr/>
          <p:nvPr/>
        </p:nvSpPr>
        <p:spPr>
          <a:xfrm>
            <a:off x="9646920" y="370332"/>
            <a:ext cx="1874520" cy="210312"/>
          </a:xfrm>
          <a:prstGeom prst="rect">
            <a:avLst/>
          </a:prstGeom>
          <a:noFill/>
          <a:ln/>
        </p:spPr>
        <p:txBody>
          <a:bodyPr wrap="square" lIns="0" tIns="0" rIns="0" bIns="0" rtlCol="0" anchor="ctr">
            <a:normAutofit/>
          </a:bodyPr>
          <a:lstStyle/>
          <a:p>
            <a:pPr algn="ctr" indent="0" marL="0">
              <a:buNone/>
            </a:pPr>
            <a:r>
              <a:rPr lang="en-US" sz="840" b="1" dirty="0">
                <a:solidFill>
                  <a:srgbClr val="D9E8F6"/>
                </a:solidFill>
                <a:latin typeface="Aptos" pitchFamily="34" charset="0"/>
                <a:ea typeface="Aptos" pitchFamily="34" charset="-122"/>
                <a:cs typeface="Aptos" pitchFamily="34" charset="-120"/>
              </a:rPr>
              <a:t>LÊ QUỐC KHÁNH</a:t>
            </a:r>
            <a:endParaRPr lang="en-US" sz="840" dirty="0"/>
          </a:p>
        </p:txBody>
      </p:sp>
      <p:sp>
        <p:nvSpPr>
          <p:cNvPr id="25" name="Slide Number Placeholder 0"/>
          <p:cNvSpPr>
            <a:spLocks noGrp="1"/>
          </p:cNvSpPr>
          <p:nvPr>
            <p:ph type="sldNum" sz="quarter" idx="4294967295"/>
          </p:nvPr>
        </p:nvSpPr>
        <p:spPr>
          <a:xfrm>
            <a:off x="11201400" y="650138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F829A"/>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47472"/>
            <a:ext cx="5303520" cy="201168"/>
          </a:xfrm>
          <a:prstGeom prst="rect">
            <a:avLst/>
          </a:prstGeom>
          <a:noFill/>
          <a:ln/>
        </p:spPr>
        <p:txBody>
          <a:bodyPr wrap="square" lIns="0" tIns="0" rIns="0" bIns="0" rtlCol="0" anchor="ctr">
            <a:normAutofit/>
          </a:bodyPr>
          <a:lstStyle/>
          <a:p>
            <a:pPr algn="l" indent="0" marL="0">
              <a:buNone/>
            </a:pPr>
            <a:r>
              <a:rPr lang="en-US" sz="930" b="1" spc="140" kern="0" dirty="0">
                <a:solidFill>
                  <a:srgbClr val="4FD1C5"/>
                </a:solidFill>
                <a:latin typeface="Aptos" pitchFamily="34" charset="0"/>
                <a:ea typeface="Aptos" pitchFamily="34" charset="-122"/>
                <a:cs typeface="Aptos" pitchFamily="34" charset="-120"/>
              </a:rPr>
              <a:t>COMPANY OVERVIEW</a:t>
            </a:r>
            <a:endParaRPr lang="en-US" sz="930" dirty="0"/>
          </a:p>
        </p:txBody>
      </p:sp>
      <p:sp>
        <p:nvSpPr>
          <p:cNvPr id="3" name="Text 1"/>
          <p:cNvSpPr/>
          <p:nvPr/>
        </p:nvSpPr>
        <p:spPr>
          <a:xfrm>
            <a:off x="566928" y="566928"/>
            <a:ext cx="10881360" cy="530352"/>
          </a:xfrm>
          <a:prstGeom prst="rect">
            <a:avLst/>
          </a:prstGeom>
          <a:noFill/>
          <a:ln/>
        </p:spPr>
        <p:txBody>
          <a:bodyPr wrap="square" lIns="0" tIns="0" rIns="0" bIns="0" rtlCol="0" anchor="ctr">
            <a:normAutofit/>
          </a:bodyPr>
          <a:lstStyle/>
          <a:p>
            <a:pPr algn="l" indent="0" marL="0">
              <a:buNone/>
            </a:pPr>
            <a:r>
              <a:rPr lang="en-US" sz="2750" b="1" dirty="0">
                <a:solidFill>
                  <a:srgbClr val="F5F8FC"/>
                </a:solidFill>
                <a:latin typeface="Aptos Display" pitchFamily="34" charset="0"/>
                <a:ea typeface="Aptos Display" pitchFamily="34" charset="-122"/>
                <a:cs typeface="Aptos Display" pitchFamily="34" charset="-120"/>
              </a:rPr>
              <a:t>Marvell Technology &amp; Vietnam R&amp;D Hub</a:t>
            </a:r>
            <a:endParaRPr lang="en-US" sz="2750" dirty="0"/>
          </a:p>
        </p:txBody>
      </p:sp>
      <p:sp>
        <p:nvSpPr>
          <p:cNvPr id="4" name="Shape 2"/>
          <p:cNvSpPr/>
          <p:nvPr/>
        </p:nvSpPr>
        <p:spPr>
          <a:xfrm>
            <a:off x="9555480" y="338328"/>
            <a:ext cx="2057400" cy="310896"/>
          </a:xfrm>
          <a:prstGeom prst="roundRect">
            <a:avLst>
              <a:gd name="adj" fmla="val 35294"/>
            </a:avLst>
          </a:prstGeom>
          <a:solidFill>
            <a:srgbClr val="10263D"/>
          </a:solidFill>
          <a:ln w="12700">
            <a:solidFill>
              <a:srgbClr val="26415D"/>
            </a:solidFill>
            <a:prstDash val="solid"/>
          </a:ln>
        </p:spPr>
      </p:sp>
      <p:sp>
        <p:nvSpPr>
          <p:cNvPr id="5" name="Text 3"/>
          <p:cNvSpPr/>
          <p:nvPr/>
        </p:nvSpPr>
        <p:spPr>
          <a:xfrm>
            <a:off x="9646920" y="370332"/>
            <a:ext cx="1874520" cy="210312"/>
          </a:xfrm>
          <a:prstGeom prst="rect">
            <a:avLst/>
          </a:prstGeom>
          <a:noFill/>
          <a:ln/>
        </p:spPr>
        <p:txBody>
          <a:bodyPr wrap="square" lIns="0" tIns="0" rIns="0" bIns="0" rtlCol="0" anchor="ctr">
            <a:normAutofit/>
          </a:bodyPr>
          <a:lstStyle/>
          <a:p>
            <a:pPr algn="ctr" indent="0" marL="0">
              <a:buNone/>
            </a:pPr>
            <a:r>
              <a:rPr lang="en-US" sz="840" b="1" dirty="0">
                <a:solidFill>
                  <a:srgbClr val="D9E8F6"/>
                </a:solidFill>
                <a:latin typeface="Aptos" pitchFamily="34" charset="0"/>
                <a:ea typeface="Aptos" pitchFamily="34" charset="-122"/>
                <a:cs typeface="Aptos" pitchFamily="34" charset="-120"/>
              </a:rPr>
              <a:t>LÊ QUỐC KHÁNH</a:t>
            </a:r>
            <a:endParaRPr lang="en-US" sz="840" dirty="0"/>
          </a:p>
        </p:txBody>
      </p:sp>
      <p:sp>
        <p:nvSpPr>
          <p:cNvPr id="6" name="Shape 4"/>
          <p:cNvSpPr/>
          <p:nvPr/>
        </p:nvSpPr>
        <p:spPr>
          <a:xfrm>
            <a:off x="585216" y="1325880"/>
            <a:ext cx="5394960" cy="4343400"/>
          </a:xfrm>
          <a:prstGeom prst="roundRect">
            <a:avLst>
              <a:gd name="adj" fmla="val 2526"/>
            </a:avLst>
          </a:prstGeom>
          <a:solidFill>
            <a:srgbClr val="0D1B2C"/>
          </a:solidFill>
          <a:ln w="12700">
            <a:solidFill>
              <a:srgbClr val="26415D"/>
            </a:solidFill>
            <a:prstDash val="solid"/>
          </a:ln>
        </p:spPr>
      </p:sp>
      <p:sp>
        <p:nvSpPr>
          <p:cNvPr id="7" name="Shape 5"/>
          <p:cNvSpPr/>
          <p:nvPr/>
        </p:nvSpPr>
        <p:spPr>
          <a:xfrm>
            <a:off x="841248" y="1591056"/>
            <a:ext cx="2468880" cy="310896"/>
          </a:xfrm>
          <a:prstGeom prst="roundRect">
            <a:avLst>
              <a:gd name="adj" fmla="val 41176"/>
            </a:avLst>
          </a:prstGeom>
          <a:solidFill>
            <a:srgbClr val="0D2435">
              <a:alpha val="90000"/>
            </a:srgbClr>
          </a:solidFill>
          <a:ln w="12700">
            <a:solidFill>
              <a:srgbClr val="4FD1C5">
                <a:alpha val="60000"/>
              </a:srgbClr>
            </a:solidFill>
            <a:prstDash val="solid"/>
          </a:ln>
        </p:spPr>
      </p:sp>
      <p:sp>
        <p:nvSpPr>
          <p:cNvPr id="8" name="Shape 6"/>
          <p:cNvSpPr/>
          <p:nvPr/>
        </p:nvSpPr>
        <p:spPr>
          <a:xfrm>
            <a:off x="932688" y="1696212"/>
            <a:ext cx="73152" cy="73152"/>
          </a:xfrm>
          <a:prstGeom prst="ellipse">
            <a:avLst/>
          </a:prstGeom>
          <a:solidFill>
            <a:srgbClr val="4FD1C5"/>
          </a:solidFill>
          <a:ln w="12700">
            <a:solidFill>
              <a:srgbClr val="4FD1C5"/>
            </a:solidFill>
            <a:prstDash val="solid"/>
          </a:ln>
        </p:spPr>
      </p:sp>
      <p:sp>
        <p:nvSpPr>
          <p:cNvPr id="9" name="Text 7"/>
          <p:cNvSpPr/>
          <p:nvPr/>
        </p:nvSpPr>
        <p:spPr>
          <a:xfrm>
            <a:off x="1051560" y="1609344"/>
            <a:ext cx="2221992"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Data Infrastructure Semiconductor</a:t>
            </a:r>
            <a:endParaRPr lang="en-US" sz="920" dirty="0"/>
          </a:p>
        </p:txBody>
      </p:sp>
      <p:sp>
        <p:nvSpPr>
          <p:cNvPr id="10" name="Text 8"/>
          <p:cNvSpPr/>
          <p:nvPr/>
        </p:nvSpPr>
        <p:spPr>
          <a:xfrm>
            <a:off x="841248" y="2048256"/>
            <a:ext cx="4480560" cy="429768"/>
          </a:xfrm>
          <a:prstGeom prst="rect">
            <a:avLst/>
          </a:prstGeom>
          <a:noFill/>
          <a:ln/>
        </p:spPr>
        <p:txBody>
          <a:bodyPr wrap="square" lIns="0" tIns="0" rIns="0" bIns="0" rtlCol="0" anchor="ctr">
            <a:normAutofit/>
          </a:bodyPr>
          <a:lstStyle/>
          <a:p>
            <a:pPr algn="l" indent="0" marL="0">
              <a:buNone/>
            </a:pPr>
            <a:r>
              <a:rPr lang="en-US" sz="2500" b="1" dirty="0">
                <a:solidFill>
                  <a:srgbClr val="F5F8FC"/>
                </a:solidFill>
                <a:latin typeface="Aptos Display" pitchFamily="34" charset="0"/>
                <a:ea typeface="Aptos Display" pitchFamily="34" charset="-122"/>
                <a:cs typeface="Aptos Display" pitchFamily="34" charset="-120"/>
              </a:rPr>
              <a:t>Marvell Technology</a:t>
            </a:r>
            <a:endParaRPr lang="en-US" sz="2500" dirty="0"/>
          </a:p>
        </p:txBody>
      </p:sp>
      <p:sp>
        <p:nvSpPr>
          <p:cNvPr id="11" name="Text 9"/>
          <p:cNvSpPr/>
          <p:nvPr/>
        </p:nvSpPr>
        <p:spPr>
          <a:xfrm>
            <a:off x="841248" y="2578608"/>
            <a:ext cx="4526280" cy="914400"/>
          </a:xfrm>
          <a:prstGeom prst="rect">
            <a:avLst/>
          </a:prstGeom>
          <a:noFill/>
          <a:ln/>
        </p:spPr>
        <p:txBody>
          <a:bodyPr wrap="square" lIns="0" tIns="0" rIns="0" bIns="0" rtlCol="0" anchor="t">
            <a:normAutofit/>
          </a:bodyPr>
          <a:lstStyle/>
          <a:p>
            <a:pPr algn="l" indent="0" marL="0">
              <a:buNone/>
            </a:pPr>
            <a:r>
              <a:rPr lang="en-US" sz="1540" dirty="0">
                <a:solidFill>
                  <a:srgbClr val="B7C4D6"/>
                </a:solidFill>
                <a:latin typeface="Aptos" pitchFamily="34" charset="0"/>
                <a:ea typeface="Aptos" pitchFamily="34" charset="-122"/>
                <a:cs typeface="Aptos" pitchFamily="34" charset="-120"/>
              </a:rPr>
              <a:t>Semiconductor solutions for data centers, cloud, AI, networking, carrier infrastructure and enterprise storage.</a:t>
            </a:r>
            <a:endParaRPr lang="en-US" sz="1540" dirty="0"/>
          </a:p>
        </p:txBody>
      </p:sp>
      <p:sp>
        <p:nvSpPr>
          <p:cNvPr id="12" name="Shape 10"/>
          <p:cNvSpPr/>
          <p:nvPr/>
        </p:nvSpPr>
        <p:spPr>
          <a:xfrm>
            <a:off x="841248" y="3803904"/>
            <a:ext cx="1984248" cy="438912"/>
          </a:xfrm>
          <a:prstGeom prst="roundRect">
            <a:avLst>
              <a:gd name="adj" fmla="val 25000"/>
            </a:avLst>
          </a:prstGeom>
          <a:solidFill>
            <a:srgbClr val="0A2032"/>
          </a:solidFill>
          <a:ln w="12700">
            <a:solidFill>
              <a:srgbClr val="23425C"/>
            </a:solidFill>
            <a:prstDash val="solid"/>
          </a:ln>
        </p:spPr>
      </p:sp>
      <p:sp>
        <p:nvSpPr>
          <p:cNvPr id="13" name="Text 11"/>
          <p:cNvSpPr/>
          <p:nvPr/>
        </p:nvSpPr>
        <p:spPr>
          <a:xfrm>
            <a:off x="932688" y="3886200"/>
            <a:ext cx="1801368" cy="219456"/>
          </a:xfrm>
          <a:prstGeom prst="rect">
            <a:avLst/>
          </a:prstGeom>
          <a:noFill/>
          <a:ln/>
        </p:spPr>
        <p:txBody>
          <a:bodyPr wrap="square" lIns="0" tIns="0" rIns="0" bIns="0" rtlCol="0" anchor="ctr">
            <a:normAutofit/>
          </a:bodyPr>
          <a:lstStyle/>
          <a:p>
            <a:pPr algn="ctr" indent="0" marL="0">
              <a:buNone/>
            </a:pPr>
            <a:r>
              <a:rPr lang="en-US" sz="1120" b="1" dirty="0">
                <a:solidFill>
                  <a:srgbClr val="DCEAF6"/>
                </a:solidFill>
                <a:latin typeface="Aptos" pitchFamily="34" charset="0"/>
                <a:ea typeface="Aptos" pitchFamily="34" charset="-122"/>
                <a:cs typeface="Aptos" pitchFamily="34" charset="-120"/>
              </a:rPr>
              <a:t>Data Center</a:t>
            </a:r>
            <a:endParaRPr lang="en-US" sz="1120" dirty="0"/>
          </a:p>
        </p:txBody>
      </p:sp>
      <p:sp>
        <p:nvSpPr>
          <p:cNvPr id="14" name="Shape 12"/>
          <p:cNvSpPr/>
          <p:nvPr/>
        </p:nvSpPr>
        <p:spPr>
          <a:xfrm>
            <a:off x="3081528" y="3803904"/>
            <a:ext cx="1984248" cy="438912"/>
          </a:xfrm>
          <a:prstGeom prst="roundRect">
            <a:avLst>
              <a:gd name="adj" fmla="val 25000"/>
            </a:avLst>
          </a:prstGeom>
          <a:solidFill>
            <a:srgbClr val="0A2032"/>
          </a:solidFill>
          <a:ln w="12700">
            <a:solidFill>
              <a:srgbClr val="23425C"/>
            </a:solidFill>
            <a:prstDash val="solid"/>
          </a:ln>
        </p:spPr>
      </p:sp>
      <p:sp>
        <p:nvSpPr>
          <p:cNvPr id="15" name="Text 13"/>
          <p:cNvSpPr/>
          <p:nvPr/>
        </p:nvSpPr>
        <p:spPr>
          <a:xfrm>
            <a:off x="3172968" y="3886200"/>
            <a:ext cx="1801368" cy="219456"/>
          </a:xfrm>
          <a:prstGeom prst="rect">
            <a:avLst/>
          </a:prstGeom>
          <a:noFill/>
          <a:ln/>
        </p:spPr>
        <p:txBody>
          <a:bodyPr wrap="square" lIns="0" tIns="0" rIns="0" bIns="0" rtlCol="0" anchor="ctr">
            <a:normAutofit/>
          </a:bodyPr>
          <a:lstStyle/>
          <a:p>
            <a:pPr algn="ctr" indent="0" marL="0">
              <a:buNone/>
            </a:pPr>
            <a:r>
              <a:rPr lang="en-US" sz="1120" b="1" dirty="0">
                <a:solidFill>
                  <a:srgbClr val="DCEAF6"/>
                </a:solidFill>
                <a:latin typeface="Aptos" pitchFamily="34" charset="0"/>
                <a:ea typeface="Aptos" pitchFamily="34" charset="-122"/>
                <a:cs typeface="Aptos" pitchFamily="34" charset="-120"/>
              </a:rPr>
              <a:t>Cloud &amp; AI</a:t>
            </a:r>
            <a:endParaRPr lang="en-US" sz="1120" dirty="0"/>
          </a:p>
        </p:txBody>
      </p:sp>
      <p:sp>
        <p:nvSpPr>
          <p:cNvPr id="16" name="Shape 14"/>
          <p:cNvSpPr/>
          <p:nvPr/>
        </p:nvSpPr>
        <p:spPr>
          <a:xfrm>
            <a:off x="841248" y="4416552"/>
            <a:ext cx="1984248" cy="438912"/>
          </a:xfrm>
          <a:prstGeom prst="roundRect">
            <a:avLst>
              <a:gd name="adj" fmla="val 25000"/>
            </a:avLst>
          </a:prstGeom>
          <a:solidFill>
            <a:srgbClr val="0A2032"/>
          </a:solidFill>
          <a:ln w="12700">
            <a:solidFill>
              <a:srgbClr val="23425C"/>
            </a:solidFill>
            <a:prstDash val="solid"/>
          </a:ln>
        </p:spPr>
      </p:sp>
      <p:sp>
        <p:nvSpPr>
          <p:cNvPr id="17" name="Text 15"/>
          <p:cNvSpPr/>
          <p:nvPr/>
        </p:nvSpPr>
        <p:spPr>
          <a:xfrm>
            <a:off x="932688" y="4498848"/>
            <a:ext cx="1801368" cy="219456"/>
          </a:xfrm>
          <a:prstGeom prst="rect">
            <a:avLst/>
          </a:prstGeom>
          <a:noFill/>
          <a:ln/>
        </p:spPr>
        <p:txBody>
          <a:bodyPr wrap="square" lIns="0" tIns="0" rIns="0" bIns="0" rtlCol="0" anchor="ctr">
            <a:normAutofit/>
          </a:bodyPr>
          <a:lstStyle/>
          <a:p>
            <a:pPr algn="ctr" indent="0" marL="0">
              <a:buNone/>
            </a:pPr>
            <a:r>
              <a:rPr lang="en-US" sz="1120" b="1" dirty="0">
                <a:solidFill>
                  <a:srgbClr val="DCEAF6"/>
                </a:solidFill>
                <a:latin typeface="Aptos" pitchFamily="34" charset="0"/>
                <a:ea typeface="Aptos" pitchFamily="34" charset="-122"/>
                <a:cs typeface="Aptos" pitchFamily="34" charset="-120"/>
              </a:rPr>
              <a:t>Networking / 5G</a:t>
            </a:r>
            <a:endParaRPr lang="en-US" sz="1120" dirty="0"/>
          </a:p>
        </p:txBody>
      </p:sp>
      <p:sp>
        <p:nvSpPr>
          <p:cNvPr id="18" name="Shape 16"/>
          <p:cNvSpPr/>
          <p:nvPr/>
        </p:nvSpPr>
        <p:spPr>
          <a:xfrm>
            <a:off x="3081528" y="4416552"/>
            <a:ext cx="1984248" cy="438912"/>
          </a:xfrm>
          <a:prstGeom prst="roundRect">
            <a:avLst>
              <a:gd name="adj" fmla="val 25000"/>
            </a:avLst>
          </a:prstGeom>
          <a:solidFill>
            <a:srgbClr val="0A2032"/>
          </a:solidFill>
          <a:ln w="12700">
            <a:solidFill>
              <a:srgbClr val="23425C"/>
            </a:solidFill>
            <a:prstDash val="solid"/>
          </a:ln>
        </p:spPr>
      </p:sp>
      <p:sp>
        <p:nvSpPr>
          <p:cNvPr id="19" name="Text 17"/>
          <p:cNvSpPr/>
          <p:nvPr/>
        </p:nvSpPr>
        <p:spPr>
          <a:xfrm>
            <a:off x="3172968" y="4498848"/>
            <a:ext cx="1801368" cy="219456"/>
          </a:xfrm>
          <a:prstGeom prst="rect">
            <a:avLst/>
          </a:prstGeom>
          <a:noFill/>
          <a:ln/>
        </p:spPr>
        <p:txBody>
          <a:bodyPr wrap="square" lIns="0" tIns="0" rIns="0" bIns="0" rtlCol="0" anchor="ctr">
            <a:normAutofit/>
          </a:bodyPr>
          <a:lstStyle/>
          <a:p>
            <a:pPr algn="ctr" indent="0" marL="0">
              <a:buNone/>
            </a:pPr>
            <a:r>
              <a:rPr lang="en-US" sz="1120" b="1" dirty="0">
                <a:solidFill>
                  <a:srgbClr val="DCEAF6"/>
                </a:solidFill>
                <a:latin typeface="Aptos" pitchFamily="34" charset="0"/>
                <a:ea typeface="Aptos" pitchFamily="34" charset="-122"/>
                <a:cs typeface="Aptos" pitchFamily="34" charset="-120"/>
              </a:rPr>
              <a:t>Storage</a:t>
            </a:r>
            <a:endParaRPr lang="en-US" sz="1120" dirty="0"/>
          </a:p>
        </p:txBody>
      </p:sp>
      <p:sp>
        <p:nvSpPr>
          <p:cNvPr id="20" name="Shape 18"/>
          <p:cNvSpPr/>
          <p:nvPr/>
        </p:nvSpPr>
        <p:spPr>
          <a:xfrm>
            <a:off x="6199632" y="1325880"/>
            <a:ext cx="5422392" cy="4343400"/>
          </a:xfrm>
          <a:prstGeom prst="roundRect">
            <a:avLst>
              <a:gd name="adj" fmla="val 2526"/>
            </a:avLst>
          </a:prstGeom>
          <a:solidFill>
            <a:srgbClr val="10263D"/>
          </a:solidFill>
          <a:ln w="12700">
            <a:solidFill>
              <a:srgbClr val="26415D"/>
            </a:solidFill>
            <a:prstDash val="solid"/>
          </a:ln>
        </p:spPr>
      </p:sp>
      <p:sp>
        <p:nvSpPr>
          <p:cNvPr id="21" name="Text 19"/>
          <p:cNvSpPr/>
          <p:nvPr/>
        </p:nvSpPr>
        <p:spPr>
          <a:xfrm>
            <a:off x="6473952" y="1609344"/>
            <a:ext cx="4480560" cy="310896"/>
          </a:xfrm>
          <a:prstGeom prst="rect">
            <a:avLst/>
          </a:prstGeom>
          <a:noFill/>
          <a:ln/>
        </p:spPr>
        <p:txBody>
          <a:bodyPr wrap="square" lIns="0" tIns="0" rIns="0" bIns="0" rtlCol="0" anchor="ctr">
            <a:normAutofit/>
          </a:bodyPr>
          <a:lstStyle/>
          <a:p>
            <a:pPr algn="l" indent="0" marL="0">
              <a:buNone/>
            </a:pPr>
            <a:r>
              <a:rPr lang="en-US" sz="1500" b="1" dirty="0">
                <a:solidFill>
                  <a:srgbClr val="F5F8FC"/>
                </a:solidFill>
                <a:latin typeface="Aptos" pitchFamily="34" charset="0"/>
                <a:ea typeface="Aptos" pitchFamily="34" charset="-122"/>
                <a:cs typeface="Aptos" pitchFamily="34" charset="-120"/>
              </a:rPr>
              <a:t>Vietnam engineering footprint</a:t>
            </a:r>
            <a:endParaRPr lang="en-US" sz="1500" dirty="0"/>
          </a:p>
        </p:txBody>
      </p:sp>
      <p:sp>
        <p:nvSpPr>
          <p:cNvPr id="22" name="Text 20"/>
          <p:cNvSpPr/>
          <p:nvPr/>
        </p:nvSpPr>
        <p:spPr>
          <a:xfrm>
            <a:off x="6473952" y="2157984"/>
            <a:ext cx="1508760" cy="731520"/>
          </a:xfrm>
          <a:prstGeom prst="rect">
            <a:avLst/>
          </a:prstGeom>
          <a:noFill/>
          <a:ln/>
        </p:spPr>
        <p:txBody>
          <a:bodyPr wrap="square" lIns="0" tIns="0" rIns="0" bIns="0" rtlCol="0" anchor="ctr">
            <a:normAutofit/>
          </a:bodyPr>
          <a:lstStyle/>
          <a:p>
            <a:pPr algn="l" indent="0" marL="0">
              <a:buNone/>
            </a:pPr>
            <a:r>
              <a:rPr lang="en-US" sz="4700" b="1" dirty="0">
                <a:solidFill>
                  <a:srgbClr val="4FD1C5"/>
                </a:solidFill>
                <a:latin typeface="Aptos Display" pitchFamily="34" charset="0"/>
                <a:ea typeface="Aptos Display" pitchFamily="34" charset="-122"/>
                <a:cs typeface="Aptos Display" pitchFamily="34" charset="-120"/>
              </a:rPr>
              <a:t>3rd</a:t>
            </a:r>
            <a:endParaRPr lang="en-US" sz="4700" dirty="0"/>
          </a:p>
        </p:txBody>
      </p:sp>
      <p:sp>
        <p:nvSpPr>
          <p:cNvPr id="23" name="Text 21"/>
          <p:cNvSpPr/>
          <p:nvPr/>
        </p:nvSpPr>
        <p:spPr>
          <a:xfrm>
            <a:off x="7799832" y="2331720"/>
            <a:ext cx="3017520" cy="329184"/>
          </a:xfrm>
          <a:prstGeom prst="rect">
            <a:avLst/>
          </a:prstGeom>
          <a:noFill/>
          <a:ln/>
        </p:spPr>
        <p:txBody>
          <a:bodyPr wrap="square" lIns="0" tIns="0" rIns="0" bIns="0" rtlCol="0" anchor="ctr">
            <a:normAutofit/>
          </a:bodyPr>
          <a:lstStyle/>
          <a:p>
            <a:pPr algn="l" indent="0" marL="0">
              <a:buNone/>
            </a:pPr>
            <a:r>
              <a:rPr lang="en-US" sz="1500" b="1" dirty="0">
                <a:solidFill>
                  <a:srgbClr val="F5F8FC"/>
                </a:solidFill>
                <a:latin typeface="Aptos" pitchFamily="34" charset="0"/>
                <a:ea typeface="Aptos" pitchFamily="34" charset="-122"/>
                <a:cs typeface="Aptos" pitchFamily="34" charset="-120"/>
              </a:rPr>
              <a:t>largest global R&amp;D hub</a:t>
            </a:r>
            <a:endParaRPr lang="en-US" sz="1500" dirty="0"/>
          </a:p>
        </p:txBody>
      </p:sp>
      <p:sp>
        <p:nvSpPr>
          <p:cNvPr id="24" name="Shape 22"/>
          <p:cNvSpPr/>
          <p:nvPr/>
        </p:nvSpPr>
        <p:spPr>
          <a:xfrm>
            <a:off x="6473952" y="3035808"/>
            <a:ext cx="4572000" cy="0"/>
          </a:xfrm>
          <a:prstGeom prst="line">
            <a:avLst/>
          </a:prstGeom>
          <a:noFill/>
          <a:ln w="12700">
            <a:solidFill>
              <a:srgbClr val="26415D"/>
            </a:solidFill>
            <a:prstDash val="solid"/>
            <a:headEnd type="none"/>
            <a:tailEnd type="none"/>
          </a:ln>
        </p:spPr>
      </p:sp>
      <p:sp>
        <p:nvSpPr>
          <p:cNvPr id="25" name="Text 23"/>
          <p:cNvSpPr/>
          <p:nvPr/>
        </p:nvSpPr>
        <p:spPr>
          <a:xfrm>
            <a:off x="6473952" y="3246120"/>
            <a:ext cx="1554480" cy="676656"/>
          </a:xfrm>
          <a:prstGeom prst="rect">
            <a:avLst/>
          </a:prstGeom>
          <a:noFill/>
          <a:ln/>
        </p:spPr>
        <p:txBody>
          <a:bodyPr wrap="square" lIns="0" tIns="0" rIns="0" bIns="0" rtlCol="0" anchor="ctr">
            <a:normAutofit/>
          </a:bodyPr>
          <a:lstStyle/>
          <a:p>
            <a:pPr algn="l" indent="0" marL="0">
              <a:buNone/>
            </a:pPr>
            <a:r>
              <a:rPr lang="en-US" sz="4300" b="1" dirty="0">
                <a:solidFill>
                  <a:srgbClr val="6AA7FF"/>
                </a:solidFill>
                <a:latin typeface="Aptos Display" pitchFamily="34" charset="0"/>
                <a:ea typeface="Aptos Display" pitchFamily="34" charset="-122"/>
                <a:cs typeface="Aptos Display" pitchFamily="34" charset="-120"/>
              </a:rPr>
              <a:t>500+</a:t>
            </a:r>
            <a:endParaRPr lang="en-US" sz="4300" dirty="0"/>
          </a:p>
        </p:txBody>
      </p:sp>
      <p:sp>
        <p:nvSpPr>
          <p:cNvPr id="26" name="Text 24"/>
          <p:cNvSpPr/>
          <p:nvPr/>
        </p:nvSpPr>
        <p:spPr>
          <a:xfrm>
            <a:off x="7955280" y="3429000"/>
            <a:ext cx="2468880" cy="310896"/>
          </a:xfrm>
          <a:prstGeom prst="rect">
            <a:avLst/>
          </a:prstGeom>
          <a:noFill/>
          <a:ln/>
        </p:spPr>
        <p:txBody>
          <a:bodyPr wrap="square" lIns="0" tIns="0" rIns="0" bIns="0" rtlCol="0" anchor="ctr">
            <a:normAutofit/>
          </a:bodyPr>
          <a:lstStyle/>
          <a:p>
            <a:pPr algn="l" indent="0" marL="0">
              <a:buNone/>
            </a:pPr>
            <a:r>
              <a:rPr lang="en-US" sz="1500" b="1" dirty="0">
                <a:solidFill>
                  <a:srgbClr val="F5F8FC"/>
                </a:solidFill>
                <a:latin typeface="Aptos" pitchFamily="34" charset="0"/>
                <a:ea typeface="Aptos" pitchFamily="34" charset="-122"/>
                <a:cs typeface="Aptos" pitchFamily="34" charset="-120"/>
              </a:rPr>
              <a:t>engineers in Vietnam</a:t>
            </a:r>
            <a:endParaRPr lang="en-US" sz="1500" dirty="0"/>
          </a:p>
        </p:txBody>
      </p:sp>
      <p:sp>
        <p:nvSpPr>
          <p:cNvPr id="27" name="Shape 25"/>
          <p:cNvSpPr/>
          <p:nvPr/>
        </p:nvSpPr>
        <p:spPr>
          <a:xfrm>
            <a:off x="6473952" y="4160520"/>
            <a:ext cx="4572000" cy="0"/>
          </a:xfrm>
          <a:prstGeom prst="line">
            <a:avLst/>
          </a:prstGeom>
          <a:noFill/>
          <a:ln w="12700">
            <a:solidFill>
              <a:srgbClr val="26415D"/>
            </a:solidFill>
            <a:prstDash val="solid"/>
            <a:headEnd type="none"/>
            <a:tailEnd type="none"/>
          </a:ln>
        </p:spPr>
      </p:sp>
      <p:sp>
        <p:nvSpPr>
          <p:cNvPr id="28" name="Shape 26"/>
          <p:cNvSpPr/>
          <p:nvPr/>
        </p:nvSpPr>
        <p:spPr>
          <a:xfrm>
            <a:off x="6473952" y="4425696"/>
            <a:ext cx="1920240" cy="310896"/>
          </a:xfrm>
          <a:prstGeom prst="roundRect">
            <a:avLst>
              <a:gd name="adj" fmla="val 41176"/>
            </a:avLst>
          </a:prstGeom>
          <a:solidFill>
            <a:srgbClr val="0D2435">
              <a:alpha val="90000"/>
            </a:srgbClr>
          </a:solidFill>
          <a:ln w="12700">
            <a:solidFill>
              <a:srgbClr val="70D6A7">
                <a:alpha val="60000"/>
              </a:srgbClr>
            </a:solidFill>
            <a:prstDash val="solid"/>
          </a:ln>
        </p:spPr>
      </p:sp>
      <p:sp>
        <p:nvSpPr>
          <p:cNvPr id="29" name="Shape 27"/>
          <p:cNvSpPr/>
          <p:nvPr/>
        </p:nvSpPr>
        <p:spPr>
          <a:xfrm>
            <a:off x="6565392" y="4530852"/>
            <a:ext cx="73152" cy="73152"/>
          </a:xfrm>
          <a:prstGeom prst="ellipse">
            <a:avLst/>
          </a:prstGeom>
          <a:solidFill>
            <a:srgbClr val="70D6A7"/>
          </a:solidFill>
          <a:ln w="12700">
            <a:solidFill>
              <a:srgbClr val="70D6A7"/>
            </a:solidFill>
            <a:prstDash val="solid"/>
          </a:ln>
        </p:spPr>
      </p:sp>
      <p:sp>
        <p:nvSpPr>
          <p:cNvPr id="30" name="Text 28"/>
          <p:cNvSpPr/>
          <p:nvPr/>
        </p:nvSpPr>
        <p:spPr>
          <a:xfrm>
            <a:off x="6684264" y="4443984"/>
            <a:ext cx="1673352"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Ho Chi Minh City</a:t>
            </a:r>
            <a:endParaRPr lang="en-US" sz="920" dirty="0"/>
          </a:p>
        </p:txBody>
      </p:sp>
      <p:sp>
        <p:nvSpPr>
          <p:cNvPr id="31" name="Shape 29"/>
          <p:cNvSpPr/>
          <p:nvPr/>
        </p:nvSpPr>
        <p:spPr>
          <a:xfrm>
            <a:off x="8613648" y="4425696"/>
            <a:ext cx="1316736" cy="310896"/>
          </a:xfrm>
          <a:prstGeom prst="roundRect">
            <a:avLst>
              <a:gd name="adj" fmla="val 41176"/>
            </a:avLst>
          </a:prstGeom>
          <a:solidFill>
            <a:srgbClr val="0D2435">
              <a:alpha val="90000"/>
            </a:srgbClr>
          </a:solidFill>
          <a:ln w="12700">
            <a:solidFill>
              <a:srgbClr val="FFB25B">
                <a:alpha val="60000"/>
              </a:srgbClr>
            </a:solidFill>
            <a:prstDash val="solid"/>
          </a:ln>
        </p:spPr>
      </p:sp>
      <p:sp>
        <p:nvSpPr>
          <p:cNvPr id="32" name="Shape 30"/>
          <p:cNvSpPr/>
          <p:nvPr/>
        </p:nvSpPr>
        <p:spPr>
          <a:xfrm>
            <a:off x="8705088" y="4530852"/>
            <a:ext cx="73152" cy="73152"/>
          </a:xfrm>
          <a:prstGeom prst="ellipse">
            <a:avLst/>
          </a:prstGeom>
          <a:solidFill>
            <a:srgbClr val="FFB25B"/>
          </a:solidFill>
          <a:ln w="12700">
            <a:solidFill>
              <a:srgbClr val="FFB25B"/>
            </a:solidFill>
            <a:prstDash val="solid"/>
          </a:ln>
        </p:spPr>
      </p:sp>
      <p:sp>
        <p:nvSpPr>
          <p:cNvPr id="33" name="Text 31"/>
          <p:cNvSpPr/>
          <p:nvPr/>
        </p:nvSpPr>
        <p:spPr>
          <a:xfrm>
            <a:off x="8823960" y="4443984"/>
            <a:ext cx="1069848"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Da Nang</a:t>
            </a:r>
            <a:endParaRPr lang="en-US" sz="920" dirty="0"/>
          </a:p>
        </p:txBody>
      </p:sp>
      <p:sp>
        <p:nvSpPr>
          <p:cNvPr id="34" name="Text 32"/>
          <p:cNvSpPr/>
          <p:nvPr/>
        </p:nvSpPr>
        <p:spPr>
          <a:xfrm>
            <a:off x="6473952" y="4965192"/>
            <a:ext cx="4315968" cy="420624"/>
          </a:xfrm>
          <a:prstGeom prst="rect">
            <a:avLst/>
          </a:prstGeom>
          <a:noFill/>
          <a:ln/>
        </p:spPr>
        <p:txBody>
          <a:bodyPr wrap="square" lIns="0" tIns="0" rIns="0" bIns="0" rtlCol="0" anchor="ctr">
            <a:normAutofit/>
          </a:bodyPr>
          <a:lstStyle/>
          <a:p>
            <a:pPr algn="l" indent="0" marL="0">
              <a:buNone/>
            </a:pPr>
            <a:r>
              <a:rPr lang="en-US" sz="1330" dirty="0">
                <a:solidFill>
                  <a:srgbClr val="B7C4D6"/>
                </a:solidFill>
                <a:latin typeface="Aptos" pitchFamily="34" charset="0"/>
                <a:ea typeface="Aptos" pitchFamily="34" charset="-122"/>
                <a:cs typeface="Aptos" pitchFamily="34" charset="-120"/>
              </a:rPr>
              <a:t>Vietnam teams contribute to core engineering—not only support functions.</a:t>
            </a:r>
            <a:endParaRPr lang="en-US" sz="1330" dirty="0"/>
          </a:p>
        </p:txBody>
      </p:sp>
      <p:sp>
        <p:nvSpPr>
          <p:cNvPr id="35" name="Text 33"/>
          <p:cNvSpPr/>
          <p:nvPr/>
        </p:nvSpPr>
        <p:spPr>
          <a:xfrm>
            <a:off x="576072" y="6236208"/>
            <a:ext cx="10835640" cy="164592"/>
          </a:xfrm>
          <a:prstGeom prst="rect">
            <a:avLst/>
          </a:prstGeom>
          <a:noFill/>
          <a:ln/>
        </p:spPr>
        <p:txBody>
          <a:bodyPr wrap="square" lIns="0" tIns="0" rIns="0" bIns="0" rtlCol="0" anchor="ctr">
            <a:normAutofit/>
          </a:bodyPr>
          <a:lstStyle/>
          <a:p>
            <a:pPr algn="l" indent="0" marL="0">
              <a:buNone/>
            </a:pPr>
            <a:r>
              <a:rPr lang="en-US" sz="730" dirty="0">
                <a:solidFill>
                  <a:srgbClr val="6F829A"/>
                </a:solidFill>
                <a:latin typeface="Aptos" pitchFamily="34" charset="0"/>
                <a:ea typeface="Aptos" pitchFamily="34" charset="-122"/>
                <a:cs typeface="Aptos" pitchFamily="34" charset="-120"/>
              </a:rPr>
              <a:t>Based on the group’s 2026 presentation brief and Marvell Vietnam R&amp;D context.</a:t>
            </a:r>
            <a:endParaRPr lang="en-US" sz="730" dirty="0"/>
          </a:p>
        </p:txBody>
      </p:sp>
      <p:sp>
        <p:nvSpPr>
          <p:cNvPr id="25" name="Slide Number Placeholder 0"/>
          <p:cNvSpPr>
            <a:spLocks noGrp="1"/>
          </p:cNvSpPr>
          <p:nvPr>
            <p:ph type="sldNum" sz="quarter" idx="4294967295"/>
          </p:nvPr>
        </p:nvSpPr>
        <p:spPr>
          <a:xfrm>
            <a:off x="11201400" y="650138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F829A"/>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47472"/>
            <a:ext cx="5303520" cy="201168"/>
          </a:xfrm>
          <a:prstGeom prst="rect">
            <a:avLst/>
          </a:prstGeom>
          <a:noFill/>
          <a:ln/>
        </p:spPr>
        <p:txBody>
          <a:bodyPr wrap="square" lIns="0" tIns="0" rIns="0" bIns="0" rtlCol="0" anchor="ctr">
            <a:normAutofit/>
          </a:bodyPr>
          <a:lstStyle/>
          <a:p>
            <a:pPr algn="l" indent="0" marL="0">
              <a:buNone/>
            </a:pPr>
            <a:r>
              <a:rPr lang="en-US" sz="930" b="1" spc="140" kern="0" dirty="0">
                <a:solidFill>
                  <a:srgbClr val="4FD1C5"/>
                </a:solidFill>
                <a:latin typeface="Aptos" pitchFamily="34" charset="0"/>
                <a:ea typeface="Aptos" pitchFamily="34" charset="-122"/>
                <a:cs typeface="Aptos" pitchFamily="34" charset="-120"/>
              </a:rPr>
              <a:t>TECHNOLOGY PORTFOLIO</a:t>
            </a:r>
            <a:endParaRPr lang="en-US" sz="930" dirty="0"/>
          </a:p>
        </p:txBody>
      </p:sp>
      <p:sp>
        <p:nvSpPr>
          <p:cNvPr id="3" name="Text 1"/>
          <p:cNvSpPr/>
          <p:nvPr/>
        </p:nvSpPr>
        <p:spPr>
          <a:xfrm>
            <a:off x="566928" y="566928"/>
            <a:ext cx="10881360" cy="530352"/>
          </a:xfrm>
          <a:prstGeom prst="rect">
            <a:avLst/>
          </a:prstGeom>
          <a:noFill/>
          <a:ln/>
        </p:spPr>
        <p:txBody>
          <a:bodyPr wrap="square" lIns="0" tIns="0" rIns="0" bIns="0" rtlCol="0" anchor="ctr">
            <a:normAutofit/>
          </a:bodyPr>
          <a:lstStyle/>
          <a:p>
            <a:pPr algn="l" indent="0" marL="0">
              <a:buNone/>
            </a:pPr>
            <a:r>
              <a:rPr lang="en-US" sz="2750" b="1" dirty="0">
                <a:solidFill>
                  <a:srgbClr val="F5F8FC"/>
                </a:solidFill>
                <a:latin typeface="Aptos Display" pitchFamily="34" charset="0"/>
                <a:ea typeface="Aptos Display" pitchFamily="34" charset="-122"/>
                <a:cs typeface="Aptos Display" pitchFamily="34" charset="-120"/>
              </a:rPr>
              <a:t>What Does Marvell Design?</a:t>
            </a:r>
            <a:endParaRPr lang="en-US" sz="2750" dirty="0"/>
          </a:p>
        </p:txBody>
      </p:sp>
      <p:sp>
        <p:nvSpPr>
          <p:cNvPr id="4" name="Shape 2"/>
          <p:cNvSpPr/>
          <p:nvPr/>
        </p:nvSpPr>
        <p:spPr>
          <a:xfrm>
            <a:off x="9555480" y="338328"/>
            <a:ext cx="2057400" cy="310896"/>
          </a:xfrm>
          <a:prstGeom prst="roundRect">
            <a:avLst>
              <a:gd name="adj" fmla="val 35294"/>
            </a:avLst>
          </a:prstGeom>
          <a:solidFill>
            <a:srgbClr val="10263D"/>
          </a:solidFill>
          <a:ln w="12700">
            <a:solidFill>
              <a:srgbClr val="26415D"/>
            </a:solidFill>
            <a:prstDash val="solid"/>
          </a:ln>
        </p:spPr>
      </p:sp>
      <p:sp>
        <p:nvSpPr>
          <p:cNvPr id="5" name="Text 3"/>
          <p:cNvSpPr/>
          <p:nvPr/>
        </p:nvSpPr>
        <p:spPr>
          <a:xfrm>
            <a:off x="9646920" y="370332"/>
            <a:ext cx="1874520" cy="210312"/>
          </a:xfrm>
          <a:prstGeom prst="rect">
            <a:avLst/>
          </a:prstGeom>
          <a:noFill/>
          <a:ln/>
        </p:spPr>
        <p:txBody>
          <a:bodyPr wrap="square" lIns="0" tIns="0" rIns="0" bIns="0" rtlCol="0" anchor="ctr">
            <a:normAutofit/>
          </a:bodyPr>
          <a:lstStyle/>
          <a:p>
            <a:pPr algn="ctr" indent="0" marL="0">
              <a:buNone/>
            </a:pPr>
            <a:r>
              <a:rPr lang="en-US" sz="840" b="1" dirty="0">
                <a:solidFill>
                  <a:srgbClr val="D9E8F6"/>
                </a:solidFill>
                <a:latin typeface="Aptos" pitchFamily="34" charset="0"/>
                <a:ea typeface="Aptos" pitchFamily="34" charset="-122"/>
                <a:cs typeface="Aptos" pitchFamily="34" charset="-120"/>
              </a:rPr>
              <a:t>LÊ QUỐC KHÁNH</a:t>
            </a:r>
            <a:endParaRPr lang="en-US" sz="840" dirty="0"/>
          </a:p>
        </p:txBody>
      </p:sp>
      <p:sp>
        <p:nvSpPr>
          <p:cNvPr id="6" name="Shape 4"/>
          <p:cNvSpPr/>
          <p:nvPr/>
        </p:nvSpPr>
        <p:spPr>
          <a:xfrm>
            <a:off x="585216" y="1353312"/>
            <a:ext cx="5349240" cy="1975104"/>
          </a:xfrm>
          <a:prstGeom prst="roundRect">
            <a:avLst>
              <a:gd name="adj" fmla="val 5556"/>
            </a:avLst>
          </a:prstGeom>
          <a:solidFill>
            <a:srgbClr val="0D1B2C"/>
          </a:solidFill>
          <a:ln w="12700">
            <a:solidFill>
              <a:srgbClr val="26415D"/>
            </a:solidFill>
            <a:prstDash val="solid"/>
          </a:ln>
        </p:spPr>
      </p:sp>
      <p:sp>
        <p:nvSpPr>
          <p:cNvPr id="7" name="Shape 5"/>
          <p:cNvSpPr/>
          <p:nvPr/>
        </p:nvSpPr>
        <p:spPr>
          <a:xfrm>
            <a:off x="813816" y="1581912"/>
            <a:ext cx="1572768" cy="310896"/>
          </a:xfrm>
          <a:prstGeom prst="roundRect">
            <a:avLst>
              <a:gd name="adj" fmla="val 41176"/>
            </a:avLst>
          </a:prstGeom>
          <a:solidFill>
            <a:srgbClr val="0D2435">
              <a:alpha val="90000"/>
            </a:srgbClr>
          </a:solidFill>
          <a:ln w="12700">
            <a:solidFill>
              <a:srgbClr val="4FD1C5">
                <a:alpha val="60000"/>
              </a:srgbClr>
            </a:solidFill>
            <a:prstDash val="solid"/>
          </a:ln>
        </p:spPr>
      </p:sp>
      <p:sp>
        <p:nvSpPr>
          <p:cNvPr id="8" name="Shape 6"/>
          <p:cNvSpPr/>
          <p:nvPr/>
        </p:nvSpPr>
        <p:spPr>
          <a:xfrm>
            <a:off x="905256" y="1687068"/>
            <a:ext cx="73152" cy="73152"/>
          </a:xfrm>
          <a:prstGeom prst="ellipse">
            <a:avLst/>
          </a:prstGeom>
          <a:solidFill>
            <a:srgbClr val="4FD1C5"/>
          </a:solidFill>
          <a:ln w="12700">
            <a:solidFill>
              <a:srgbClr val="4FD1C5"/>
            </a:solidFill>
            <a:prstDash val="solid"/>
          </a:ln>
        </p:spPr>
      </p:sp>
      <p:sp>
        <p:nvSpPr>
          <p:cNvPr id="9" name="Text 7"/>
          <p:cNvSpPr/>
          <p:nvPr/>
        </p:nvSpPr>
        <p:spPr>
          <a:xfrm>
            <a:off x="1024128" y="1600200"/>
            <a:ext cx="1325880"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Custom Silicon</a:t>
            </a:r>
            <a:endParaRPr lang="en-US" sz="920" dirty="0"/>
          </a:p>
        </p:txBody>
      </p:sp>
      <p:sp>
        <p:nvSpPr>
          <p:cNvPr id="10" name="Text 8"/>
          <p:cNvSpPr/>
          <p:nvPr/>
        </p:nvSpPr>
        <p:spPr>
          <a:xfrm>
            <a:off x="813816" y="2066544"/>
            <a:ext cx="4892040" cy="393192"/>
          </a:xfrm>
          <a:prstGeom prst="rect">
            <a:avLst/>
          </a:prstGeom>
          <a:noFill/>
          <a:ln/>
        </p:spPr>
        <p:txBody>
          <a:bodyPr wrap="square" lIns="0" tIns="0" rIns="0" bIns="0" rtlCol="0" anchor="ctr">
            <a:normAutofit/>
          </a:bodyPr>
          <a:lstStyle/>
          <a:p>
            <a:pPr algn="l" indent="0" marL="0">
              <a:buNone/>
            </a:pPr>
            <a:r>
              <a:rPr lang="en-US" sz="2200" b="1" dirty="0">
                <a:solidFill>
                  <a:srgbClr val="F5F8FC"/>
                </a:solidFill>
                <a:latin typeface="Aptos Display" pitchFamily="34" charset="0"/>
                <a:ea typeface="Aptos Display" pitchFamily="34" charset="-122"/>
                <a:cs typeface="Aptos Display" pitchFamily="34" charset="-120"/>
              </a:rPr>
              <a:t>Custom ASIC &amp; SoC</a:t>
            </a:r>
            <a:endParaRPr lang="en-US" sz="2200" dirty="0"/>
          </a:p>
        </p:txBody>
      </p:sp>
      <p:sp>
        <p:nvSpPr>
          <p:cNvPr id="11" name="Text 9"/>
          <p:cNvSpPr/>
          <p:nvPr/>
        </p:nvSpPr>
        <p:spPr>
          <a:xfrm>
            <a:off x="813816" y="2514600"/>
            <a:ext cx="4892040" cy="566928"/>
          </a:xfrm>
          <a:prstGeom prst="rect">
            <a:avLst/>
          </a:prstGeom>
          <a:noFill/>
          <a:ln/>
        </p:spPr>
        <p:txBody>
          <a:bodyPr wrap="square" lIns="0" tIns="0" rIns="0" bIns="0" rtlCol="0" anchor="t">
            <a:normAutofit/>
          </a:bodyPr>
          <a:lstStyle/>
          <a:p>
            <a:pPr algn="l" indent="0" marL="0">
              <a:buNone/>
            </a:pPr>
            <a:r>
              <a:rPr lang="en-US" sz="1350" dirty="0">
                <a:solidFill>
                  <a:srgbClr val="B7C4D6"/>
                </a:solidFill>
                <a:latin typeface="Aptos" pitchFamily="34" charset="0"/>
                <a:ea typeface="Aptos" pitchFamily="34" charset="-122"/>
                <a:cs typeface="Aptos" pitchFamily="34" charset="-120"/>
              </a:rPr>
              <a:t>Purpose-built silicon for cloud, AI and data infrastructure workloads.</a:t>
            </a:r>
            <a:endParaRPr lang="en-US" sz="1350" dirty="0"/>
          </a:p>
        </p:txBody>
      </p:sp>
      <p:sp>
        <p:nvSpPr>
          <p:cNvPr id="12" name="Shape 10"/>
          <p:cNvSpPr/>
          <p:nvPr/>
        </p:nvSpPr>
        <p:spPr>
          <a:xfrm>
            <a:off x="6163056" y="1353312"/>
            <a:ext cx="5440680" cy="1975104"/>
          </a:xfrm>
          <a:prstGeom prst="roundRect">
            <a:avLst>
              <a:gd name="adj" fmla="val 5556"/>
            </a:avLst>
          </a:prstGeom>
          <a:solidFill>
            <a:srgbClr val="0D1B2C"/>
          </a:solidFill>
          <a:ln w="12700">
            <a:solidFill>
              <a:srgbClr val="26415D"/>
            </a:solidFill>
            <a:prstDash val="solid"/>
          </a:ln>
        </p:spPr>
      </p:sp>
      <p:sp>
        <p:nvSpPr>
          <p:cNvPr id="13" name="Shape 11"/>
          <p:cNvSpPr/>
          <p:nvPr/>
        </p:nvSpPr>
        <p:spPr>
          <a:xfrm>
            <a:off x="6391656" y="1581912"/>
            <a:ext cx="1572768" cy="310896"/>
          </a:xfrm>
          <a:prstGeom prst="roundRect">
            <a:avLst>
              <a:gd name="adj" fmla="val 41176"/>
            </a:avLst>
          </a:prstGeom>
          <a:solidFill>
            <a:srgbClr val="0D2435">
              <a:alpha val="90000"/>
            </a:srgbClr>
          </a:solidFill>
          <a:ln w="12700">
            <a:solidFill>
              <a:srgbClr val="6AA7FF">
                <a:alpha val="60000"/>
              </a:srgbClr>
            </a:solidFill>
            <a:prstDash val="solid"/>
          </a:ln>
        </p:spPr>
      </p:sp>
      <p:sp>
        <p:nvSpPr>
          <p:cNvPr id="14" name="Shape 12"/>
          <p:cNvSpPr/>
          <p:nvPr/>
        </p:nvSpPr>
        <p:spPr>
          <a:xfrm>
            <a:off x="6483096" y="1687068"/>
            <a:ext cx="73152" cy="73152"/>
          </a:xfrm>
          <a:prstGeom prst="ellipse">
            <a:avLst/>
          </a:prstGeom>
          <a:solidFill>
            <a:srgbClr val="6AA7FF"/>
          </a:solidFill>
          <a:ln w="12700">
            <a:solidFill>
              <a:srgbClr val="6AA7FF"/>
            </a:solidFill>
            <a:prstDash val="solid"/>
          </a:ln>
        </p:spPr>
      </p:sp>
      <p:sp>
        <p:nvSpPr>
          <p:cNvPr id="15" name="Text 13"/>
          <p:cNvSpPr/>
          <p:nvPr/>
        </p:nvSpPr>
        <p:spPr>
          <a:xfrm>
            <a:off x="6601968" y="1600200"/>
            <a:ext cx="1325880"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Switching</a:t>
            </a:r>
            <a:endParaRPr lang="en-US" sz="920" dirty="0"/>
          </a:p>
        </p:txBody>
      </p:sp>
      <p:sp>
        <p:nvSpPr>
          <p:cNvPr id="16" name="Text 14"/>
          <p:cNvSpPr/>
          <p:nvPr/>
        </p:nvSpPr>
        <p:spPr>
          <a:xfrm>
            <a:off x="6391656" y="2066544"/>
            <a:ext cx="4983480" cy="393192"/>
          </a:xfrm>
          <a:prstGeom prst="rect">
            <a:avLst/>
          </a:prstGeom>
          <a:noFill/>
          <a:ln/>
        </p:spPr>
        <p:txBody>
          <a:bodyPr wrap="square" lIns="0" tIns="0" rIns="0" bIns="0" rtlCol="0" anchor="ctr">
            <a:normAutofit/>
          </a:bodyPr>
          <a:lstStyle/>
          <a:p>
            <a:pPr algn="l" indent="0" marL="0">
              <a:buNone/>
            </a:pPr>
            <a:r>
              <a:rPr lang="en-US" sz="2200" b="1" dirty="0">
                <a:solidFill>
                  <a:srgbClr val="F5F8FC"/>
                </a:solidFill>
                <a:latin typeface="Aptos Display" pitchFamily="34" charset="0"/>
                <a:ea typeface="Aptos Display" pitchFamily="34" charset="-122"/>
                <a:cs typeface="Aptos Display" pitchFamily="34" charset="-120"/>
              </a:rPr>
              <a:t>High-Speed Networking</a:t>
            </a:r>
            <a:endParaRPr lang="en-US" sz="2200" dirty="0"/>
          </a:p>
        </p:txBody>
      </p:sp>
      <p:sp>
        <p:nvSpPr>
          <p:cNvPr id="17" name="Text 15"/>
          <p:cNvSpPr/>
          <p:nvPr/>
        </p:nvSpPr>
        <p:spPr>
          <a:xfrm>
            <a:off x="6391656" y="2514600"/>
            <a:ext cx="4983480" cy="566928"/>
          </a:xfrm>
          <a:prstGeom prst="rect">
            <a:avLst/>
          </a:prstGeom>
          <a:noFill/>
          <a:ln/>
        </p:spPr>
        <p:txBody>
          <a:bodyPr wrap="square" lIns="0" tIns="0" rIns="0" bIns="0" rtlCol="0" anchor="t">
            <a:normAutofit/>
          </a:bodyPr>
          <a:lstStyle/>
          <a:p>
            <a:pPr algn="l" indent="0" marL="0">
              <a:buNone/>
            </a:pPr>
            <a:r>
              <a:rPr lang="en-US" sz="1350" dirty="0">
                <a:solidFill>
                  <a:srgbClr val="B7C4D6"/>
                </a:solidFill>
                <a:latin typeface="Aptos" pitchFamily="34" charset="0"/>
                <a:ea typeface="Aptos" pitchFamily="34" charset="-122"/>
                <a:cs typeface="Aptos" pitchFamily="34" charset="-120"/>
              </a:rPr>
              <a:t>Ethernet switching and network infrastructure for scale-up and scale-out data-center fabrics.</a:t>
            </a:r>
            <a:endParaRPr lang="en-US" sz="1350" dirty="0"/>
          </a:p>
        </p:txBody>
      </p:sp>
      <p:sp>
        <p:nvSpPr>
          <p:cNvPr id="18" name="Shape 16"/>
          <p:cNvSpPr/>
          <p:nvPr/>
        </p:nvSpPr>
        <p:spPr>
          <a:xfrm>
            <a:off x="585216" y="3593592"/>
            <a:ext cx="5349240" cy="1975104"/>
          </a:xfrm>
          <a:prstGeom prst="roundRect">
            <a:avLst>
              <a:gd name="adj" fmla="val 5556"/>
            </a:avLst>
          </a:prstGeom>
          <a:solidFill>
            <a:srgbClr val="0D1B2C"/>
          </a:solidFill>
          <a:ln w="12700">
            <a:solidFill>
              <a:srgbClr val="26415D"/>
            </a:solidFill>
            <a:prstDash val="solid"/>
          </a:ln>
        </p:spPr>
      </p:sp>
      <p:sp>
        <p:nvSpPr>
          <p:cNvPr id="19" name="Shape 17"/>
          <p:cNvSpPr/>
          <p:nvPr/>
        </p:nvSpPr>
        <p:spPr>
          <a:xfrm>
            <a:off x="813816" y="3822192"/>
            <a:ext cx="1572768" cy="310896"/>
          </a:xfrm>
          <a:prstGeom prst="roundRect">
            <a:avLst>
              <a:gd name="adj" fmla="val 41176"/>
            </a:avLst>
          </a:prstGeom>
          <a:solidFill>
            <a:srgbClr val="0D2435">
              <a:alpha val="90000"/>
            </a:srgbClr>
          </a:solidFill>
          <a:ln w="12700">
            <a:solidFill>
              <a:srgbClr val="B08CFF">
                <a:alpha val="60000"/>
              </a:srgbClr>
            </a:solidFill>
            <a:prstDash val="solid"/>
          </a:ln>
        </p:spPr>
      </p:sp>
      <p:sp>
        <p:nvSpPr>
          <p:cNvPr id="20" name="Shape 18"/>
          <p:cNvSpPr/>
          <p:nvPr/>
        </p:nvSpPr>
        <p:spPr>
          <a:xfrm>
            <a:off x="905256" y="3927348"/>
            <a:ext cx="73152" cy="73152"/>
          </a:xfrm>
          <a:prstGeom prst="ellipse">
            <a:avLst/>
          </a:prstGeom>
          <a:solidFill>
            <a:srgbClr val="B08CFF"/>
          </a:solidFill>
          <a:ln w="12700">
            <a:solidFill>
              <a:srgbClr val="B08CFF"/>
            </a:solidFill>
            <a:prstDash val="solid"/>
          </a:ln>
        </p:spPr>
      </p:sp>
      <p:sp>
        <p:nvSpPr>
          <p:cNvPr id="21" name="Text 19"/>
          <p:cNvSpPr/>
          <p:nvPr/>
        </p:nvSpPr>
        <p:spPr>
          <a:xfrm>
            <a:off x="1024128" y="3840480"/>
            <a:ext cx="1325880"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Interconnect</a:t>
            </a:r>
            <a:endParaRPr lang="en-US" sz="920" dirty="0"/>
          </a:p>
        </p:txBody>
      </p:sp>
      <p:sp>
        <p:nvSpPr>
          <p:cNvPr id="22" name="Text 20"/>
          <p:cNvSpPr/>
          <p:nvPr/>
        </p:nvSpPr>
        <p:spPr>
          <a:xfrm>
            <a:off x="813816" y="4306824"/>
            <a:ext cx="4892040" cy="393192"/>
          </a:xfrm>
          <a:prstGeom prst="rect">
            <a:avLst/>
          </a:prstGeom>
          <a:noFill/>
          <a:ln/>
        </p:spPr>
        <p:txBody>
          <a:bodyPr wrap="square" lIns="0" tIns="0" rIns="0" bIns="0" rtlCol="0" anchor="ctr">
            <a:normAutofit/>
          </a:bodyPr>
          <a:lstStyle/>
          <a:p>
            <a:pPr algn="l" indent="0" marL="0">
              <a:buNone/>
            </a:pPr>
            <a:r>
              <a:rPr lang="en-US" sz="2200" b="1" dirty="0">
                <a:solidFill>
                  <a:srgbClr val="F5F8FC"/>
                </a:solidFill>
                <a:latin typeface="Aptos Display" pitchFamily="34" charset="0"/>
                <a:ea typeface="Aptos Display" pitchFamily="34" charset="-122"/>
                <a:cs typeface="Aptos Display" pitchFamily="34" charset="-120"/>
              </a:rPr>
              <a:t>PAM4 / SerDes / PCIe</a:t>
            </a:r>
            <a:endParaRPr lang="en-US" sz="2200" dirty="0"/>
          </a:p>
        </p:txBody>
      </p:sp>
      <p:sp>
        <p:nvSpPr>
          <p:cNvPr id="23" name="Text 21"/>
          <p:cNvSpPr/>
          <p:nvPr/>
        </p:nvSpPr>
        <p:spPr>
          <a:xfrm>
            <a:off x="813816" y="4754880"/>
            <a:ext cx="4892040" cy="566928"/>
          </a:xfrm>
          <a:prstGeom prst="rect">
            <a:avLst/>
          </a:prstGeom>
          <a:noFill/>
          <a:ln/>
        </p:spPr>
        <p:txBody>
          <a:bodyPr wrap="square" lIns="0" tIns="0" rIns="0" bIns="0" rtlCol="0" anchor="t">
            <a:normAutofit/>
          </a:bodyPr>
          <a:lstStyle/>
          <a:p>
            <a:pPr algn="l" indent="0" marL="0">
              <a:buNone/>
            </a:pPr>
            <a:r>
              <a:rPr lang="en-US" sz="1350" dirty="0">
                <a:solidFill>
                  <a:srgbClr val="B7C4D6"/>
                </a:solidFill>
                <a:latin typeface="Aptos" pitchFamily="34" charset="0"/>
                <a:ea typeface="Aptos" pitchFamily="34" charset="-122"/>
                <a:cs typeface="Aptos" pitchFamily="34" charset="-120"/>
              </a:rPr>
              <a:t>High-speed SerDes, optical/electrical interfaces and PCIe technologies for extreme bandwidth.</a:t>
            </a:r>
            <a:endParaRPr lang="en-US" sz="1350" dirty="0"/>
          </a:p>
        </p:txBody>
      </p:sp>
      <p:sp>
        <p:nvSpPr>
          <p:cNvPr id="24" name="Shape 22"/>
          <p:cNvSpPr/>
          <p:nvPr/>
        </p:nvSpPr>
        <p:spPr>
          <a:xfrm>
            <a:off x="6163056" y="3593592"/>
            <a:ext cx="5440680" cy="1975104"/>
          </a:xfrm>
          <a:prstGeom prst="roundRect">
            <a:avLst>
              <a:gd name="adj" fmla="val 5556"/>
            </a:avLst>
          </a:prstGeom>
          <a:solidFill>
            <a:srgbClr val="0D1B2C"/>
          </a:solidFill>
          <a:ln w="12700">
            <a:solidFill>
              <a:srgbClr val="26415D"/>
            </a:solidFill>
            <a:prstDash val="solid"/>
          </a:ln>
        </p:spPr>
      </p:sp>
      <p:sp>
        <p:nvSpPr>
          <p:cNvPr id="25" name="Shape 23"/>
          <p:cNvSpPr/>
          <p:nvPr/>
        </p:nvSpPr>
        <p:spPr>
          <a:xfrm>
            <a:off x="6391656" y="3822192"/>
            <a:ext cx="1572768" cy="310896"/>
          </a:xfrm>
          <a:prstGeom prst="roundRect">
            <a:avLst>
              <a:gd name="adj" fmla="val 41176"/>
            </a:avLst>
          </a:prstGeom>
          <a:solidFill>
            <a:srgbClr val="0D2435">
              <a:alpha val="90000"/>
            </a:srgbClr>
          </a:solidFill>
          <a:ln w="12700">
            <a:solidFill>
              <a:srgbClr val="FFB25B">
                <a:alpha val="60000"/>
              </a:srgbClr>
            </a:solidFill>
            <a:prstDash val="solid"/>
          </a:ln>
        </p:spPr>
      </p:sp>
      <p:sp>
        <p:nvSpPr>
          <p:cNvPr id="26" name="Shape 24"/>
          <p:cNvSpPr/>
          <p:nvPr/>
        </p:nvSpPr>
        <p:spPr>
          <a:xfrm>
            <a:off x="6483096" y="3927348"/>
            <a:ext cx="73152" cy="73152"/>
          </a:xfrm>
          <a:prstGeom prst="ellipse">
            <a:avLst/>
          </a:prstGeom>
          <a:solidFill>
            <a:srgbClr val="FFB25B"/>
          </a:solidFill>
          <a:ln w="12700">
            <a:solidFill>
              <a:srgbClr val="FFB25B"/>
            </a:solidFill>
            <a:prstDash val="solid"/>
          </a:ln>
        </p:spPr>
      </p:sp>
      <p:sp>
        <p:nvSpPr>
          <p:cNvPr id="27" name="Text 25"/>
          <p:cNvSpPr/>
          <p:nvPr/>
        </p:nvSpPr>
        <p:spPr>
          <a:xfrm>
            <a:off x="6601968" y="3840480"/>
            <a:ext cx="1325880"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Storage</a:t>
            </a:r>
            <a:endParaRPr lang="en-US" sz="920" dirty="0"/>
          </a:p>
        </p:txBody>
      </p:sp>
      <p:sp>
        <p:nvSpPr>
          <p:cNvPr id="28" name="Text 26"/>
          <p:cNvSpPr/>
          <p:nvPr/>
        </p:nvSpPr>
        <p:spPr>
          <a:xfrm>
            <a:off x="6391656" y="4306824"/>
            <a:ext cx="4983480" cy="393192"/>
          </a:xfrm>
          <a:prstGeom prst="rect">
            <a:avLst/>
          </a:prstGeom>
          <a:noFill/>
          <a:ln/>
        </p:spPr>
        <p:txBody>
          <a:bodyPr wrap="square" lIns="0" tIns="0" rIns="0" bIns="0" rtlCol="0" anchor="ctr">
            <a:normAutofit/>
          </a:bodyPr>
          <a:lstStyle/>
          <a:p>
            <a:pPr algn="l" indent="0" marL="0">
              <a:buNone/>
            </a:pPr>
            <a:r>
              <a:rPr lang="en-US" sz="2200" b="1" dirty="0">
                <a:solidFill>
                  <a:srgbClr val="F5F8FC"/>
                </a:solidFill>
                <a:latin typeface="Aptos Display" pitchFamily="34" charset="0"/>
                <a:ea typeface="Aptos Display" pitchFamily="34" charset="-122"/>
                <a:cs typeface="Aptos Display" pitchFamily="34" charset="-120"/>
              </a:rPr>
              <a:t>Storage Controllers</a:t>
            </a:r>
            <a:endParaRPr lang="en-US" sz="2200" dirty="0"/>
          </a:p>
        </p:txBody>
      </p:sp>
      <p:sp>
        <p:nvSpPr>
          <p:cNvPr id="29" name="Text 27"/>
          <p:cNvSpPr/>
          <p:nvPr/>
        </p:nvSpPr>
        <p:spPr>
          <a:xfrm>
            <a:off x="6391656" y="4754880"/>
            <a:ext cx="4983480" cy="566928"/>
          </a:xfrm>
          <a:prstGeom prst="rect">
            <a:avLst/>
          </a:prstGeom>
          <a:noFill/>
          <a:ln/>
        </p:spPr>
        <p:txBody>
          <a:bodyPr wrap="square" lIns="0" tIns="0" rIns="0" bIns="0" rtlCol="0" anchor="t">
            <a:normAutofit/>
          </a:bodyPr>
          <a:lstStyle/>
          <a:p>
            <a:pPr algn="l" indent="0" marL="0">
              <a:buNone/>
            </a:pPr>
            <a:r>
              <a:rPr lang="en-US" sz="1350" dirty="0">
                <a:solidFill>
                  <a:srgbClr val="B7C4D6"/>
                </a:solidFill>
                <a:latin typeface="Aptos" pitchFamily="34" charset="0"/>
                <a:ea typeface="Aptos" pitchFamily="34" charset="-122"/>
                <a:cs typeface="Aptos" pitchFamily="34" charset="-120"/>
              </a:rPr>
              <a:t>HDD, SSD and enterprise-storage controllers plus data-infrastructure accelerators.</a:t>
            </a:r>
            <a:endParaRPr lang="en-US" sz="1350" dirty="0"/>
          </a:p>
        </p:txBody>
      </p:sp>
      <p:sp>
        <p:nvSpPr>
          <p:cNvPr id="30" name="Text 28"/>
          <p:cNvSpPr/>
          <p:nvPr/>
        </p:nvSpPr>
        <p:spPr>
          <a:xfrm>
            <a:off x="576072" y="6236208"/>
            <a:ext cx="10835640" cy="164592"/>
          </a:xfrm>
          <a:prstGeom prst="rect">
            <a:avLst/>
          </a:prstGeom>
          <a:noFill/>
          <a:ln/>
        </p:spPr>
        <p:txBody>
          <a:bodyPr wrap="square" lIns="0" tIns="0" rIns="0" bIns="0" rtlCol="0" anchor="ctr">
            <a:normAutofit/>
          </a:bodyPr>
          <a:lstStyle/>
          <a:p>
            <a:pPr algn="l" indent="0" marL="0">
              <a:buNone/>
            </a:pPr>
            <a:r>
              <a:rPr lang="en-US" sz="730" dirty="0">
                <a:solidFill>
                  <a:srgbClr val="6F829A"/>
                </a:solidFill>
                <a:latin typeface="Aptos" pitchFamily="34" charset="0"/>
                <a:ea typeface="Aptos" pitchFamily="34" charset="-122"/>
                <a:cs typeface="Aptos" pitchFamily="34" charset="-120"/>
              </a:rPr>
              <a:t>Portfolio categories summarized from the group’s Marvell Vietnam presentation brief.</a:t>
            </a:r>
            <a:endParaRPr lang="en-US" sz="730" dirty="0"/>
          </a:p>
        </p:txBody>
      </p:sp>
      <p:sp>
        <p:nvSpPr>
          <p:cNvPr id="25" name="Slide Number Placeholder 0"/>
          <p:cNvSpPr>
            <a:spLocks noGrp="1"/>
          </p:cNvSpPr>
          <p:nvPr>
            <p:ph type="sldNum" sz="quarter" idx="4294967295"/>
          </p:nvPr>
        </p:nvSpPr>
        <p:spPr>
          <a:xfrm>
            <a:off x="11201400" y="650138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F829A"/>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47472"/>
            <a:ext cx="5303520" cy="201168"/>
          </a:xfrm>
          <a:prstGeom prst="rect">
            <a:avLst/>
          </a:prstGeom>
          <a:noFill/>
          <a:ln/>
        </p:spPr>
        <p:txBody>
          <a:bodyPr wrap="square" lIns="0" tIns="0" rIns="0" bIns="0" rtlCol="0" anchor="ctr">
            <a:normAutofit/>
          </a:bodyPr>
          <a:lstStyle/>
          <a:p>
            <a:pPr algn="l" indent="0" marL="0">
              <a:buNone/>
            </a:pPr>
            <a:r>
              <a:rPr lang="en-US" sz="930" b="1" spc="140" kern="0" dirty="0">
                <a:solidFill>
                  <a:srgbClr val="4FD1C5"/>
                </a:solidFill>
                <a:latin typeface="Aptos" pitchFamily="34" charset="0"/>
                <a:ea typeface="Aptos" pitchFamily="34" charset="-122"/>
                <a:cs typeface="Aptos" pitchFamily="34" charset="-120"/>
              </a:rPr>
              <a:t>ASIC DESIGN FLOW</a:t>
            </a:r>
            <a:endParaRPr lang="en-US" sz="930" dirty="0"/>
          </a:p>
        </p:txBody>
      </p:sp>
      <p:sp>
        <p:nvSpPr>
          <p:cNvPr id="3" name="Text 1"/>
          <p:cNvSpPr/>
          <p:nvPr/>
        </p:nvSpPr>
        <p:spPr>
          <a:xfrm>
            <a:off x="566928" y="566928"/>
            <a:ext cx="10881360" cy="530352"/>
          </a:xfrm>
          <a:prstGeom prst="rect">
            <a:avLst/>
          </a:prstGeom>
          <a:noFill/>
          <a:ln/>
        </p:spPr>
        <p:txBody>
          <a:bodyPr wrap="square" lIns="0" tIns="0" rIns="0" bIns="0" rtlCol="0" anchor="ctr">
            <a:normAutofit/>
          </a:bodyPr>
          <a:lstStyle/>
          <a:p>
            <a:pPr algn="l" indent="0" marL="0">
              <a:buNone/>
            </a:pPr>
            <a:r>
              <a:rPr lang="en-US" sz="2750" b="1" dirty="0">
                <a:solidFill>
                  <a:srgbClr val="F5F8FC"/>
                </a:solidFill>
                <a:latin typeface="Aptos Display" pitchFamily="34" charset="0"/>
                <a:ea typeface="Aptos Display" pitchFamily="34" charset="-122"/>
                <a:cs typeface="Aptos Display" pitchFamily="34" charset="-120"/>
              </a:rPr>
              <a:t>Where Each Career Path Fits</a:t>
            </a:r>
            <a:endParaRPr lang="en-US" sz="2750" dirty="0"/>
          </a:p>
        </p:txBody>
      </p:sp>
      <p:sp>
        <p:nvSpPr>
          <p:cNvPr id="4" name="Shape 2"/>
          <p:cNvSpPr/>
          <p:nvPr/>
        </p:nvSpPr>
        <p:spPr>
          <a:xfrm>
            <a:off x="9555480" y="338328"/>
            <a:ext cx="2057400" cy="310896"/>
          </a:xfrm>
          <a:prstGeom prst="roundRect">
            <a:avLst>
              <a:gd name="adj" fmla="val 35294"/>
            </a:avLst>
          </a:prstGeom>
          <a:solidFill>
            <a:srgbClr val="10263D"/>
          </a:solidFill>
          <a:ln w="12700">
            <a:solidFill>
              <a:srgbClr val="26415D"/>
            </a:solidFill>
            <a:prstDash val="solid"/>
          </a:ln>
        </p:spPr>
      </p:sp>
      <p:sp>
        <p:nvSpPr>
          <p:cNvPr id="5" name="Text 3"/>
          <p:cNvSpPr/>
          <p:nvPr/>
        </p:nvSpPr>
        <p:spPr>
          <a:xfrm>
            <a:off x="9646920" y="370332"/>
            <a:ext cx="1874520" cy="210312"/>
          </a:xfrm>
          <a:prstGeom prst="rect">
            <a:avLst/>
          </a:prstGeom>
          <a:noFill/>
          <a:ln/>
        </p:spPr>
        <p:txBody>
          <a:bodyPr wrap="square" lIns="0" tIns="0" rIns="0" bIns="0" rtlCol="0" anchor="ctr">
            <a:normAutofit/>
          </a:bodyPr>
          <a:lstStyle/>
          <a:p>
            <a:pPr algn="ctr" indent="0" marL="0">
              <a:buNone/>
            </a:pPr>
            <a:r>
              <a:rPr lang="en-US" sz="840" b="1" dirty="0">
                <a:solidFill>
                  <a:srgbClr val="D9E8F6"/>
                </a:solidFill>
                <a:latin typeface="Aptos" pitchFamily="34" charset="0"/>
                <a:ea typeface="Aptos" pitchFamily="34" charset="-122"/>
                <a:cs typeface="Aptos" pitchFamily="34" charset="-120"/>
              </a:rPr>
              <a:t>NGUYỄN BỬU PHÚC</a:t>
            </a:r>
            <a:endParaRPr lang="en-US" sz="840" dirty="0"/>
          </a:p>
        </p:txBody>
      </p:sp>
      <p:sp>
        <p:nvSpPr>
          <p:cNvPr id="6" name="Shape 4"/>
          <p:cNvSpPr/>
          <p:nvPr/>
        </p:nvSpPr>
        <p:spPr>
          <a:xfrm>
            <a:off x="566928" y="1572768"/>
            <a:ext cx="1664208" cy="1874520"/>
          </a:xfrm>
          <a:prstGeom prst="roundRect">
            <a:avLst>
              <a:gd name="adj" fmla="val 6593"/>
            </a:avLst>
          </a:prstGeom>
          <a:solidFill>
            <a:srgbClr val="0D1B2C"/>
          </a:solidFill>
          <a:ln w="12700">
            <a:solidFill>
              <a:srgbClr val="26415D"/>
            </a:solidFill>
            <a:prstDash val="solid"/>
          </a:ln>
        </p:spPr>
      </p:sp>
      <p:sp>
        <p:nvSpPr>
          <p:cNvPr id="7" name="Text 5"/>
          <p:cNvSpPr/>
          <p:nvPr/>
        </p:nvSpPr>
        <p:spPr>
          <a:xfrm>
            <a:off x="713232" y="1746504"/>
            <a:ext cx="457200" cy="201168"/>
          </a:xfrm>
          <a:prstGeom prst="rect">
            <a:avLst/>
          </a:prstGeom>
          <a:noFill/>
          <a:ln/>
        </p:spPr>
        <p:txBody>
          <a:bodyPr wrap="square" lIns="0" tIns="0" rIns="0" bIns="0" rtlCol="0" anchor="ctr">
            <a:normAutofit/>
          </a:bodyPr>
          <a:lstStyle/>
          <a:p>
            <a:pPr algn="l" indent="0" marL="0">
              <a:buNone/>
            </a:pPr>
            <a:r>
              <a:rPr lang="en-US" sz="950" b="1" dirty="0">
                <a:solidFill>
                  <a:srgbClr val="4FD1C5"/>
                </a:solidFill>
                <a:latin typeface="Aptos" pitchFamily="34" charset="0"/>
                <a:ea typeface="Aptos" pitchFamily="34" charset="-122"/>
                <a:cs typeface="Aptos" pitchFamily="34" charset="-120"/>
              </a:rPr>
              <a:t>01</a:t>
            </a:r>
            <a:endParaRPr lang="en-US" sz="950" dirty="0"/>
          </a:p>
        </p:txBody>
      </p:sp>
      <p:sp>
        <p:nvSpPr>
          <p:cNvPr id="8" name="Text 6"/>
          <p:cNvSpPr/>
          <p:nvPr/>
        </p:nvSpPr>
        <p:spPr>
          <a:xfrm>
            <a:off x="713232" y="2066544"/>
            <a:ext cx="1371600" cy="438912"/>
          </a:xfrm>
          <a:prstGeom prst="rect">
            <a:avLst/>
          </a:prstGeom>
          <a:noFill/>
          <a:ln/>
        </p:spPr>
        <p:txBody>
          <a:bodyPr wrap="square" lIns="0" tIns="0" rIns="0" bIns="0" rtlCol="0" anchor="t">
            <a:normAutofit/>
          </a:bodyPr>
          <a:lstStyle/>
          <a:p>
            <a:pPr algn="l" indent="0" marL="0">
              <a:buNone/>
            </a:pPr>
            <a:r>
              <a:rPr lang="en-US" sz="1550" b="1" dirty="0">
                <a:solidFill>
                  <a:srgbClr val="F5F8FC"/>
                </a:solidFill>
                <a:latin typeface="Aptos" pitchFamily="34" charset="0"/>
                <a:ea typeface="Aptos" pitchFamily="34" charset="-122"/>
                <a:cs typeface="Aptos" pitchFamily="34" charset="-120"/>
              </a:rPr>
              <a:t>Specification</a:t>
            </a:r>
            <a:endParaRPr lang="en-US" sz="1550" dirty="0"/>
          </a:p>
        </p:txBody>
      </p:sp>
      <p:sp>
        <p:nvSpPr>
          <p:cNvPr id="9" name="Text 7"/>
          <p:cNvSpPr/>
          <p:nvPr/>
        </p:nvSpPr>
        <p:spPr>
          <a:xfrm>
            <a:off x="713232" y="2633472"/>
            <a:ext cx="1362456" cy="585216"/>
          </a:xfrm>
          <a:prstGeom prst="rect">
            <a:avLst/>
          </a:prstGeom>
          <a:noFill/>
          <a:ln/>
        </p:spPr>
        <p:txBody>
          <a:bodyPr wrap="square" lIns="0" tIns="0" rIns="0" bIns="0" rtlCol="0" anchor="t">
            <a:normAutofit/>
          </a:bodyPr>
          <a:lstStyle/>
          <a:p>
            <a:pPr algn="l" indent="0" marL="0">
              <a:buNone/>
            </a:pPr>
            <a:r>
              <a:rPr lang="en-US" sz="1070" dirty="0">
                <a:solidFill>
                  <a:srgbClr val="B7C4D6"/>
                </a:solidFill>
                <a:latin typeface="Aptos" pitchFamily="34" charset="0"/>
                <a:ea typeface="Aptos" pitchFamily="34" charset="-122"/>
                <a:cs typeface="Aptos" pitchFamily="34" charset="-120"/>
              </a:rPr>
              <a:t>Architecture, interfaces, PPA targets</a:t>
            </a:r>
            <a:endParaRPr lang="en-US" sz="1070" dirty="0"/>
          </a:p>
        </p:txBody>
      </p:sp>
      <p:sp>
        <p:nvSpPr>
          <p:cNvPr id="10" name="Text 8"/>
          <p:cNvSpPr/>
          <p:nvPr/>
        </p:nvSpPr>
        <p:spPr>
          <a:xfrm>
            <a:off x="2212848" y="2267712"/>
            <a:ext cx="301752" cy="256032"/>
          </a:xfrm>
          <a:prstGeom prst="rect">
            <a:avLst/>
          </a:prstGeom>
          <a:noFill/>
          <a:ln/>
        </p:spPr>
        <p:txBody>
          <a:bodyPr wrap="square" lIns="0" tIns="0" rIns="0" bIns="0" rtlCol="0" anchor="ctr">
            <a:normAutofit/>
          </a:bodyPr>
          <a:lstStyle/>
          <a:p>
            <a:pPr algn="ctr" indent="0" marL="0">
              <a:buNone/>
            </a:pPr>
            <a:r>
              <a:rPr lang="en-US" sz="2000" b="1" dirty="0">
                <a:solidFill>
                  <a:srgbClr val="6D83A0"/>
                </a:solidFill>
                <a:latin typeface="Aptos" pitchFamily="34" charset="0"/>
                <a:ea typeface="Aptos" pitchFamily="34" charset="-122"/>
                <a:cs typeface="Aptos" pitchFamily="34" charset="-120"/>
              </a:rPr>
              <a:t>→</a:t>
            </a:r>
            <a:endParaRPr lang="en-US" sz="2000" dirty="0"/>
          </a:p>
        </p:txBody>
      </p:sp>
      <p:sp>
        <p:nvSpPr>
          <p:cNvPr id="11" name="Shape 9"/>
          <p:cNvSpPr/>
          <p:nvPr/>
        </p:nvSpPr>
        <p:spPr>
          <a:xfrm>
            <a:off x="2478024" y="1572768"/>
            <a:ext cx="1664208" cy="1874520"/>
          </a:xfrm>
          <a:prstGeom prst="roundRect">
            <a:avLst>
              <a:gd name="adj" fmla="val 6593"/>
            </a:avLst>
          </a:prstGeom>
          <a:solidFill>
            <a:srgbClr val="0D1B2C"/>
          </a:solidFill>
          <a:ln w="12700">
            <a:solidFill>
              <a:srgbClr val="26415D"/>
            </a:solidFill>
            <a:prstDash val="solid"/>
          </a:ln>
        </p:spPr>
      </p:sp>
      <p:sp>
        <p:nvSpPr>
          <p:cNvPr id="12" name="Text 10"/>
          <p:cNvSpPr/>
          <p:nvPr/>
        </p:nvSpPr>
        <p:spPr>
          <a:xfrm>
            <a:off x="2624328" y="1746504"/>
            <a:ext cx="457200" cy="201168"/>
          </a:xfrm>
          <a:prstGeom prst="rect">
            <a:avLst/>
          </a:prstGeom>
          <a:noFill/>
          <a:ln/>
        </p:spPr>
        <p:txBody>
          <a:bodyPr wrap="square" lIns="0" tIns="0" rIns="0" bIns="0" rtlCol="0" anchor="ctr">
            <a:normAutofit/>
          </a:bodyPr>
          <a:lstStyle/>
          <a:p>
            <a:pPr algn="l" indent="0" marL="0">
              <a:buNone/>
            </a:pPr>
            <a:r>
              <a:rPr lang="en-US" sz="950" b="1" dirty="0">
                <a:solidFill>
                  <a:srgbClr val="4FD1C5"/>
                </a:solidFill>
                <a:latin typeface="Aptos" pitchFamily="34" charset="0"/>
                <a:ea typeface="Aptos" pitchFamily="34" charset="-122"/>
                <a:cs typeface="Aptos" pitchFamily="34" charset="-120"/>
              </a:rPr>
              <a:t>02</a:t>
            </a:r>
            <a:endParaRPr lang="en-US" sz="950" dirty="0"/>
          </a:p>
        </p:txBody>
      </p:sp>
      <p:sp>
        <p:nvSpPr>
          <p:cNvPr id="13" name="Text 11"/>
          <p:cNvSpPr/>
          <p:nvPr/>
        </p:nvSpPr>
        <p:spPr>
          <a:xfrm>
            <a:off x="2624328" y="2066544"/>
            <a:ext cx="1371600" cy="438912"/>
          </a:xfrm>
          <a:prstGeom prst="rect">
            <a:avLst/>
          </a:prstGeom>
          <a:noFill/>
          <a:ln/>
        </p:spPr>
        <p:txBody>
          <a:bodyPr wrap="square" lIns="0" tIns="0" rIns="0" bIns="0" rtlCol="0" anchor="t">
            <a:normAutofit/>
          </a:bodyPr>
          <a:lstStyle/>
          <a:p>
            <a:pPr algn="l" indent="0" marL="0">
              <a:buNone/>
            </a:pPr>
            <a:r>
              <a:rPr lang="en-US" sz="1550" b="1" dirty="0">
                <a:solidFill>
                  <a:srgbClr val="F5F8FC"/>
                </a:solidFill>
                <a:latin typeface="Aptos" pitchFamily="34" charset="0"/>
                <a:ea typeface="Aptos" pitchFamily="34" charset="-122"/>
                <a:cs typeface="Aptos" pitchFamily="34" charset="-120"/>
              </a:rPr>
              <a:t>RTL + DV</a:t>
            </a:r>
            <a:endParaRPr lang="en-US" sz="1550" dirty="0"/>
          </a:p>
        </p:txBody>
      </p:sp>
      <p:sp>
        <p:nvSpPr>
          <p:cNvPr id="14" name="Text 12"/>
          <p:cNvSpPr/>
          <p:nvPr/>
        </p:nvSpPr>
        <p:spPr>
          <a:xfrm>
            <a:off x="2624328" y="2633472"/>
            <a:ext cx="1362456" cy="585216"/>
          </a:xfrm>
          <a:prstGeom prst="rect">
            <a:avLst/>
          </a:prstGeom>
          <a:noFill/>
          <a:ln/>
        </p:spPr>
        <p:txBody>
          <a:bodyPr wrap="square" lIns="0" tIns="0" rIns="0" bIns="0" rtlCol="0" anchor="t">
            <a:normAutofit/>
          </a:bodyPr>
          <a:lstStyle/>
          <a:p>
            <a:pPr algn="l" indent="0" marL="0">
              <a:buNone/>
            </a:pPr>
            <a:r>
              <a:rPr lang="en-US" sz="1070" dirty="0">
                <a:solidFill>
                  <a:srgbClr val="B7C4D6"/>
                </a:solidFill>
                <a:latin typeface="Aptos" pitchFamily="34" charset="0"/>
                <a:ea typeface="Aptos" pitchFamily="34" charset="-122"/>
                <a:cs typeface="Aptos" pitchFamily="34" charset="-120"/>
              </a:rPr>
              <a:t>Verilog/SystemVerilog, UVM, coverage</a:t>
            </a:r>
            <a:endParaRPr lang="en-US" sz="1070" dirty="0"/>
          </a:p>
        </p:txBody>
      </p:sp>
      <p:sp>
        <p:nvSpPr>
          <p:cNvPr id="15" name="Text 13"/>
          <p:cNvSpPr/>
          <p:nvPr/>
        </p:nvSpPr>
        <p:spPr>
          <a:xfrm>
            <a:off x="4123944" y="2267712"/>
            <a:ext cx="301752" cy="256032"/>
          </a:xfrm>
          <a:prstGeom prst="rect">
            <a:avLst/>
          </a:prstGeom>
          <a:noFill/>
          <a:ln/>
        </p:spPr>
        <p:txBody>
          <a:bodyPr wrap="square" lIns="0" tIns="0" rIns="0" bIns="0" rtlCol="0" anchor="ctr">
            <a:normAutofit/>
          </a:bodyPr>
          <a:lstStyle/>
          <a:p>
            <a:pPr algn="ctr" indent="0" marL="0">
              <a:buNone/>
            </a:pPr>
            <a:r>
              <a:rPr lang="en-US" sz="2000" b="1" dirty="0">
                <a:solidFill>
                  <a:srgbClr val="6D83A0"/>
                </a:solidFill>
                <a:latin typeface="Aptos" pitchFamily="34" charset="0"/>
                <a:ea typeface="Aptos" pitchFamily="34" charset="-122"/>
                <a:cs typeface="Aptos" pitchFamily="34" charset="-120"/>
              </a:rPr>
              <a:t>→</a:t>
            </a:r>
            <a:endParaRPr lang="en-US" sz="2000" dirty="0"/>
          </a:p>
        </p:txBody>
      </p:sp>
      <p:sp>
        <p:nvSpPr>
          <p:cNvPr id="16" name="Shape 14"/>
          <p:cNvSpPr/>
          <p:nvPr/>
        </p:nvSpPr>
        <p:spPr>
          <a:xfrm>
            <a:off x="4389120" y="1572768"/>
            <a:ext cx="1664208" cy="1874520"/>
          </a:xfrm>
          <a:prstGeom prst="roundRect">
            <a:avLst>
              <a:gd name="adj" fmla="val 6593"/>
            </a:avLst>
          </a:prstGeom>
          <a:solidFill>
            <a:srgbClr val="0D1B2C"/>
          </a:solidFill>
          <a:ln w="12700">
            <a:solidFill>
              <a:srgbClr val="26415D"/>
            </a:solidFill>
            <a:prstDash val="solid"/>
          </a:ln>
        </p:spPr>
      </p:sp>
      <p:sp>
        <p:nvSpPr>
          <p:cNvPr id="17" name="Text 15"/>
          <p:cNvSpPr/>
          <p:nvPr/>
        </p:nvSpPr>
        <p:spPr>
          <a:xfrm>
            <a:off x="4535424" y="1746504"/>
            <a:ext cx="457200" cy="201168"/>
          </a:xfrm>
          <a:prstGeom prst="rect">
            <a:avLst/>
          </a:prstGeom>
          <a:noFill/>
          <a:ln/>
        </p:spPr>
        <p:txBody>
          <a:bodyPr wrap="square" lIns="0" tIns="0" rIns="0" bIns="0" rtlCol="0" anchor="ctr">
            <a:normAutofit/>
          </a:bodyPr>
          <a:lstStyle/>
          <a:p>
            <a:pPr algn="l" indent="0" marL="0">
              <a:buNone/>
            </a:pPr>
            <a:r>
              <a:rPr lang="en-US" sz="950" b="1" dirty="0">
                <a:solidFill>
                  <a:srgbClr val="4FD1C5"/>
                </a:solidFill>
                <a:latin typeface="Aptos" pitchFamily="34" charset="0"/>
                <a:ea typeface="Aptos" pitchFamily="34" charset="-122"/>
                <a:cs typeface="Aptos" pitchFamily="34" charset="-120"/>
              </a:rPr>
              <a:t>03</a:t>
            </a:r>
            <a:endParaRPr lang="en-US" sz="950" dirty="0"/>
          </a:p>
        </p:txBody>
      </p:sp>
      <p:sp>
        <p:nvSpPr>
          <p:cNvPr id="18" name="Text 16"/>
          <p:cNvSpPr/>
          <p:nvPr/>
        </p:nvSpPr>
        <p:spPr>
          <a:xfrm>
            <a:off x="4535424" y="2066544"/>
            <a:ext cx="1371600" cy="438912"/>
          </a:xfrm>
          <a:prstGeom prst="rect">
            <a:avLst/>
          </a:prstGeom>
          <a:noFill/>
          <a:ln/>
        </p:spPr>
        <p:txBody>
          <a:bodyPr wrap="square" lIns="0" tIns="0" rIns="0" bIns="0" rtlCol="0" anchor="t">
            <a:normAutofit/>
          </a:bodyPr>
          <a:lstStyle/>
          <a:p>
            <a:pPr algn="l" indent="0" marL="0">
              <a:buNone/>
            </a:pPr>
            <a:r>
              <a:rPr lang="en-US" sz="1550" b="1" dirty="0">
                <a:solidFill>
                  <a:srgbClr val="F5F8FC"/>
                </a:solidFill>
                <a:latin typeface="Aptos" pitchFamily="34" charset="0"/>
                <a:ea typeface="Aptos" pitchFamily="34" charset="-122"/>
                <a:cs typeface="Aptos" pitchFamily="34" charset="-120"/>
              </a:rPr>
              <a:t>Synthesis + DFT</a:t>
            </a:r>
            <a:endParaRPr lang="en-US" sz="1550" dirty="0"/>
          </a:p>
        </p:txBody>
      </p:sp>
      <p:sp>
        <p:nvSpPr>
          <p:cNvPr id="19" name="Text 17"/>
          <p:cNvSpPr/>
          <p:nvPr/>
        </p:nvSpPr>
        <p:spPr>
          <a:xfrm>
            <a:off x="4535424" y="2633472"/>
            <a:ext cx="1362456" cy="585216"/>
          </a:xfrm>
          <a:prstGeom prst="rect">
            <a:avLst/>
          </a:prstGeom>
          <a:noFill/>
          <a:ln/>
        </p:spPr>
        <p:txBody>
          <a:bodyPr wrap="square" lIns="0" tIns="0" rIns="0" bIns="0" rtlCol="0" anchor="t">
            <a:normAutofit/>
          </a:bodyPr>
          <a:lstStyle/>
          <a:p>
            <a:pPr algn="l" indent="0" marL="0">
              <a:buNone/>
            </a:pPr>
            <a:r>
              <a:rPr lang="en-US" sz="1070" dirty="0">
                <a:solidFill>
                  <a:srgbClr val="B7C4D6"/>
                </a:solidFill>
                <a:latin typeface="Aptos" pitchFamily="34" charset="0"/>
                <a:ea typeface="Aptos" pitchFamily="34" charset="-122"/>
                <a:cs typeface="Aptos" pitchFamily="34" charset="-120"/>
              </a:rPr>
              <a:t>Netlist, constraints, scan, MBIST, ATPG</a:t>
            </a:r>
            <a:endParaRPr lang="en-US" sz="1070" dirty="0"/>
          </a:p>
        </p:txBody>
      </p:sp>
      <p:sp>
        <p:nvSpPr>
          <p:cNvPr id="20" name="Text 18"/>
          <p:cNvSpPr/>
          <p:nvPr/>
        </p:nvSpPr>
        <p:spPr>
          <a:xfrm>
            <a:off x="6035040" y="2267712"/>
            <a:ext cx="301752" cy="256032"/>
          </a:xfrm>
          <a:prstGeom prst="rect">
            <a:avLst/>
          </a:prstGeom>
          <a:noFill/>
          <a:ln/>
        </p:spPr>
        <p:txBody>
          <a:bodyPr wrap="square" lIns="0" tIns="0" rIns="0" bIns="0" rtlCol="0" anchor="ctr">
            <a:normAutofit/>
          </a:bodyPr>
          <a:lstStyle/>
          <a:p>
            <a:pPr algn="ctr" indent="0" marL="0">
              <a:buNone/>
            </a:pPr>
            <a:r>
              <a:rPr lang="en-US" sz="2000" b="1" dirty="0">
                <a:solidFill>
                  <a:srgbClr val="6D83A0"/>
                </a:solidFill>
                <a:latin typeface="Aptos" pitchFamily="34" charset="0"/>
                <a:ea typeface="Aptos" pitchFamily="34" charset="-122"/>
                <a:cs typeface="Aptos" pitchFamily="34" charset="-120"/>
              </a:rPr>
              <a:t>→</a:t>
            </a:r>
            <a:endParaRPr lang="en-US" sz="2000" dirty="0"/>
          </a:p>
        </p:txBody>
      </p:sp>
      <p:sp>
        <p:nvSpPr>
          <p:cNvPr id="21" name="Shape 19"/>
          <p:cNvSpPr/>
          <p:nvPr/>
        </p:nvSpPr>
        <p:spPr>
          <a:xfrm>
            <a:off x="6300216" y="1572768"/>
            <a:ext cx="1664208" cy="1874520"/>
          </a:xfrm>
          <a:prstGeom prst="roundRect">
            <a:avLst>
              <a:gd name="adj" fmla="val 6593"/>
            </a:avLst>
          </a:prstGeom>
          <a:solidFill>
            <a:srgbClr val="0D1B2C"/>
          </a:solidFill>
          <a:ln w="12700">
            <a:solidFill>
              <a:srgbClr val="26415D"/>
            </a:solidFill>
            <a:prstDash val="solid"/>
          </a:ln>
        </p:spPr>
      </p:sp>
      <p:sp>
        <p:nvSpPr>
          <p:cNvPr id="22" name="Text 20"/>
          <p:cNvSpPr/>
          <p:nvPr/>
        </p:nvSpPr>
        <p:spPr>
          <a:xfrm>
            <a:off x="6446520" y="1746504"/>
            <a:ext cx="457200" cy="201168"/>
          </a:xfrm>
          <a:prstGeom prst="rect">
            <a:avLst/>
          </a:prstGeom>
          <a:noFill/>
          <a:ln/>
        </p:spPr>
        <p:txBody>
          <a:bodyPr wrap="square" lIns="0" tIns="0" rIns="0" bIns="0" rtlCol="0" anchor="ctr">
            <a:normAutofit/>
          </a:bodyPr>
          <a:lstStyle/>
          <a:p>
            <a:pPr algn="l" indent="0" marL="0">
              <a:buNone/>
            </a:pPr>
            <a:r>
              <a:rPr lang="en-US" sz="950" b="1" dirty="0">
                <a:solidFill>
                  <a:srgbClr val="4FD1C5"/>
                </a:solidFill>
                <a:latin typeface="Aptos" pitchFamily="34" charset="0"/>
                <a:ea typeface="Aptos" pitchFamily="34" charset="-122"/>
                <a:cs typeface="Aptos" pitchFamily="34" charset="-120"/>
              </a:rPr>
              <a:t>04</a:t>
            </a:r>
            <a:endParaRPr lang="en-US" sz="950" dirty="0"/>
          </a:p>
        </p:txBody>
      </p:sp>
      <p:sp>
        <p:nvSpPr>
          <p:cNvPr id="23" name="Text 21"/>
          <p:cNvSpPr/>
          <p:nvPr/>
        </p:nvSpPr>
        <p:spPr>
          <a:xfrm>
            <a:off x="6446520" y="2066544"/>
            <a:ext cx="1371600" cy="438912"/>
          </a:xfrm>
          <a:prstGeom prst="rect">
            <a:avLst/>
          </a:prstGeom>
          <a:noFill/>
          <a:ln/>
        </p:spPr>
        <p:txBody>
          <a:bodyPr wrap="square" lIns="0" tIns="0" rIns="0" bIns="0" rtlCol="0" anchor="t">
            <a:normAutofit/>
          </a:bodyPr>
          <a:lstStyle/>
          <a:p>
            <a:pPr algn="l" indent="0" marL="0">
              <a:buNone/>
            </a:pPr>
            <a:r>
              <a:rPr lang="en-US" sz="1550" b="1" dirty="0">
                <a:solidFill>
                  <a:srgbClr val="F5F8FC"/>
                </a:solidFill>
                <a:latin typeface="Aptos" pitchFamily="34" charset="0"/>
                <a:ea typeface="Aptos" pitchFamily="34" charset="-122"/>
                <a:cs typeface="Aptos" pitchFamily="34" charset="-120"/>
              </a:rPr>
              <a:t>PD + STA</a:t>
            </a:r>
            <a:endParaRPr lang="en-US" sz="1550" dirty="0"/>
          </a:p>
        </p:txBody>
      </p:sp>
      <p:sp>
        <p:nvSpPr>
          <p:cNvPr id="24" name="Text 22"/>
          <p:cNvSpPr/>
          <p:nvPr/>
        </p:nvSpPr>
        <p:spPr>
          <a:xfrm>
            <a:off x="6446520" y="2633472"/>
            <a:ext cx="1362456" cy="585216"/>
          </a:xfrm>
          <a:prstGeom prst="rect">
            <a:avLst/>
          </a:prstGeom>
          <a:noFill/>
          <a:ln/>
        </p:spPr>
        <p:txBody>
          <a:bodyPr wrap="square" lIns="0" tIns="0" rIns="0" bIns="0" rtlCol="0" anchor="t">
            <a:normAutofit/>
          </a:bodyPr>
          <a:lstStyle/>
          <a:p>
            <a:pPr algn="l" indent="0" marL="0">
              <a:buNone/>
            </a:pPr>
            <a:r>
              <a:rPr lang="en-US" sz="1070" dirty="0">
                <a:solidFill>
                  <a:srgbClr val="B7C4D6"/>
                </a:solidFill>
                <a:latin typeface="Aptos" pitchFamily="34" charset="0"/>
                <a:ea typeface="Aptos" pitchFamily="34" charset="-122"/>
                <a:cs typeface="Aptos" pitchFamily="34" charset="-120"/>
              </a:rPr>
              <a:t>Floorplan, PnR, CTS, timing closure</a:t>
            </a:r>
            <a:endParaRPr lang="en-US" sz="1070" dirty="0"/>
          </a:p>
        </p:txBody>
      </p:sp>
      <p:sp>
        <p:nvSpPr>
          <p:cNvPr id="25" name="Text 23"/>
          <p:cNvSpPr/>
          <p:nvPr/>
        </p:nvSpPr>
        <p:spPr>
          <a:xfrm>
            <a:off x="7946136" y="2267712"/>
            <a:ext cx="301752" cy="256032"/>
          </a:xfrm>
          <a:prstGeom prst="rect">
            <a:avLst/>
          </a:prstGeom>
          <a:noFill/>
          <a:ln/>
        </p:spPr>
        <p:txBody>
          <a:bodyPr wrap="square" lIns="0" tIns="0" rIns="0" bIns="0" rtlCol="0" anchor="ctr">
            <a:normAutofit/>
          </a:bodyPr>
          <a:lstStyle/>
          <a:p>
            <a:pPr algn="ctr" indent="0" marL="0">
              <a:buNone/>
            </a:pPr>
            <a:r>
              <a:rPr lang="en-US" sz="2000" b="1" dirty="0">
                <a:solidFill>
                  <a:srgbClr val="6D83A0"/>
                </a:solidFill>
                <a:latin typeface="Aptos" pitchFamily="34" charset="0"/>
                <a:ea typeface="Aptos" pitchFamily="34" charset="-122"/>
                <a:cs typeface="Aptos" pitchFamily="34" charset="-120"/>
              </a:rPr>
              <a:t>→</a:t>
            </a:r>
            <a:endParaRPr lang="en-US" sz="2000" dirty="0"/>
          </a:p>
        </p:txBody>
      </p:sp>
      <p:sp>
        <p:nvSpPr>
          <p:cNvPr id="26" name="Shape 24"/>
          <p:cNvSpPr/>
          <p:nvPr/>
        </p:nvSpPr>
        <p:spPr>
          <a:xfrm>
            <a:off x="8211312" y="1572768"/>
            <a:ext cx="1664208" cy="1874520"/>
          </a:xfrm>
          <a:prstGeom prst="roundRect">
            <a:avLst>
              <a:gd name="adj" fmla="val 6593"/>
            </a:avLst>
          </a:prstGeom>
          <a:solidFill>
            <a:srgbClr val="0D1B2C"/>
          </a:solidFill>
          <a:ln w="12700">
            <a:solidFill>
              <a:srgbClr val="26415D"/>
            </a:solidFill>
            <a:prstDash val="solid"/>
          </a:ln>
        </p:spPr>
      </p:sp>
      <p:sp>
        <p:nvSpPr>
          <p:cNvPr id="27" name="Text 25"/>
          <p:cNvSpPr/>
          <p:nvPr/>
        </p:nvSpPr>
        <p:spPr>
          <a:xfrm>
            <a:off x="8357616" y="1746504"/>
            <a:ext cx="457200" cy="201168"/>
          </a:xfrm>
          <a:prstGeom prst="rect">
            <a:avLst/>
          </a:prstGeom>
          <a:noFill/>
          <a:ln/>
        </p:spPr>
        <p:txBody>
          <a:bodyPr wrap="square" lIns="0" tIns="0" rIns="0" bIns="0" rtlCol="0" anchor="ctr">
            <a:normAutofit/>
          </a:bodyPr>
          <a:lstStyle/>
          <a:p>
            <a:pPr algn="l" indent="0" marL="0">
              <a:buNone/>
            </a:pPr>
            <a:r>
              <a:rPr lang="en-US" sz="950" b="1" dirty="0">
                <a:solidFill>
                  <a:srgbClr val="4FD1C5"/>
                </a:solidFill>
                <a:latin typeface="Aptos" pitchFamily="34" charset="0"/>
                <a:ea typeface="Aptos" pitchFamily="34" charset="-122"/>
                <a:cs typeface="Aptos" pitchFamily="34" charset="-120"/>
              </a:rPr>
              <a:t>05</a:t>
            </a:r>
            <a:endParaRPr lang="en-US" sz="950" dirty="0"/>
          </a:p>
        </p:txBody>
      </p:sp>
      <p:sp>
        <p:nvSpPr>
          <p:cNvPr id="28" name="Text 26"/>
          <p:cNvSpPr/>
          <p:nvPr/>
        </p:nvSpPr>
        <p:spPr>
          <a:xfrm>
            <a:off x="8357616" y="2066544"/>
            <a:ext cx="1371600" cy="438912"/>
          </a:xfrm>
          <a:prstGeom prst="rect">
            <a:avLst/>
          </a:prstGeom>
          <a:noFill/>
          <a:ln/>
        </p:spPr>
        <p:txBody>
          <a:bodyPr wrap="square" lIns="0" tIns="0" rIns="0" bIns="0" rtlCol="0" anchor="t">
            <a:normAutofit/>
          </a:bodyPr>
          <a:lstStyle/>
          <a:p>
            <a:pPr algn="l" indent="0" marL="0">
              <a:buNone/>
            </a:pPr>
            <a:r>
              <a:rPr lang="en-US" sz="1550" b="1" dirty="0">
                <a:solidFill>
                  <a:srgbClr val="F5F8FC"/>
                </a:solidFill>
                <a:latin typeface="Aptos" pitchFamily="34" charset="0"/>
                <a:ea typeface="Aptos" pitchFamily="34" charset="-122"/>
                <a:cs typeface="Aptos" pitchFamily="34" charset="-120"/>
              </a:rPr>
              <a:t>Tape-out</a:t>
            </a:r>
            <a:endParaRPr lang="en-US" sz="1550" dirty="0"/>
          </a:p>
        </p:txBody>
      </p:sp>
      <p:sp>
        <p:nvSpPr>
          <p:cNvPr id="29" name="Text 27"/>
          <p:cNvSpPr/>
          <p:nvPr/>
        </p:nvSpPr>
        <p:spPr>
          <a:xfrm>
            <a:off x="8357616" y="2633472"/>
            <a:ext cx="1362456" cy="585216"/>
          </a:xfrm>
          <a:prstGeom prst="rect">
            <a:avLst/>
          </a:prstGeom>
          <a:noFill/>
          <a:ln/>
        </p:spPr>
        <p:txBody>
          <a:bodyPr wrap="square" lIns="0" tIns="0" rIns="0" bIns="0" rtlCol="0" anchor="t">
            <a:normAutofit/>
          </a:bodyPr>
          <a:lstStyle/>
          <a:p>
            <a:pPr algn="l" indent="0" marL="0">
              <a:buNone/>
            </a:pPr>
            <a:r>
              <a:rPr lang="en-US" sz="1070" dirty="0">
                <a:solidFill>
                  <a:srgbClr val="B7C4D6"/>
                </a:solidFill>
                <a:latin typeface="Aptos" pitchFamily="34" charset="0"/>
                <a:ea typeface="Aptos" pitchFamily="34" charset="-122"/>
                <a:cs typeface="Aptos" pitchFamily="34" charset="-120"/>
              </a:rPr>
              <a:t>Signoff and GDSII handoff</a:t>
            </a:r>
            <a:endParaRPr lang="en-US" sz="1070" dirty="0"/>
          </a:p>
        </p:txBody>
      </p:sp>
      <p:sp>
        <p:nvSpPr>
          <p:cNvPr id="30" name="Text 28"/>
          <p:cNvSpPr/>
          <p:nvPr/>
        </p:nvSpPr>
        <p:spPr>
          <a:xfrm>
            <a:off x="9857232" y="2267712"/>
            <a:ext cx="301752" cy="256032"/>
          </a:xfrm>
          <a:prstGeom prst="rect">
            <a:avLst/>
          </a:prstGeom>
          <a:noFill/>
          <a:ln/>
        </p:spPr>
        <p:txBody>
          <a:bodyPr wrap="square" lIns="0" tIns="0" rIns="0" bIns="0" rtlCol="0" anchor="ctr">
            <a:normAutofit/>
          </a:bodyPr>
          <a:lstStyle/>
          <a:p>
            <a:pPr algn="ctr" indent="0" marL="0">
              <a:buNone/>
            </a:pPr>
            <a:r>
              <a:rPr lang="en-US" sz="2000" b="1" dirty="0">
                <a:solidFill>
                  <a:srgbClr val="6D83A0"/>
                </a:solidFill>
                <a:latin typeface="Aptos" pitchFamily="34" charset="0"/>
                <a:ea typeface="Aptos" pitchFamily="34" charset="-122"/>
                <a:cs typeface="Aptos" pitchFamily="34" charset="-120"/>
              </a:rPr>
              <a:t>→</a:t>
            </a:r>
            <a:endParaRPr lang="en-US" sz="2000" dirty="0"/>
          </a:p>
        </p:txBody>
      </p:sp>
      <p:sp>
        <p:nvSpPr>
          <p:cNvPr id="31" name="Shape 29"/>
          <p:cNvSpPr/>
          <p:nvPr/>
        </p:nvSpPr>
        <p:spPr>
          <a:xfrm>
            <a:off x="10122408" y="1572768"/>
            <a:ext cx="1664208" cy="1874520"/>
          </a:xfrm>
          <a:prstGeom prst="roundRect">
            <a:avLst>
              <a:gd name="adj" fmla="val 6593"/>
            </a:avLst>
          </a:prstGeom>
          <a:solidFill>
            <a:srgbClr val="0D1B2C"/>
          </a:solidFill>
          <a:ln w="12700">
            <a:solidFill>
              <a:srgbClr val="26415D"/>
            </a:solidFill>
            <a:prstDash val="solid"/>
          </a:ln>
        </p:spPr>
      </p:sp>
      <p:sp>
        <p:nvSpPr>
          <p:cNvPr id="32" name="Text 30"/>
          <p:cNvSpPr/>
          <p:nvPr/>
        </p:nvSpPr>
        <p:spPr>
          <a:xfrm>
            <a:off x="10268712" y="1746504"/>
            <a:ext cx="457200" cy="201168"/>
          </a:xfrm>
          <a:prstGeom prst="rect">
            <a:avLst/>
          </a:prstGeom>
          <a:noFill/>
          <a:ln/>
        </p:spPr>
        <p:txBody>
          <a:bodyPr wrap="square" lIns="0" tIns="0" rIns="0" bIns="0" rtlCol="0" anchor="ctr">
            <a:normAutofit/>
          </a:bodyPr>
          <a:lstStyle/>
          <a:p>
            <a:pPr algn="l" indent="0" marL="0">
              <a:buNone/>
            </a:pPr>
            <a:r>
              <a:rPr lang="en-US" sz="950" b="1" dirty="0">
                <a:solidFill>
                  <a:srgbClr val="4FD1C5"/>
                </a:solidFill>
                <a:latin typeface="Aptos" pitchFamily="34" charset="0"/>
                <a:ea typeface="Aptos" pitchFamily="34" charset="-122"/>
                <a:cs typeface="Aptos" pitchFamily="34" charset="-120"/>
              </a:rPr>
              <a:t>06</a:t>
            </a:r>
            <a:endParaRPr lang="en-US" sz="950" dirty="0"/>
          </a:p>
        </p:txBody>
      </p:sp>
      <p:sp>
        <p:nvSpPr>
          <p:cNvPr id="33" name="Text 31"/>
          <p:cNvSpPr/>
          <p:nvPr/>
        </p:nvSpPr>
        <p:spPr>
          <a:xfrm>
            <a:off x="10268712" y="2066544"/>
            <a:ext cx="1371600" cy="438912"/>
          </a:xfrm>
          <a:prstGeom prst="rect">
            <a:avLst/>
          </a:prstGeom>
          <a:noFill/>
          <a:ln/>
        </p:spPr>
        <p:txBody>
          <a:bodyPr wrap="square" lIns="0" tIns="0" rIns="0" bIns="0" rtlCol="0" anchor="t">
            <a:normAutofit/>
          </a:bodyPr>
          <a:lstStyle/>
          <a:p>
            <a:pPr algn="l" indent="0" marL="0">
              <a:buNone/>
            </a:pPr>
            <a:r>
              <a:rPr lang="en-US" sz="1550" b="1" dirty="0">
                <a:solidFill>
                  <a:srgbClr val="F5F8FC"/>
                </a:solidFill>
                <a:latin typeface="Aptos" pitchFamily="34" charset="0"/>
                <a:ea typeface="Aptos" pitchFamily="34" charset="-122"/>
                <a:cs typeface="Aptos" pitchFamily="34" charset="-120"/>
              </a:rPr>
              <a:t>Validation</a:t>
            </a:r>
            <a:endParaRPr lang="en-US" sz="1550" dirty="0"/>
          </a:p>
        </p:txBody>
      </p:sp>
      <p:sp>
        <p:nvSpPr>
          <p:cNvPr id="34" name="Text 32"/>
          <p:cNvSpPr/>
          <p:nvPr/>
        </p:nvSpPr>
        <p:spPr>
          <a:xfrm>
            <a:off x="10268712" y="2633472"/>
            <a:ext cx="1362456" cy="585216"/>
          </a:xfrm>
          <a:prstGeom prst="rect">
            <a:avLst/>
          </a:prstGeom>
          <a:noFill/>
          <a:ln/>
        </p:spPr>
        <p:txBody>
          <a:bodyPr wrap="square" lIns="0" tIns="0" rIns="0" bIns="0" rtlCol="0" anchor="t">
            <a:normAutofit/>
          </a:bodyPr>
          <a:lstStyle/>
          <a:p>
            <a:pPr algn="l" indent="0" marL="0">
              <a:buNone/>
            </a:pPr>
            <a:r>
              <a:rPr lang="en-US" sz="1070" dirty="0">
                <a:solidFill>
                  <a:srgbClr val="B7C4D6"/>
                </a:solidFill>
                <a:latin typeface="Aptos" pitchFamily="34" charset="0"/>
                <a:ea typeface="Aptos" pitchFamily="34" charset="-122"/>
                <a:cs typeface="Aptos" pitchFamily="34" charset="-120"/>
              </a:rPr>
              <a:t>Board bring-up, lab measurements, silicon debug</a:t>
            </a:r>
            <a:endParaRPr lang="en-US" sz="1070" dirty="0"/>
          </a:p>
        </p:txBody>
      </p:sp>
      <p:sp>
        <p:nvSpPr>
          <p:cNvPr id="35" name="Shape 33"/>
          <p:cNvSpPr/>
          <p:nvPr/>
        </p:nvSpPr>
        <p:spPr>
          <a:xfrm>
            <a:off x="585216" y="3913632"/>
            <a:ext cx="11000232" cy="1152144"/>
          </a:xfrm>
          <a:prstGeom prst="roundRect">
            <a:avLst>
              <a:gd name="adj" fmla="val 9524"/>
            </a:avLst>
          </a:prstGeom>
          <a:solidFill>
            <a:srgbClr val="0A2232"/>
          </a:solidFill>
          <a:ln w="12700">
            <a:solidFill>
              <a:srgbClr val="1D4B52"/>
            </a:solidFill>
            <a:prstDash val="solid"/>
          </a:ln>
        </p:spPr>
      </p:sp>
      <p:sp>
        <p:nvSpPr>
          <p:cNvPr id="36" name="Text 34"/>
          <p:cNvSpPr/>
          <p:nvPr/>
        </p:nvSpPr>
        <p:spPr>
          <a:xfrm>
            <a:off x="859536" y="4206240"/>
            <a:ext cx="10378440" cy="585216"/>
          </a:xfrm>
          <a:prstGeom prst="rect">
            <a:avLst/>
          </a:prstGeom>
          <a:noFill/>
          <a:ln/>
        </p:spPr>
        <p:txBody>
          <a:bodyPr wrap="square" lIns="0" tIns="0" rIns="0" bIns="0" rtlCol="0" anchor="ctr">
            <a:normAutofit/>
          </a:bodyPr>
          <a:lstStyle/>
          <a:p>
            <a:pPr algn="ctr" indent="0" marL="0">
              <a:buNone/>
            </a:pPr>
            <a:r>
              <a:rPr lang="en-US" sz="1700" b="1" dirty="0">
                <a:solidFill>
                  <a:srgbClr val="DFFCF9"/>
                </a:solidFill>
                <a:latin typeface="Aptos" pitchFamily="34" charset="0"/>
                <a:ea typeface="Aptos" pitchFamily="34" charset="-122"/>
                <a:cs typeface="Aptos" pitchFamily="34" charset="-120"/>
              </a:rPr>
              <a:t>Marvell Vietnam’s engineering roles map across nearly the full IC lifecycle—from architecture and RTL to physical implementation and silicon validation.</a:t>
            </a:r>
            <a:endParaRPr lang="en-US" sz="1700" dirty="0"/>
          </a:p>
        </p:txBody>
      </p:sp>
      <p:sp>
        <p:nvSpPr>
          <p:cNvPr id="37" name="Text 35"/>
          <p:cNvSpPr/>
          <p:nvPr/>
        </p:nvSpPr>
        <p:spPr>
          <a:xfrm>
            <a:off x="576072" y="6236208"/>
            <a:ext cx="10835640" cy="164592"/>
          </a:xfrm>
          <a:prstGeom prst="rect">
            <a:avLst/>
          </a:prstGeom>
          <a:noFill/>
          <a:ln/>
        </p:spPr>
        <p:txBody>
          <a:bodyPr wrap="square" lIns="0" tIns="0" rIns="0" bIns="0" rtlCol="0" anchor="ctr">
            <a:normAutofit/>
          </a:bodyPr>
          <a:lstStyle/>
          <a:p>
            <a:pPr algn="l" indent="0" marL="0">
              <a:buNone/>
            </a:pPr>
            <a:r>
              <a:rPr lang="en-US" sz="730" dirty="0">
                <a:solidFill>
                  <a:srgbClr val="6F829A"/>
                </a:solidFill>
                <a:latin typeface="Aptos" pitchFamily="34" charset="0"/>
                <a:ea typeface="Aptos" pitchFamily="34" charset="-122"/>
                <a:cs typeface="Aptos" pitchFamily="34" charset="-120"/>
              </a:rPr>
              <a:t>Industry-standard ASIC flow terminology; adapted to the roles discussed in the group presentation.</a:t>
            </a:r>
            <a:endParaRPr lang="en-US" sz="730" dirty="0"/>
          </a:p>
        </p:txBody>
      </p:sp>
      <p:sp>
        <p:nvSpPr>
          <p:cNvPr id="25" name="Slide Number Placeholder 0"/>
          <p:cNvSpPr>
            <a:spLocks noGrp="1"/>
          </p:cNvSpPr>
          <p:nvPr>
            <p:ph type="sldNum" sz="quarter" idx="4294967295"/>
          </p:nvPr>
        </p:nvSpPr>
        <p:spPr>
          <a:xfrm>
            <a:off x="11201400" y="650138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F829A"/>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47472"/>
            <a:ext cx="5303520" cy="201168"/>
          </a:xfrm>
          <a:prstGeom prst="rect">
            <a:avLst/>
          </a:prstGeom>
          <a:noFill/>
          <a:ln/>
        </p:spPr>
        <p:txBody>
          <a:bodyPr wrap="square" lIns="0" tIns="0" rIns="0" bIns="0" rtlCol="0" anchor="ctr">
            <a:normAutofit/>
          </a:bodyPr>
          <a:lstStyle/>
          <a:p>
            <a:pPr algn="l" indent="0" marL="0">
              <a:buNone/>
            </a:pPr>
            <a:r>
              <a:rPr lang="en-US" sz="930" b="1" spc="140" kern="0" dirty="0">
                <a:solidFill>
                  <a:srgbClr val="4FD1C5"/>
                </a:solidFill>
                <a:latin typeface="Aptos" pitchFamily="34" charset="0"/>
                <a:ea typeface="Aptos" pitchFamily="34" charset="-122"/>
                <a:cs typeface="Aptos" pitchFamily="34" charset="-120"/>
              </a:rPr>
              <a:t>EARLY-CAREER ENTRY POINT</a:t>
            </a:r>
            <a:endParaRPr lang="en-US" sz="930" dirty="0"/>
          </a:p>
        </p:txBody>
      </p:sp>
      <p:sp>
        <p:nvSpPr>
          <p:cNvPr id="3" name="Text 1"/>
          <p:cNvSpPr/>
          <p:nvPr/>
        </p:nvSpPr>
        <p:spPr>
          <a:xfrm>
            <a:off x="566928" y="566928"/>
            <a:ext cx="10881360" cy="530352"/>
          </a:xfrm>
          <a:prstGeom prst="rect">
            <a:avLst/>
          </a:prstGeom>
          <a:noFill/>
          <a:ln/>
        </p:spPr>
        <p:txBody>
          <a:bodyPr wrap="square" lIns="0" tIns="0" rIns="0" bIns="0" rtlCol="0" anchor="ctr">
            <a:normAutofit/>
          </a:bodyPr>
          <a:lstStyle/>
          <a:p>
            <a:pPr algn="l" indent="0" marL="0">
              <a:buNone/>
            </a:pPr>
            <a:r>
              <a:rPr lang="en-US" sz="2750" b="1" dirty="0">
                <a:solidFill>
                  <a:srgbClr val="F5F8FC"/>
                </a:solidFill>
                <a:latin typeface="Aptos Display" pitchFamily="34" charset="0"/>
                <a:ea typeface="Aptos Display" pitchFamily="34" charset="-122"/>
                <a:cs typeface="Aptos Display" pitchFamily="34" charset="-120"/>
              </a:rPr>
              <a:t>Marvell Vietnam Internship 2026</a:t>
            </a:r>
            <a:endParaRPr lang="en-US" sz="2750" dirty="0"/>
          </a:p>
        </p:txBody>
      </p:sp>
      <p:sp>
        <p:nvSpPr>
          <p:cNvPr id="4" name="Shape 2"/>
          <p:cNvSpPr/>
          <p:nvPr/>
        </p:nvSpPr>
        <p:spPr>
          <a:xfrm>
            <a:off x="9555480" y="338328"/>
            <a:ext cx="2057400" cy="310896"/>
          </a:xfrm>
          <a:prstGeom prst="roundRect">
            <a:avLst>
              <a:gd name="adj" fmla="val 35294"/>
            </a:avLst>
          </a:prstGeom>
          <a:solidFill>
            <a:srgbClr val="10263D"/>
          </a:solidFill>
          <a:ln w="12700">
            <a:solidFill>
              <a:srgbClr val="26415D"/>
            </a:solidFill>
            <a:prstDash val="solid"/>
          </a:ln>
        </p:spPr>
      </p:sp>
      <p:sp>
        <p:nvSpPr>
          <p:cNvPr id="5" name="Text 3"/>
          <p:cNvSpPr/>
          <p:nvPr/>
        </p:nvSpPr>
        <p:spPr>
          <a:xfrm>
            <a:off x="9646920" y="370332"/>
            <a:ext cx="1874520" cy="210312"/>
          </a:xfrm>
          <a:prstGeom prst="rect">
            <a:avLst/>
          </a:prstGeom>
          <a:noFill/>
          <a:ln/>
        </p:spPr>
        <p:txBody>
          <a:bodyPr wrap="square" lIns="0" tIns="0" rIns="0" bIns="0" rtlCol="0" anchor="ctr">
            <a:normAutofit/>
          </a:bodyPr>
          <a:lstStyle/>
          <a:p>
            <a:pPr algn="ctr" indent="0" marL="0">
              <a:buNone/>
            </a:pPr>
            <a:r>
              <a:rPr lang="en-US" sz="840" b="1" dirty="0">
                <a:solidFill>
                  <a:srgbClr val="D9E8F6"/>
                </a:solidFill>
                <a:latin typeface="Aptos" pitchFamily="34" charset="0"/>
                <a:ea typeface="Aptos" pitchFamily="34" charset="-122"/>
                <a:cs typeface="Aptos" pitchFamily="34" charset="-120"/>
              </a:rPr>
              <a:t>NGUYỄN BỬU PHÚC</a:t>
            </a:r>
            <a:endParaRPr lang="en-US" sz="840" dirty="0"/>
          </a:p>
        </p:txBody>
      </p:sp>
      <p:sp>
        <p:nvSpPr>
          <p:cNvPr id="6" name="Shape 4"/>
          <p:cNvSpPr/>
          <p:nvPr/>
        </p:nvSpPr>
        <p:spPr>
          <a:xfrm>
            <a:off x="585216" y="1353312"/>
            <a:ext cx="3767328" cy="4526280"/>
          </a:xfrm>
          <a:prstGeom prst="roundRect">
            <a:avLst>
              <a:gd name="adj" fmla="val 2913"/>
            </a:avLst>
          </a:prstGeom>
          <a:solidFill>
            <a:srgbClr val="0D1B2C"/>
          </a:solidFill>
          <a:ln w="12700">
            <a:solidFill>
              <a:srgbClr val="26415D"/>
            </a:solidFill>
            <a:prstDash val="solid"/>
          </a:ln>
        </p:spPr>
      </p:sp>
      <p:sp>
        <p:nvSpPr>
          <p:cNvPr id="7" name="Text 5"/>
          <p:cNvSpPr/>
          <p:nvPr/>
        </p:nvSpPr>
        <p:spPr>
          <a:xfrm>
            <a:off x="859536" y="1719072"/>
            <a:ext cx="2057400" cy="841248"/>
          </a:xfrm>
          <a:prstGeom prst="rect">
            <a:avLst/>
          </a:prstGeom>
          <a:noFill/>
          <a:ln/>
        </p:spPr>
        <p:txBody>
          <a:bodyPr wrap="square" lIns="0" tIns="0" rIns="0" bIns="0" rtlCol="0" anchor="ctr">
            <a:normAutofit/>
          </a:bodyPr>
          <a:lstStyle/>
          <a:p>
            <a:pPr algn="l" indent="0" marL="0">
              <a:buNone/>
            </a:pPr>
            <a:r>
              <a:rPr lang="en-US" sz="5900" b="1" dirty="0">
                <a:solidFill>
                  <a:srgbClr val="4FD1C5"/>
                </a:solidFill>
                <a:latin typeface="Aptos Display" pitchFamily="34" charset="0"/>
                <a:ea typeface="Aptos Display" pitchFamily="34" charset="-122"/>
                <a:cs typeface="Aptos Display" pitchFamily="34" charset="-120"/>
              </a:rPr>
              <a:t>66</a:t>
            </a:r>
            <a:endParaRPr lang="en-US" sz="5900" dirty="0"/>
          </a:p>
        </p:txBody>
      </p:sp>
      <p:sp>
        <p:nvSpPr>
          <p:cNvPr id="8" name="Text 6"/>
          <p:cNvSpPr/>
          <p:nvPr/>
        </p:nvSpPr>
        <p:spPr>
          <a:xfrm>
            <a:off x="896112" y="2587752"/>
            <a:ext cx="2331720" cy="310896"/>
          </a:xfrm>
          <a:prstGeom prst="rect">
            <a:avLst/>
          </a:prstGeom>
          <a:noFill/>
          <a:ln/>
        </p:spPr>
        <p:txBody>
          <a:bodyPr wrap="square" lIns="0" tIns="0" rIns="0" bIns="0" rtlCol="0" anchor="ctr">
            <a:normAutofit/>
          </a:bodyPr>
          <a:lstStyle/>
          <a:p>
            <a:pPr algn="l" indent="0" marL="0">
              <a:buNone/>
            </a:pPr>
            <a:r>
              <a:rPr lang="en-US" sz="1620" b="1" dirty="0">
                <a:solidFill>
                  <a:srgbClr val="F5F8FC"/>
                </a:solidFill>
                <a:latin typeface="Aptos" pitchFamily="34" charset="0"/>
                <a:ea typeface="Aptos" pitchFamily="34" charset="-122"/>
                <a:cs typeface="Aptos" pitchFamily="34" charset="-120"/>
              </a:rPr>
              <a:t>internship positions</a:t>
            </a:r>
            <a:endParaRPr lang="en-US" sz="1620" dirty="0"/>
          </a:p>
        </p:txBody>
      </p:sp>
      <p:sp>
        <p:nvSpPr>
          <p:cNvPr id="9" name="Text 7"/>
          <p:cNvSpPr/>
          <p:nvPr/>
        </p:nvSpPr>
        <p:spPr>
          <a:xfrm>
            <a:off x="896112" y="2926080"/>
            <a:ext cx="2971800" cy="502920"/>
          </a:xfrm>
          <a:prstGeom prst="rect">
            <a:avLst/>
          </a:prstGeom>
          <a:noFill/>
          <a:ln/>
        </p:spPr>
        <p:txBody>
          <a:bodyPr wrap="square" lIns="0" tIns="0" rIns="0" bIns="0" rtlCol="0" anchor="ctr">
            <a:normAutofit/>
          </a:bodyPr>
          <a:lstStyle/>
          <a:p>
            <a:pPr algn="l" indent="0" marL="0">
              <a:buNone/>
            </a:pPr>
            <a:r>
              <a:rPr lang="en-US" sz="1260" dirty="0">
                <a:solidFill>
                  <a:srgbClr val="B7C4D6"/>
                </a:solidFill>
                <a:latin typeface="Aptos" pitchFamily="34" charset="0"/>
                <a:ea typeface="Aptos" pitchFamily="34" charset="-122"/>
                <a:cs typeface="Aptos" pitchFamily="34" charset="-120"/>
              </a:rPr>
              <a:t>in the group’s 2026 recruiting snapshot</a:t>
            </a:r>
            <a:endParaRPr lang="en-US" sz="1260" dirty="0"/>
          </a:p>
        </p:txBody>
      </p:sp>
      <p:sp>
        <p:nvSpPr>
          <p:cNvPr id="10" name="Shape 8"/>
          <p:cNvSpPr/>
          <p:nvPr/>
        </p:nvSpPr>
        <p:spPr>
          <a:xfrm>
            <a:off x="896112" y="3685032"/>
            <a:ext cx="1920240" cy="310896"/>
          </a:xfrm>
          <a:prstGeom prst="roundRect">
            <a:avLst>
              <a:gd name="adj" fmla="val 41176"/>
            </a:avLst>
          </a:prstGeom>
          <a:solidFill>
            <a:srgbClr val="0D2435">
              <a:alpha val="90000"/>
            </a:srgbClr>
          </a:solidFill>
          <a:ln w="12700">
            <a:solidFill>
              <a:srgbClr val="70D6A7">
                <a:alpha val="60000"/>
              </a:srgbClr>
            </a:solidFill>
            <a:prstDash val="solid"/>
          </a:ln>
        </p:spPr>
      </p:sp>
      <p:sp>
        <p:nvSpPr>
          <p:cNvPr id="11" name="Shape 9"/>
          <p:cNvSpPr/>
          <p:nvPr/>
        </p:nvSpPr>
        <p:spPr>
          <a:xfrm>
            <a:off x="987552" y="3790188"/>
            <a:ext cx="73152" cy="73152"/>
          </a:xfrm>
          <a:prstGeom prst="ellipse">
            <a:avLst/>
          </a:prstGeom>
          <a:solidFill>
            <a:srgbClr val="70D6A7"/>
          </a:solidFill>
          <a:ln w="12700">
            <a:solidFill>
              <a:srgbClr val="70D6A7"/>
            </a:solidFill>
            <a:prstDash val="solid"/>
          </a:ln>
        </p:spPr>
      </p:sp>
      <p:sp>
        <p:nvSpPr>
          <p:cNvPr id="12" name="Text 10"/>
          <p:cNvSpPr/>
          <p:nvPr/>
        </p:nvSpPr>
        <p:spPr>
          <a:xfrm>
            <a:off x="1106424" y="3703320"/>
            <a:ext cx="1673352"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3rd–4th year students</a:t>
            </a:r>
            <a:endParaRPr lang="en-US" sz="920" dirty="0"/>
          </a:p>
        </p:txBody>
      </p:sp>
      <p:sp>
        <p:nvSpPr>
          <p:cNvPr id="13" name="Shape 11"/>
          <p:cNvSpPr/>
          <p:nvPr/>
        </p:nvSpPr>
        <p:spPr>
          <a:xfrm>
            <a:off x="896112" y="4096512"/>
            <a:ext cx="1664208" cy="310896"/>
          </a:xfrm>
          <a:prstGeom prst="roundRect">
            <a:avLst>
              <a:gd name="adj" fmla="val 41176"/>
            </a:avLst>
          </a:prstGeom>
          <a:solidFill>
            <a:srgbClr val="0D2435">
              <a:alpha val="90000"/>
            </a:srgbClr>
          </a:solidFill>
          <a:ln w="12700">
            <a:solidFill>
              <a:srgbClr val="6AA7FF">
                <a:alpha val="60000"/>
              </a:srgbClr>
            </a:solidFill>
            <a:prstDash val="solid"/>
          </a:ln>
        </p:spPr>
      </p:sp>
      <p:sp>
        <p:nvSpPr>
          <p:cNvPr id="14" name="Shape 12"/>
          <p:cNvSpPr/>
          <p:nvPr/>
        </p:nvSpPr>
        <p:spPr>
          <a:xfrm>
            <a:off x="987552" y="4201668"/>
            <a:ext cx="73152" cy="73152"/>
          </a:xfrm>
          <a:prstGeom prst="ellipse">
            <a:avLst/>
          </a:prstGeom>
          <a:solidFill>
            <a:srgbClr val="6AA7FF"/>
          </a:solidFill>
          <a:ln w="12700">
            <a:solidFill>
              <a:srgbClr val="6AA7FF"/>
            </a:solidFill>
            <a:prstDash val="solid"/>
          </a:ln>
        </p:spPr>
      </p:sp>
      <p:sp>
        <p:nvSpPr>
          <p:cNvPr id="15" name="Text 13"/>
          <p:cNvSpPr/>
          <p:nvPr/>
        </p:nvSpPr>
        <p:spPr>
          <a:xfrm>
            <a:off x="1106424" y="4114800"/>
            <a:ext cx="1417320"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June–September</a:t>
            </a:r>
            <a:endParaRPr lang="en-US" sz="920" dirty="0"/>
          </a:p>
        </p:txBody>
      </p:sp>
      <p:sp>
        <p:nvSpPr>
          <p:cNvPr id="16" name="Text 14"/>
          <p:cNvSpPr/>
          <p:nvPr/>
        </p:nvSpPr>
        <p:spPr>
          <a:xfrm>
            <a:off x="896112" y="4663440"/>
            <a:ext cx="2880360" cy="658368"/>
          </a:xfrm>
          <a:prstGeom prst="rect">
            <a:avLst/>
          </a:prstGeom>
          <a:noFill/>
          <a:ln/>
        </p:spPr>
        <p:txBody>
          <a:bodyPr wrap="square" lIns="0" tIns="0" rIns="0" bIns="0" rtlCol="0" anchor="ctr">
            <a:normAutofit/>
          </a:bodyPr>
          <a:lstStyle/>
          <a:p>
            <a:pPr algn="l" indent="0" marL="0">
              <a:buNone/>
            </a:pPr>
            <a:r>
              <a:rPr lang="en-US" sz="1310" i="1" dirty="0">
                <a:solidFill>
                  <a:srgbClr val="B7C4D6"/>
                </a:solidFill>
                <a:latin typeface="Aptos" pitchFamily="34" charset="0"/>
                <a:ea typeface="Aptos" pitchFamily="34" charset="-122"/>
                <a:cs typeface="Aptos" pitchFamily="34" charset="-120"/>
              </a:rPr>
              <a:t>Use this number as a recruiting snapshot—not a permanent headcount.</a:t>
            </a:r>
            <a:endParaRPr lang="en-US" sz="1310" dirty="0"/>
          </a:p>
        </p:txBody>
      </p:sp>
      <p:sp>
        <p:nvSpPr>
          <p:cNvPr id="17" name="Shape 15"/>
          <p:cNvSpPr/>
          <p:nvPr/>
        </p:nvSpPr>
        <p:spPr>
          <a:xfrm>
            <a:off x="4590288" y="1362456"/>
            <a:ext cx="7004304" cy="694944"/>
          </a:xfrm>
          <a:prstGeom prst="roundRect">
            <a:avLst>
              <a:gd name="adj" fmla="val 15789"/>
            </a:avLst>
          </a:prstGeom>
          <a:solidFill>
            <a:srgbClr val="0A1928"/>
          </a:solidFill>
          <a:ln w="12700">
            <a:solidFill>
              <a:srgbClr val="26415D"/>
            </a:solidFill>
            <a:prstDash val="solid"/>
          </a:ln>
        </p:spPr>
      </p:sp>
      <p:sp>
        <p:nvSpPr>
          <p:cNvPr id="18" name="Text 16"/>
          <p:cNvSpPr/>
          <p:nvPr/>
        </p:nvSpPr>
        <p:spPr>
          <a:xfrm>
            <a:off x="4800600" y="1453896"/>
            <a:ext cx="2148840" cy="219456"/>
          </a:xfrm>
          <a:prstGeom prst="rect">
            <a:avLst/>
          </a:prstGeom>
          <a:noFill/>
          <a:ln/>
        </p:spPr>
        <p:txBody>
          <a:bodyPr wrap="square" lIns="0" tIns="0" rIns="0" bIns="0" rtlCol="0" anchor="ctr">
            <a:normAutofit/>
          </a:bodyPr>
          <a:lstStyle/>
          <a:p>
            <a:pPr algn="l" indent="0" marL="0">
              <a:buNone/>
            </a:pPr>
            <a:r>
              <a:rPr lang="en-US" sz="1290" b="1" dirty="0">
                <a:solidFill>
                  <a:srgbClr val="F5F8FC"/>
                </a:solidFill>
                <a:latin typeface="Aptos" pitchFamily="34" charset="0"/>
                <a:ea typeface="Aptos" pitchFamily="34" charset="-122"/>
                <a:cs typeface="Aptos" pitchFamily="34" charset="-120"/>
              </a:rPr>
              <a:t>Digital Design</a:t>
            </a:r>
            <a:endParaRPr lang="en-US" sz="1290" dirty="0"/>
          </a:p>
        </p:txBody>
      </p:sp>
      <p:sp>
        <p:nvSpPr>
          <p:cNvPr id="19" name="Text 17"/>
          <p:cNvSpPr/>
          <p:nvPr/>
        </p:nvSpPr>
        <p:spPr>
          <a:xfrm>
            <a:off x="6839712" y="1453896"/>
            <a:ext cx="3337560" cy="347472"/>
          </a:xfrm>
          <a:prstGeom prst="rect">
            <a:avLst/>
          </a:prstGeom>
          <a:noFill/>
          <a:ln/>
        </p:spPr>
        <p:txBody>
          <a:bodyPr wrap="square" lIns="0" tIns="0" rIns="0" bIns="0" rtlCol="0" anchor="t">
            <a:normAutofit/>
          </a:bodyPr>
          <a:lstStyle/>
          <a:p>
            <a:pPr algn="l" indent="0" marL="0">
              <a:buNone/>
            </a:pPr>
            <a:r>
              <a:rPr lang="en-US" sz="1060" dirty="0">
                <a:solidFill>
                  <a:srgbClr val="B7C4D6"/>
                </a:solidFill>
                <a:latin typeface="Aptos" pitchFamily="34" charset="0"/>
                <a:ea typeface="Aptos" pitchFamily="34" charset="-122"/>
                <a:cs typeface="Aptos" pitchFamily="34" charset="-120"/>
              </a:rPr>
              <a:t>RTL implementation &amp; synthesis-aware design</a:t>
            </a:r>
            <a:endParaRPr lang="en-US" sz="1060" dirty="0"/>
          </a:p>
        </p:txBody>
      </p:sp>
      <p:sp>
        <p:nvSpPr>
          <p:cNvPr id="20" name="Text 18"/>
          <p:cNvSpPr/>
          <p:nvPr/>
        </p:nvSpPr>
        <p:spPr>
          <a:xfrm>
            <a:off x="10625328" y="1472184"/>
            <a:ext cx="640080" cy="246888"/>
          </a:xfrm>
          <a:prstGeom prst="rect">
            <a:avLst/>
          </a:prstGeom>
          <a:noFill/>
          <a:ln/>
        </p:spPr>
        <p:txBody>
          <a:bodyPr wrap="square" lIns="0" tIns="0" rIns="0" bIns="0" rtlCol="0" anchor="ctr">
            <a:normAutofit/>
          </a:bodyPr>
          <a:lstStyle/>
          <a:p>
            <a:pPr algn="r" indent="0" marL="0">
              <a:buNone/>
            </a:pPr>
            <a:r>
              <a:rPr lang="en-US" sz="1310" b="1" dirty="0">
                <a:solidFill>
                  <a:srgbClr val="4FD1C5"/>
                </a:solidFill>
                <a:latin typeface="Aptos" pitchFamily="34" charset="0"/>
                <a:ea typeface="Aptos" pitchFamily="34" charset="-122"/>
                <a:cs typeface="Aptos" pitchFamily="34" charset="-120"/>
              </a:rPr>
              <a:t>13</a:t>
            </a:r>
            <a:endParaRPr lang="en-US" sz="1310" dirty="0"/>
          </a:p>
        </p:txBody>
      </p:sp>
      <p:sp>
        <p:nvSpPr>
          <p:cNvPr id="21" name="Shape 19"/>
          <p:cNvSpPr/>
          <p:nvPr/>
        </p:nvSpPr>
        <p:spPr>
          <a:xfrm>
            <a:off x="4590288" y="2203704"/>
            <a:ext cx="7004304" cy="694944"/>
          </a:xfrm>
          <a:prstGeom prst="roundRect">
            <a:avLst>
              <a:gd name="adj" fmla="val 15789"/>
            </a:avLst>
          </a:prstGeom>
          <a:solidFill>
            <a:srgbClr val="0A1928"/>
          </a:solidFill>
          <a:ln w="12700">
            <a:solidFill>
              <a:srgbClr val="26415D"/>
            </a:solidFill>
            <a:prstDash val="solid"/>
          </a:ln>
        </p:spPr>
      </p:sp>
      <p:sp>
        <p:nvSpPr>
          <p:cNvPr id="22" name="Text 20"/>
          <p:cNvSpPr/>
          <p:nvPr/>
        </p:nvSpPr>
        <p:spPr>
          <a:xfrm>
            <a:off x="4800600" y="2295144"/>
            <a:ext cx="2148840" cy="219456"/>
          </a:xfrm>
          <a:prstGeom prst="rect">
            <a:avLst/>
          </a:prstGeom>
          <a:noFill/>
          <a:ln/>
        </p:spPr>
        <p:txBody>
          <a:bodyPr wrap="square" lIns="0" tIns="0" rIns="0" bIns="0" rtlCol="0" anchor="ctr">
            <a:normAutofit/>
          </a:bodyPr>
          <a:lstStyle/>
          <a:p>
            <a:pPr algn="l" indent="0" marL="0">
              <a:buNone/>
            </a:pPr>
            <a:r>
              <a:rPr lang="en-US" sz="1290" b="1" dirty="0">
                <a:solidFill>
                  <a:srgbClr val="F5F8FC"/>
                </a:solidFill>
                <a:latin typeface="Aptos" pitchFamily="34" charset="0"/>
                <a:ea typeface="Aptos" pitchFamily="34" charset="-122"/>
                <a:cs typeface="Aptos" pitchFamily="34" charset="-120"/>
              </a:rPr>
              <a:t>Analog Design</a:t>
            </a:r>
            <a:endParaRPr lang="en-US" sz="1290" dirty="0"/>
          </a:p>
        </p:txBody>
      </p:sp>
      <p:sp>
        <p:nvSpPr>
          <p:cNvPr id="23" name="Text 21"/>
          <p:cNvSpPr/>
          <p:nvPr/>
        </p:nvSpPr>
        <p:spPr>
          <a:xfrm>
            <a:off x="6839712" y="2295144"/>
            <a:ext cx="3337560" cy="347472"/>
          </a:xfrm>
          <a:prstGeom prst="rect">
            <a:avLst/>
          </a:prstGeom>
          <a:noFill/>
          <a:ln/>
        </p:spPr>
        <p:txBody>
          <a:bodyPr wrap="square" lIns="0" tIns="0" rIns="0" bIns="0" rtlCol="0" anchor="t">
            <a:normAutofit/>
          </a:bodyPr>
          <a:lstStyle/>
          <a:p>
            <a:pPr algn="l" indent="0" marL="0">
              <a:buNone/>
            </a:pPr>
            <a:r>
              <a:rPr lang="en-US" sz="1060" dirty="0">
                <a:solidFill>
                  <a:srgbClr val="B7C4D6"/>
                </a:solidFill>
                <a:latin typeface="Aptos" pitchFamily="34" charset="0"/>
                <a:ea typeface="Aptos" pitchFamily="34" charset="-122"/>
                <a:cs typeface="Aptos" pitchFamily="34" charset="-120"/>
              </a:rPr>
              <a:t>High-speed analog / mixed-signal circuits</a:t>
            </a:r>
            <a:endParaRPr lang="en-US" sz="1060" dirty="0"/>
          </a:p>
        </p:txBody>
      </p:sp>
      <p:sp>
        <p:nvSpPr>
          <p:cNvPr id="24" name="Text 22"/>
          <p:cNvSpPr/>
          <p:nvPr/>
        </p:nvSpPr>
        <p:spPr>
          <a:xfrm>
            <a:off x="10625328" y="2313432"/>
            <a:ext cx="640080" cy="246888"/>
          </a:xfrm>
          <a:prstGeom prst="rect">
            <a:avLst/>
          </a:prstGeom>
          <a:noFill/>
          <a:ln/>
        </p:spPr>
        <p:txBody>
          <a:bodyPr wrap="square" lIns="0" tIns="0" rIns="0" bIns="0" rtlCol="0" anchor="ctr">
            <a:normAutofit/>
          </a:bodyPr>
          <a:lstStyle/>
          <a:p>
            <a:pPr algn="r" indent="0" marL="0">
              <a:buNone/>
            </a:pPr>
            <a:r>
              <a:rPr lang="en-US" sz="1310" b="1" dirty="0">
                <a:solidFill>
                  <a:srgbClr val="B08CFF"/>
                </a:solidFill>
                <a:latin typeface="Aptos" pitchFamily="34" charset="0"/>
                <a:ea typeface="Aptos" pitchFamily="34" charset="-122"/>
                <a:cs typeface="Aptos" pitchFamily="34" charset="-120"/>
              </a:rPr>
              <a:t>13</a:t>
            </a:r>
            <a:endParaRPr lang="en-US" sz="1310" dirty="0"/>
          </a:p>
        </p:txBody>
      </p:sp>
      <p:sp>
        <p:nvSpPr>
          <p:cNvPr id="25" name="Shape 23"/>
          <p:cNvSpPr/>
          <p:nvPr/>
        </p:nvSpPr>
        <p:spPr>
          <a:xfrm>
            <a:off x="4590288" y="3044952"/>
            <a:ext cx="7004304" cy="694944"/>
          </a:xfrm>
          <a:prstGeom prst="roundRect">
            <a:avLst>
              <a:gd name="adj" fmla="val 15789"/>
            </a:avLst>
          </a:prstGeom>
          <a:solidFill>
            <a:srgbClr val="0A1928"/>
          </a:solidFill>
          <a:ln w="12700">
            <a:solidFill>
              <a:srgbClr val="26415D"/>
            </a:solidFill>
            <a:prstDash val="solid"/>
          </a:ln>
        </p:spPr>
      </p:sp>
      <p:sp>
        <p:nvSpPr>
          <p:cNvPr id="26" name="Text 24"/>
          <p:cNvSpPr/>
          <p:nvPr/>
        </p:nvSpPr>
        <p:spPr>
          <a:xfrm>
            <a:off x="4800600" y="3136392"/>
            <a:ext cx="2148840" cy="219456"/>
          </a:xfrm>
          <a:prstGeom prst="rect">
            <a:avLst/>
          </a:prstGeom>
          <a:noFill/>
          <a:ln/>
        </p:spPr>
        <p:txBody>
          <a:bodyPr wrap="square" lIns="0" tIns="0" rIns="0" bIns="0" rtlCol="0" anchor="ctr">
            <a:normAutofit/>
          </a:bodyPr>
          <a:lstStyle/>
          <a:p>
            <a:pPr algn="l" indent="0" marL="0">
              <a:buNone/>
            </a:pPr>
            <a:r>
              <a:rPr lang="en-US" sz="1290" b="1" dirty="0">
                <a:solidFill>
                  <a:srgbClr val="F5F8FC"/>
                </a:solidFill>
                <a:latin typeface="Aptos" pitchFamily="34" charset="0"/>
                <a:ea typeface="Aptos" pitchFamily="34" charset="-122"/>
                <a:cs typeface="Aptos" pitchFamily="34" charset="-120"/>
              </a:rPr>
              <a:t>Physical Design</a:t>
            </a:r>
            <a:endParaRPr lang="en-US" sz="1290" dirty="0"/>
          </a:p>
        </p:txBody>
      </p:sp>
      <p:sp>
        <p:nvSpPr>
          <p:cNvPr id="27" name="Text 25"/>
          <p:cNvSpPr/>
          <p:nvPr/>
        </p:nvSpPr>
        <p:spPr>
          <a:xfrm>
            <a:off x="6839712" y="3136392"/>
            <a:ext cx="3337560" cy="347472"/>
          </a:xfrm>
          <a:prstGeom prst="rect">
            <a:avLst/>
          </a:prstGeom>
          <a:noFill/>
          <a:ln/>
        </p:spPr>
        <p:txBody>
          <a:bodyPr wrap="square" lIns="0" tIns="0" rIns="0" bIns="0" rtlCol="0" anchor="t">
            <a:normAutofit/>
          </a:bodyPr>
          <a:lstStyle/>
          <a:p>
            <a:pPr algn="l" indent="0" marL="0">
              <a:buNone/>
            </a:pPr>
            <a:r>
              <a:rPr lang="en-US" sz="1060" dirty="0">
                <a:solidFill>
                  <a:srgbClr val="B7C4D6"/>
                </a:solidFill>
                <a:latin typeface="Aptos" pitchFamily="34" charset="0"/>
                <a:ea typeface="Aptos" pitchFamily="34" charset="-122"/>
                <a:cs typeface="Aptos" pitchFamily="34" charset="-120"/>
              </a:rPr>
              <a:t>Place &amp; route, CTS, timing &amp; signoff</a:t>
            </a:r>
            <a:endParaRPr lang="en-US" sz="1060" dirty="0"/>
          </a:p>
        </p:txBody>
      </p:sp>
      <p:sp>
        <p:nvSpPr>
          <p:cNvPr id="28" name="Text 26"/>
          <p:cNvSpPr/>
          <p:nvPr/>
        </p:nvSpPr>
        <p:spPr>
          <a:xfrm>
            <a:off x="10625328" y="3154680"/>
            <a:ext cx="640080" cy="246888"/>
          </a:xfrm>
          <a:prstGeom prst="rect">
            <a:avLst/>
          </a:prstGeom>
          <a:noFill/>
          <a:ln/>
        </p:spPr>
        <p:txBody>
          <a:bodyPr wrap="square" lIns="0" tIns="0" rIns="0" bIns="0" rtlCol="0" anchor="ctr">
            <a:normAutofit/>
          </a:bodyPr>
          <a:lstStyle/>
          <a:p>
            <a:pPr algn="r" indent="0" marL="0">
              <a:buNone/>
            </a:pPr>
            <a:r>
              <a:rPr lang="en-US" sz="1310" b="1" dirty="0">
                <a:solidFill>
                  <a:srgbClr val="6AA7FF"/>
                </a:solidFill>
                <a:latin typeface="Aptos" pitchFamily="34" charset="0"/>
                <a:ea typeface="Aptos" pitchFamily="34" charset="-122"/>
                <a:cs typeface="Aptos" pitchFamily="34" charset="-120"/>
              </a:rPr>
              <a:t>10</a:t>
            </a:r>
            <a:endParaRPr lang="en-US" sz="1310" dirty="0"/>
          </a:p>
        </p:txBody>
      </p:sp>
      <p:sp>
        <p:nvSpPr>
          <p:cNvPr id="29" name="Shape 27"/>
          <p:cNvSpPr/>
          <p:nvPr/>
        </p:nvSpPr>
        <p:spPr>
          <a:xfrm>
            <a:off x="4590288" y="3886200"/>
            <a:ext cx="7004304" cy="694944"/>
          </a:xfrm>
          <a:prstGeom prst="roundRect">
            <a:avLst>
              <a:gd name="adj" fmla="val 15789"/>
            </a:avLst>
          </a:prstGeom>
          <a:solidFill>
            <a:srgbClr val="0A1928"/>
          </a:solidFill>
          <a:ln w="12700">
            <a:solidFill>
              <a:srgbClr val="26415D"/>
            </a:solidFill>
            <a:prstDash val="solid"/>
          </a:ln>
        </p:spPr>
      </p:sp>
      <p:sp>
        <p:nvSpPr>
          <p:cNvPr id="30" name="Text 28"/>
          <p:cNvSpPr/>
          <p:nvPr/>
        </p:nvSpPr>
        <p:spPr>
          <a:xfrm>
            <a:off x="4800600" y="3977640"/>
            <a:ext cx="2148840" cy="219456"/>
          </a:xfrm>
          <a:prstGeom prst="rect">
            <a:avLst/>
          </a:prstGeom>
          <a:noFill/>
          <a:ln/>
        </p:spPr>
        <p:txBody>
          <a:bodyPr wrap="square" lIns="0" tIns="0" rIns="0" bIns="0" rtlCol="0" anchor="ctr">
            <a:normAutofit/>
          </a:bodyPr>
          <a:lstStyle/>
          <a:p>
            <a:pPr algn="l" indent="0" marL="0">
              <a:buNone/>
            </a:pPr>
            <a:r>
              <a:rPr lang="en-US" sz="1290" b="1" dirty="0">
                <a:solidFill>
                  <a:srgbClr val="F5F8FC"/>
                </a:solidFill>
                <a:latin typeface="Aptos" pitchFamily="34" charset="0"/>
                <a:ea typeface="Aptos" pitchFamily="34" charset="-122"/>
                <a:cs typeface="Aptos" pitchFamily="34" charset="-120"/>
              </a:rPr>
              <a:t>Analog Layout</a:t>
            </a:r>
            <a:endParaRPr lang="en-US" sz="1290" dirty="0"/>
          </a:p>
        </p:txBody>
      </p:sp>
      <p:sp>
        <p:nvSpPr>
          <p:cNvPr id="31" name="Text 29"/>
          <p:cNvSpPr/>
          <p:nvPr/>
        </p:nvSpPr>
        <p:spPr>
          <a:xfrm>
            <a:off x="6839712" y="3977640"/>
            <a:ext cx="3337560" cy="347472"/>
          </a:xfrm>
          <a:prstGeom prst="rect">
            <a:avLst/>
          </a:prstGeom>
          <a:noFill/>
          <a:ln/>
        </p:spPr>
        <p:txBody>
          <a:bodyPr wrap="square" lIns="0" tIns="0" rIns="0" bIns="0" rtlCol="0" anchor="t">
            <a:normAutofit/>
          </a:bodyPr>
          <a:lstStyle/>
          <a:p>
            <a:pPr algn="l" indent="0" marL="0">
              <a:buNone/>
            </a:pPr>
            <a:r>
              <a:rPr lang="en-US" sz="1060" dirty="0">
                <a:solidFill>
                  <a:srgbClr val="B7C4D6"/>
                </a:solidFill>
                <a:latin typeface="Aptos" pitchFamily="34" charset="0"/>
                <a:ea typeface="Aptos" pitchFamily="34" charset="-122"/>
                <a:cs typeface="Aptos" pitchFamily="34" charset="-120"/>
              </a:rPr>
              <a:t>Custom layout, DRC/LVS, parasitics</a:t>
            </a:r>
            <a:endParaRPr lang="en-US" sz="1060" dirty="0"/>
          </a:p>
        </p:txBody>
      </p:sp>
      <p:sp>
        <p:nvSpPr>
          <p:cNvPr id="32" name="Text 30"/>
          <p:cNvSpPr/>
          <p:nvPr/>
        </p:nvSpPr>
        <p:spPr>
          <a:xfrm>
            <a:off x="10625328" y="3995928"/>
            <a:ext cx="640080" cy="246888"/>
          </a:xfrm>
          <a:prstGeom prst="rect">
            <a:avLst/>
          </a:prstGeom>
          <a:noFill/>
          <a:ln/>
        </p:spPr>
        <p:txBody>
          <a:bodyPr wrap="square" lIns="0" tIns="0" rIns="0" bIns="0" rtlCol="0" anchor="ctr">
            <a:normAutofit/>
          </a:bodyPr>
          <a:lstStyle/>
          <a:p>
            <a:pPr algn="r" indent="0" marL="0">
              <a:buNone/>
            </a:pPr>
            <a:r>
              <a:rPr lang="en-US" sz="1310" b="1" dirty="0">
                <a:solidFill>
                  <a:srgbClr val="FFB25B"/>
                </a:solidFill>
                <a:latin typeface="Aptos" pitchFamily="34" charset="0"/>
                <a:ea typeface="Aptos" pitchFamily="34" charset="-122"/>
                <a:cs typeface="Aptos" pitchFamily="34" charset="-120"/>
              </a:rPr>
              <a:t>6</a:t>
            </a:r>
            <a:endParaRPr lang="en-US" sz="1310" dirty="0"/>
          </a:p>
        </p:txBody>
      </p:sp>
      <p:sp>
        <p:nvSpPr>
          <p:cNvPr id="33" name="Shape 31"/>
          <p:cNvSpPr/>
          <p:nvPr/>
        </p:nvSpPr>
        <p:spPr>
          <a:xfrm>
            <a:off x="4590288" y="4727448"/>
            <a:ext cx="7004304" cy="694944"/>
          </a:xfrm>
          <a:prstGeom prst="roundRect">
            <a:avLst>
              <a:gd name="adj" fmla="val 15789"/>
            </a:avLst>
          </a:prstGeom>
          <a:solidFill>
            <a:srgbClr val="0A1928"/>
          </a:solidFill>
          <a:ln w="12700">
            <a:solidFill>
              <a:srgbClr val="26415D"/>
            </a:solidFill>
            <a:prstDash val="solid"/>
          </a:ln>
        </p:spPr>
      </p:sp>
      <p:sp>
        <p:nvSpPr>
          <p:cNvPr id="34" name="Text 32"/>
          <p:cNvSpPr/>
          <p:nvPr/>
        </p:nvSpPr>
        <p:spPr>
          <a:xfrm>
            <a:off x="4800600" y="4818888"/>
            <a:ext cx="2148840" cy="219456"/>
          </a:xfrm>
          <a:prstGeom prst="rect">
            <a:avLst/>
          </a:prstGeom>
          <a:noFill/>
          <a:ln/>
        </p:spPr>
        <p:txBody>
          <a:bodyPr wrap="square" lIns="0" tIns="0" rIns="0" bIns="0" rtlCol="0" anchor="ctr">
            <a:normAutofit/>
          </a:bodyPr>
          <a:lstStyle/>
          <a:p>
            <a:pPr algn="l" indent="0" marL="0">
              <a:buNone/>
            </a:pPr>
            <a:r>
              <a:rPr lang="en-US" sz="1290" b="1" dirty="0">
                <a:solidFill>
                  <a:srgbClr val="F5F8FC"/>
                </a:solidFill>
                <a:latin typeface="Aptos" pitchFamily="34" charset="0"/>
                <a:ea typeface="Aptos" pitchFamily="34" charset="-122"/>
                <a:cs typeface="Aptos" pitchFamily="34" charset="-120"/>
              </a:rPr>
              <a:t>DV · DFT · STA · SW/FW · HW</a:t>
            </a:r>
            <a:endParaRPr lang="en-US" sz="1290" dirty="0"/>
          </a:p>
        </p:txBody>
      </p:sp>
      <p:sp>
        <p:nvSpPr>
          <p:cNvPr id="35" name="Text 33"/>
          <p:cNvSpPr/>
          <p:nvPr/>
        </p:nvSpPr>
        <p:spPr>
          <a:xfrm>
            <a:off x="6839712" y="4818888"/>
            <a:ext cx="3337560" cy="347472"/>
          </a:xfrm>
          <a:prstGeom prst="rect">
            <a:avLst/>
          </a:prstGeom>
          <a:noFill/>
          <a:ln/>
        </p:spPr>
        <p:txBody>
          <a:bodyPr wrap="square" lIns="0" tIns="0" rIns="0" bIns="0" rtlCol="0" anchor="t">
            <a:normAutofit/>
          </a:bodyPr>
          <a:lstStyle/>
          <a:p>
            <a:pPr algn="l" indent="0" marL="0">
              <a:buNone/>
            </a:pPr>
            <a:r>
              <a:rPr lang="en-US" sz="1060" dirty="0">
                <a:solidFill>
                  <a:srgbClr val="B7C4D6"/>
                </a:solidFill>
                <a:latin typeface="Aptos" pitchFamily="34" charset="0"/>
                <a:ea typeface="Aptos" pitchFamily="34" charset="-122"/>
                <a:cs typeface="Aptos" pitchFamily="34" charset="-120"/>
              </a:rPr>
              <a:t>Verification, testability, timing and system roles</a:t>
            </a:r>
            <a:endParaRPr lang="en-US" sz="1060" dirty="0"/>
          </a:p>
        </p:txBody>
      </p:sp>
      <p:sp>
        <p:nvSpPr>
          <p:cNvPr id="36" name="Text 34"/>
          <p:cNvSpPr/>
          <p:nvPr/>
        </p:nvSpPr>
        <p:spPr>
          <a:xfrm>
            <a:off x="10625328" y="4837176"/>
            <a:ext cx="640080" cy="246888"/>
          </a:xfrm>
          <a:prstGeom prst="rect">
            <a:avLst/>
          </a:prstGeom>
          <a:noFill/>
          <a:ln/>
        </p:spPr>
        <p:txBody>
          <a:bodyPr wrap="square" lIns="0" tIns="0" rIns="0" bIns="0" rtlCol="0" anchor="ctr">
            <a:normAutofit/>
          </a:bodyPr>
          <a:lstStyle/>
          <a:p>
            <a:pPr algn="r" indent="0" marL="0">
              <a:buNone/>
            </a:pPr>
            <a:r>
              <a:rPr lang="en-US" sz="1310" b="1" dirty="0">
                <a:solidFill>
                  <a:srgbClr val="70D6A7"/>
                </a:solidFill>
                <a:latin typeface="Aptos" pitchFamily="34" charset="0"/>
                <a:ea typeface="Aptos" pitchFamily="34" charset="-122"/>
                <a:cs typeface="Aptos" pitchFamily="34" charset="-120"/>
              </a:rPr>
              <a:t>Other</a:t>
            </a:r>
            <a:endParaRPr lang="en-US" sz="1310" dirty="0"/>
          </a:p>
        </p:txBody>
      </p:sp>
      <p:sp>
        <p:nvSpPr>
          <p:cNvPr id="37" name="Text 35"/>
          <p:cNvSpPr/>
          <p:nvPr/>
        </p:nvSpPr>
        <p:spPr>
          <a:xfrm>
            <a:off x="576072" y="6236208"/>
            <a:ext cx="10835640" cy="164592"/>
          </a:xfrm>
          <a:prstGeom prst="rect">
            <a:avLst/>
          </a:prstGeom>
          <a:noFill/>
          <a:ln/>
        </p:spPr>
        <p:txBody>
          <a:bodyPr wrap="square" lIns="0" tIns="0" rIns="0" bIns="0" rtlCol="0" anchor="ctr">
            <a:normAutofit/>
          </a:bodyPr>
          <a:lstStyle/>
          <a:p>
            <a:pPr algn="l" indent="0" marL="0">
              <a:buNone/>
            </a:pPr>
            <a:r>
              <a:rPr lang="en-US" sz="730" dirty="0">
                <a:solidFill>
                  <a:srgbClr val="6F829A"/>
                </a:solidFill>
                <a:latin typeface="Aptos" pitchFamily="34" charset="0"/>
                <a:ea typeface="Aptos" pitchFamily="34" charset="-122"/>
                <a:cs typeface="Aptos" pitchFamily="34" charset="-120"/>
              </a:rPr>
              <a:t>The 66-role figure and role counts are presented as the group’s 2026 recruiting snapshot.</a:t>
            </a:r>
            <a:endParaRPr lang="en-US" sz="730" dirty="0"/>
          </a:p>
        </p:txBody>
      </p:sp>
      <p:sp>
        <p:nvSpPr>
          <p:cNvPr id="25" name="Slide Number Placeholder 0"/>
          <p:cNvSpPr>
            <a:spLocks noGrp="1"/>
          </p:cNvSpPr>
          <p:nvPr>
            <p:ph type="sldNum" sz="quarter" idx="4294967295"/>
          </p:nvPr>
        </p:nvSpPr>
        <p:spPr>
          <a:xfrm>
            <a:off x="11201400" y="650138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F829A"/>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47472"/>
            <a:ext cx="5303520" cy="201168"/>
          </a:xfrm>
          <a:prstGeom prst="rect">
            <a:avLst/>
          </a:prstGeom>
          <a:noFill/>
          <a:ln/>
        </p:spPr>
        <p:txBody>
          <a:bodyPr wrap="square" lIns="0" tIns="0" rIns="0" bIns="0" rtlCol="0" anchor="ctr">
            <a:normAutofit/>
          </a:bodyPr>
          <a:lstStyle/>
          <a:p>
            <a:pPr algn="l" indent="0" marL="0">
              <a:buNone/>
            </a:pPr>
            <a:r>
              <a:rPr lang="en-US" sz="930" b="1" spc="140" kern="0" dirty="0">
                <a:solidFill>
                  <a:srgbClr val="4FD1C5"/>
                </a:solidFill>
                <a:latin typeface="Aptos" pitchFamily="34" charset="0"/>
                <a:ea typeface="Aptos" pitchFamily="34" charset="-122"/>
                <a:cs typeface="Aptos" pitchFamily="34" charset="-120"/>
              </a:rPr>
              <a:t>FRONT-END CAREERS</a:t>
            </a:r>
            <a:endParaRPr lang="en-US" sz="930" dirty="0"/>
          </a:p>
        </p:txBody>
      </p:sp>
      <p:sp>
        <p:nvSpPr>
          <p:cNvPr id="3" name="Text 1"/>
          <p:cNvSpPr/>
          <p:nvPr/>
        </p:nvSpPr>
        <p:spPr>
          <a:xfrm>
            <a:off x="566928" y="566928"/>
            <a:ext cx="10881360" cy="530352"/>
          </a:xfrm>
          <a:prstGeom prst="rect">
            <a:avLst/>
          </a:prstGeom>
          <a:noFill/>
          <a:ln/>
        </p:spPr>
        <p:txBody>
          <a:bodyPr wrap="square" lIns="0" tIns="0" rIns="0" bIns="0" rtlCol="0" anchor="ctr">
            <a:normAutofit/>
          </a:bodyPr>
          <a:lstStyle/>
          <a:p>
            <a:pPr algn="l" indent="0" marL="0">
              <a:buNone/>
            </a:pPr>
            <a:r>
              <a:rPr lang="en-US" sz="2750" b="1" dirty="0">
                <a:solidFill>
                  <a:srgbClr val="F5F8FC"/>
                </a:solidFill>
                <a:latin typeface="Aptos Display" pitchFamily="34" charset="0"/>
                <a:ea typeface="Aptos Display" pitchFamily="34" charset="-122"/>
                <a:cs typeface="Aptos Display" pitchFamily="34" charset="-120"/>
              </a:rPr>
              <a:t>Digital RTL Design &amp; Design Verification</a:t>
            </a:r>
            <a:endParaRPr lang="en-US" sz="2750" dirty="0"/>
          </a:p>
        </p:txBody>
      </p:sp>
      <p:sp>
        <p:nvSpPr>
          <p:cNvPr id="4" name="Shape 2"/>
          <p:cNvSpPr/>
          <p:nvPr/>
        </p:nvSpPr>
        <p:spPr>
          <a:xfrm>
            <a:off x="9555480" y="338328"/>
            <a:ext cx="2057400" cy="310896"/>
          </a:xfrm>
          <a:prstGeom prst="roundRect">
            <a:avLst>
              <a:gd name="adj" fmla="val 35294"/>
            </a:avLst>
          </a:prstGeom>
          <a:solidFill>
            <a:srgbClr val="10263D"/>
          </a:solidFill>
          <a:ln w="12700">
            <a:solidFill>
              <a:srgbClr val="26415D"/>
            </a:solidFill>
            <a:prstDash val="solid"/>
          </a:ln>
        </p:spPr>
      </p:sp>
      <p:sp>
        <p:nvSpPr>
          <p:cNvPr id="5" name="Text 3"/>
          <p:cNvSpPr/>
          <p:nvPr/>
        </p:nvSpPr>
        <p:spPr>
          <a:xfrm>
            <a:off x="9646920" y="370332"/>
            <a:ext cx="1874520" cy="210312"/>
          </a:xfrm>
          <a:prstGeom prst="rect">
            <a:avLst/>
          </a:prstGeom>
          <a:noFill/>
          <a:ln/>
        </p:spPr>
        <p:txBody>
          <a:bodyPr wrap="square" lIns="0" tIns="0" rIns="0" bIns="0" rtlCol="0" anchor="ctr">
            <a:normAutofit/>
          </a:bodyPr>
          <a:lstStyle/>
          <a:p>
            <a:pPr algn="ctr" indent="0" marL="0">
              <a:buNone/>
            </a:pPr>
            <a:r>
              <a:rPr lang="en-US" sz="840" b="1" dirty="0">
                <a:solidFill>
                  <a:srgbClr val="D9E8F6"/>
                </a:solidFill>
                <a:latin typeface="Aptos" pitchFamily="34" charset="0"/>
                <a:ea typeface="Aptos" pitchFamily="34" charset="-122"/>
                <a:cs typeface="Aptos" pitchFamily="34" charset="-120"/>
              </a:rPr>
              <a:t>NGUYỄN BỬU PHÚC</a:t>
            </a:r>
            <a:endParaRPr lang="en-US" sz="840" dirty="0"/>
          </a:p>
        </p:txBody>
      </p:sp>
      <p:sp>
        <p:nvSpPr>
          <p:cNvPr id="6" name="Shape 4"/>
          <p:cNvSpPr/>
          <p:nvPr/>
        </p:nvSpPr>
        <p:spPr>
          <a:xfrm>
            <a:off x="585216" y="1353312"/>
            <a:ext cx="5376672" cy="4517136"/>
          </a:xfrm>
          <a:prstGeom prst="roundRect">
            <a:avLst>
              <a:gd name="adj" fmla="val 2429"/>
            </a:avLst>
          </a:prstGeom>
          <a:solidFill>
            <a:srgbClr val="0D1B2C"/>
          </a:solidFill>
          <a:ln w="12700">
            <a:solidFill>
              <a:srgbClr val="26415D"/>
            </a:solidFill>
            <a:prstDash val="solid"/>
          </a:ln>
        </p:spPr>
      </p:sp>
      <p:sp>
        <p:nvSpPr>
          <p:cNvPr id="7" name="Shape 5"/>
          <p:cNvSpPr/>
          <p:nvPr/>
        </p:nvSpPr>
        <p:spPr>
          <a:xfrm>
            <a:off x="859536" y="1627632"/>
            <a:ext cx="1938528" cy="310896"/>
          </a:xfrm>
          <a:prstGeom prst="roundRect">
            <a:avLst>
              <a:gd name="adj" fmla="val 41176"/>
            </a:avLst>
          </a:prstGeom>
          <a:solidFill>
            <a:srgbClr val="0D2435">
              <a:alpha val="90000"/>
            </a:srgbClr>
          </a:solidFill>
          <a:ln w="12700">
            <a:solidFill>
              <a:srgbClr val="4FD1C5">
                <a:alpha val="60000"/>
              </a:srgbClr>
            </a:solidFill>
            <a:prstDash val="solid"/>
          </a:ln>
        </p:spPr>
      </p:sp>
      <p:sp>
        <p:nvSpPr>
          <p:cNvPr id="8" name="Shape 6"/>
          <p:cNvSpPr/>
          <p:nvPr/>
        </p:nvSpPr>
        <p:spPr>
          <a:xfrm>
            <a:off x="950976" y="1732788"/>
            <a:ext cx="73152" cy="73152"/>
          </a:xfrm>
          <a:prstGeom prst="ellipse">
            <a:avLst/>
          </a:prstGeom>
          <a:solidFill>
            <a:srgbClr val="4FD1C5"/>
          </a:solidFill>
          <a:ln w="12700">
            <a:solidFill>
              <a:srgbClr val="4FD1C5"/>
            </a:solidFill>
            <a:prstDash val="solid"/>
          </a:ln>
        </p:spPr>
      </p:sp>
      <p:sp>
        <p:nvSpPr>
          <p:cNvPr id="9" name="Text 7"/>
          <p:cNvSpPr/>
          <p:nvPr/>
        </p:nvSpPr>
        <p:spPr>
          <a:xfrm>
            <a:off x="1069848" y="1645920"/>
            <a:ext cx="1691640"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Digital / RTL Design</a:t>
            </a:r>
            <a:endParaRPr lang="en-US" sz="920" dirty="0"/>
          </a:p>
        </p:txBody>
      </p:sp>
      <p:sp>
        <p:nvSpPr>
          <p:cNvPr id="10" name="Text 8"/>
          <p:cNvSpPr/>
          <p:nvPr/>
        </p:nvSpPr>
        <p:spPr>
          <a:xfrm>
            <a:off x="859536" y="2139696"/>
            <a:ext cx="4023360" cy="411480"/>
          </a:xfrm>
          <a:prstGeom prst="rect">
            <a:avLst/>
          </a:prstGeom>
          <a:noFill/>
          <a:ln/>
        </p:spPr>
        <p:txBody>
          <a:bodyPr wrap="square" lIns="0" tIns="0" rIns="0" bIns="0" rtlCol="0" anchor="ctr">
            <a:normAutofit/>
          </a:bodyPr>
          <a:lstStyle/>
          <a:p>
            <a:pPr algn="l" indent="0" marL="0">
              <a:buNone/>
            </a:pPr>
            <a:r>
              <a:rPr lang="en-US" sz="2400" b="1" dirty="0">
                <a:solidFill>
                  <a:srgbClr val="F5F8FC"/>
                </a:solidFill>
                <a:latin typeface="Aptos Display" pitchFamily="34" charset="0"/>
                <a:ea typeface="Aptos Display" pitchFamily="34" charset="-122"/>
                <a:cs typeface="Aptos Display" pitchFamily="34" charset="-120"/>
              </a:rPr>
              <a:t>Build the logic</a:t>
            </a:r>
            <a:endParaRPr lang="en-US" sz="2400" dirty="0"/>
          </a:p>
        </p:txBody>
      </p:sp>
      <p:sp>
        <p:nvSpPr>
          <p:cNvPr id="11" name="Text 9"/>
          <p:cNvSpPr/>
          <p:nvPr/>
        </p:nvSpPr>
        <p:spPr>
          <a:xfrm>
            <a:off x="859536" y="2624328"/>
            <a:ext cx="4443984" cy="749808"/>
          </a:xfrm>
          <a:prstGeom prst="rect">
            <a:avLst/>
          </a:prstGeom>
          <a:noFill/>
          <a:ln/>
        </p:spPr>
        <p:txBody>
          <a:bodyPr wrap="square" lIns="0" tIns="0" rIns="0" bIns="0" rtlCol="0" anchor="t">
            <a:normAutofit/>
          </a:bodyPr>
          <a:lstStyle/>
          <a:p>
            <a:pPr algn="l" indent="0" marL="0">
              <a:buNone/>
            </a:pPr>
            <a:r>
              <a:rPr lang="en-US" sz="1370" dirty="0">
                <a:solidFill>
                  <a:srgbClr val="B7C4D6"/>
                </a:solidFill>
                <a:latin typeface="Aptos" pitchFamily="34" charset="0"/>
                <a:ea typeface="Aptos" pitchFamily="34" charset="-122"/>
                <a:cs typeface="Aptos" pitchFamily="34" charset="-120"/>
              </a:rPr>
              <a:t>Translate architecture into synthesizable RTL and drive blocks toward power, performance and area targets.</a:t>
            </a:r>
            <a:endParaRPr lang="en-US" sz="1370" dirty="0"/>
          </a:p>
        </p:txBody>
      </p:sp>
      <p:sp>
        <p:nvSpPr>
          <p:cNvPr id="12" name="Shape 10"/>
          <p:cNvSpPr/>
          <p:nvPr/>
        </p:nvSpPr>
        <p:spPr>
          <a:xfrm>
            <a:off x="859536" y="3593592"/>
            <a:ext cx="1234440" cy="283464"/>
          </a:xfrm>
          <a:prstGeom prst="roundRect">
            <a:avLst>
              <a:gd name="adj" fmla="val 38710"/>
            </a:avLst>
          </a:prstGeom>
          <a:solidFill>
            <a:srgbClr val="0C2235"/>
          </a:solidFill>
          <a:ln w="12700">
            <a:solidFill>
              <a:srgbClr val="34506E"/>
            </a:solidFill>
            <a:prstDash val="solid"/>
          </a:ln>
        </p:spPr>
      </p:sp>
      <p:sp>
        <p:nvSpPr>
          <p:cNvPr id="13" name="Text 11"/>
          <p:cNvSpPr/>
          <p:nvPr/>
        </p:nvSpPr>
        <p:spPr>
          <a:xfrm>
            <a:off x="905256" y="3625596"/>
            <a:ext cx="1143000" cy="210312"/>
          </a:xfrm>
          <a:prstGeom prst="rect">
            <a:avLst/>
          </a:prstGeom>
          <a:noFill/>
          <a:ln/>
        </p:spPr>
        <p:txBody>
          <a:bodyPr wrap="square" lIns="0" tIns="0" rIns="0" bIns="0" rtlCol="0" anchor="ctr">
            <a:normAutofit/>
          </a:bodyPr>
          <a:lstStyle/>
          <a:p>
            <a:pPr algn="ctr" indent="0" marL="0">
              <a:buNone/>
            </a:pPr>
            <a:r>
              <a:rPr lang="en-US" sz="910" dirty="0">
                <a:solidFill>
                  <a:srgbClr val="D9E9FA"/>
                </a:solidFill>
                <a:latin typeface="Aptos" pitchFamily="34" charset="0"/>
                <a:ea typeface="Aptos" pitchFamily="34" charset="-122"/>
                <a:cs typeface="Aptos" pitchFamily="34" charset="-120"/>
              </a:rPr>
              <a:t>Verilog</a:t>
            </a:r>
            <a:endParaRPr lang="en-US" sz="910" dirty="0"/>
          </a:p>
        </p:txBody>
      </p:sp>
      <p:sp>
        <p:nvSpPr>
          <p:cNvPr id="14" name="Shape 12"/>
          <p:cNvSpPr/>
          <p:nvPr/>
        </p:nvSpPr>
        <p:spPr>
          <a:xfrm>
            <a:off x="2249424" y="3593592"/>
            <a:ext cx="1234440" cy="283464"/>
          </a:xfrm>
          <a:prstGeom prst="roundRect">
            <a:avLst>
              <a:gd name="adj" fmla="val 38710"/>
            </a:avLst>
          </a:prstGeom>
          <a:solidFill>
            <a:srgbClr val="0C2235"/>
          </a:solidFill>
          <a:ln w="12700">
            <a:solidFill>
              <a:srgbClr val="34506E"/>
            </a:solidFill>
            <a:prstDash val="solid"/>
          </a:ln>
        </p:spPr>
      </p:sp>
      <p:sp>
        <p:nvSpPr>
          <p:cNvPr id="15" name="Text 13"/>
          <p:cNvSpPr/>
          <p:nvPr/>
        </p:nvSpPr>
        <p:spPr>
          <a:xfrm>
            <a:off x="2295144" y="3625596"/>
            <a:ext cx="1143000" cy="210312"/>
          </a:xfrm>
          <a:prstGeom prst="rect">
            <a:avLst/>
          </a:prstGeom>
          <a:noFill/>
          <a:ln/>
        </p:spPr>
        <p:txBody>
          <a:bodyPr wrap="square" lIns="0" tIns="0" rIns="0" bIns="0" rtlCol="0" anchor="ctr">
            <a:normAutofit/>
          </a:bodyPr>
          <a:lstStyle/>
          <a:p>
            <a:pPr algn="ctr" indent="0" marL="0">
              <a:buNone/>
            </a:pPr>
            <a:r>
              <a:rPr lang="en-US" sz="910" dirty="0">
                <a:solidFill>
                  <a:srgbClr val="D9E9FA"/>
                </a:solidFill>
                <a:latin typeface="Aptos" pitchFamily="34" charset="0"/>
                <a:ea typeface="Aptos" pitchFamily="34" charset="-122"/>
                <a:cs typeface="Aptos" pitchFamily="34" charset="-120"/>
              </a:rPr>
              <a:t>SystemVerilog</a:t>
            </a:r>
            <a:endParaRPr lang="en-US" sz="910" dirty="0"/>
          </a:p>
        </p:txBody>
      </p:sp>
      <p:sp>
        <p:nvSpPr>
          <p:cNvPr id="16" name="Shape 14"/>
          <p:cNvSpPr/>
          <p:nvPr/>
        </p:nvSpPr>
        <p:spPr>
          <a:xfrm>
            <a:off x="3639312" y="3593592"/>
            <a:ext cx="1234440" cy="283464"/>
          </a:xfrm>
          <a:prstGeom prst="roundRect">
            <a:avLst>
              <a:gd name="adj" fmla="val 38710"/>
            </a:avLst>
          </a:prstGeom>
          <a:solidFill>
            <a:srgbClr val="0C2235"/>
          </a:solidFill>
          <a:ln w="12700">
            <a:solidFill>
              <a:srgbClr val="34506E"/>
            </a:solidFill>
            <a:prstDash val="solid"/>
          </a:ln>
        </p:spPr>
      </p:sp>
      <p:sp>
        <p:nvSpPr>
          <p:cNvPr id="17" name="Text 15"/>
          <p:cNvSpPr/>
          <p:nvPr/>
        </p:nvSpPr>
        <p:spPr>
          <a:xfrm>
            <a:off x="3685032" y="3625596"/>
            <a:ext cx="1143000" cy="210312"/>
          </a:xfrm>
          <a:prstGeom prst="rect">
            <a:avLst/>
          </a:prstGeom>
          <a:noFill/>
          <a:ln/>
        </p:spPr>
        <p:txBody>
          <a:bodyPr wrap="square" lIns="0" tIns="0" rIns="0" bIns="0" rtlCol="0" anchor="ctr">
            <a:normAutofit/>
          </a:bodyPr>
          <a:lstStyle/>
          <a:p>
            <a:pPr algn="ctr" indent="0" marL="0">
              <a:buNone/>
            </a:pPr>
            <a:r>
              <a:rPr lang="en-US" sz="910" dirty="0">
                <a:solidFill>
                  <a:srgbClr val="D9E9FA"/>
                </a:solidFill>
                <a:latin typeface="Aptos" pitchFamily="34" charset="0"/>
                <a:ea typeface="Aptos" pitchFamily="34" charset="-122"/>
                <a:cs typeface="Aptos" pitchFamily="34" charset="-120"/>
              </a:rPr>
              <a:t>Digital Logic</a:t>
            </a:r>
            <a:endParaRPr lang="en-US" sz="910" dirty="0"/>
          </a:p>
        </p:txBody>
      </p:sp>
      <p:sp>
        <p:nvSpPr>
          <p:cNvPr id="18" name="Shape 16"/>
          <p:cNvSpPr/>
          <p:nvPr/>
        </p:nvSpPr>
        <p:spPr>
          <a:xfrm>
            <a:off x="859536" y="4014216"/>
            <a:ext cx="1234440" cy="283464"/>
          </a:xfrm>
          <a:prstGeom prst="roundRect">
            <a:avLst>
              <a:gd name="adj" fmla="val 38710"/>
            </a:avLst>
          </a:prstGeom>
          <a:solidFill>
            <a:srgbClr val="0C2235"/>
          </a:solidFill>
          <a:ln w="12700">
            <a:solidFill>
              <a:srgbClr val="34506E"/>
            </a:solidFill>
            <a:prstDash val="solid"/>
          </a:ln>
        </p:spPr>
      </p:sp>
      <p:sp>
        <p:nvSpPr>
          <p:cNvPr id="19" name="Text 17"/>
          <p:cNvSpPr/>
          <p:nvPr/>
        </p:nvSpPr>
        <p:spPr>
          <a:xfrm>
            <a:off x="905256" y="4046220"/>
            <a:ext cx="1143000" cy="210312"/>
          </a:xfrm>
          <a:prstGeom prst="rect">
            <a:avLst/>
          </a:prstGeom>
          <a:noFill/>
          <a:ln/>
        </p:spPr>
        <p:txBody>
          <a:bodyPr wrap="square" lIns="0" tIns="0" rIns="0" bIns="0" rtlCol="0" anchor="ctr">
            <a:normAutofit/>
          </a:bodyPr>
          <a:lstStyle/>
          <a:p>
            <a:pPr algn="ctr" indent="0" marL="0">
              <a:buNone/>
            </a:pPr>
            <a:r>
              <a:rPr lang="en-US" sz="910" dirty="0">
                <a:solidFill>
                  <a:srgbClr val="D9E9FA"/>
                </a:solidFill>
                <a:latin typeface="Aptos" pitchFamily="34" charset="0"/>
                <a:ea typeface="Aptos" pitchFamily="34" charset="-122"/>
                <a:cs typeface="Aptos" pitchFamily="34" charset="-120"/>
              </a:rPr>
              <a:t>FSM</a:t>
            </a:r>
            <a:endParaRPr lang="en-US" sz="910" dirty="0"/>
          </a:p>
        </p:txBody>
      </p:sp>
      <p:sp>
        <p:nvSpPr>
          <p:cNvPr id="20" name="Shape 18"/>
          <p:cNvSpPr/>
          <p:nvPr/>
        </p:nvSpPr>
        <p:spPr>
          <a:xfrm>
            <a:off x="2249424" y="4014216"/>
            <a:ext cx="1234440" cy="283464"/>
          </a:xfrm>
          <a:prstGeom prst="roundRect">
            <a:avLst>
              <a:gd name="adj" fmla="val 38710"/>
            </a:avLst>
          </a:prstGeom>
          <a:solidFill>
            <a:srgbClr val="0C2235"/>
          </a:solidFill>
          <a:ln w="12700">
            <a:solidFill>
              <a:srgbClr val="34506E"/>
            </a:solidFill>
            <a:prstDash val="solid"/>
          </a:ln>
        </p:spPr>
      </p:sp>
      <p:sp>
        <p:nvSpPr>
          <p:cNvPr id="21" name="Text 19"/>
          <p:cNvSpPr/>
          <p:nvPr/>
        </p:nvSpPr>
        <p:spPr>
          <a:xfrm>
            <a:off x="2295144" y="4046220"/>
            <a:ext cx="1143000" cy="210312"/>
          </a:xfrm>
          <a:prstGeom prst="rect">
            <a:avLst/>
          </a:prstGeom>
          <a:noFill/>
          <a:ln/>
        </p:spPr>
        <p:txBody>
          <a:bodyPr wrap="square" lIns="0" tIns="0" rIns="0" bIns="0" rtlCol="0" anchor="ctr">
            <a:normAutofit/>
          </a:bodyPr>
          <a:lstStyle/>
          <a:p>
            <a:pPr algn="ctr" indent="0" marL="0">
              <a:buNone/>
            </a:pPr>
            <a:r>
              <a:rPr lang="en-US" sz="910" dirty="0">
                <a:solidFill>
                  <a:srgbClr val="D9E9FA"/>
                </a:solidFill>
                <a:latin typeface="Aptos" pitchFamily="34" charset="0"/>
                <a:ea typeface="Aptos" pitchFamily="34" charset="-122"/>
                <a:cs typeface="Aptos" pitchFamily="34" charset="-120"/>
              </a:rPr>
              <a:t>Computer Architecture</a:t>
            </a:r>
            <a:endParaRPr lang="en-US" sz="910" dirty="0"/>
          </a:p>
        </p:txBody>
      </p:sp>
      <p:sp>
        <p:nvSpPr>
          <p:cNvPr id="22" name="Shape 20"/>
          <p:cNvSpPr/>
          <p:nvPr/>
        </p:nvSpPr>
        <p:spPr>
          <a:xfrm>
            <a:off x="3639312" y="4014216"/>
            <a:ext cx="1234440" cy="283464"/>
          </a:xfrm>
          <a:prstGeom prst="roundRect">
            <a:avLst>
              <a:gd name="adj" fmla="val 38710"/>
            </a:avLst>
          </a:prstGeom>
          <a:solidFill>
            <a:srgbClr val="0C2235"/>
          </a:solidFill>
          <a:ln w="12700">
            <a:solidFill>
              <a:srgbClr val="34506E"/>
            </a:solidFill>
            <a:prstDash val="solid"/>
          </a:ln>
        </p:spPr>
      </p:sp>
      <p:sp>
        <p:nvSpPr>
          <p:cNvPr id="23" name="Text 21"/>
          <p:cNvSpPr/>
          <p:nvPr/>
        </p:nvSpPr>
        <p:spPr>
          <a:xfrm>
            <a:off x="3685032" y="4046220"/>
            <a:ext cx="1143000" cy="210312"/>
          </a:xfrm>
          <a:prstGeom prst="rect">
            <a:avLst/>
          </a:prstGeom>
          <a:noFill/>
          <a:ln/>
        </p:spPr>
        <p:txBody>
          <a:bodyPr wrap="square" lIns="0" tIns="0" rIns="0" bIns="0" rtlCol="0" anchor="ctr">
            <a:normAutofit/>
          </a:bodyPr>
          <a:lstStyle/>
          <a:p>
            <a:pPr algn="ctr" indent="0" marL="0">
              <a:buNone/>
            </a:pPr>
            <a:r>
              <a:rPr lang="en-US" sz="910" dirty="0">
                <a:solidFill>
                  <a:srgbClr val="D9E9FA"/>
                </a:solidFill>
                <a:latin typeface="Aptos" pitchFamily="34" charset="0"/>
                <a:ea typeface="Aptos" pitchFamily="34" charset="-122"/>
                <a:cs typeface="Aptos" pitchFamily="34" charset="-120"/>
              </a:rPr>
              <a:t>Synthesis</a:t>
            </a:r>
            <a:endParaRPr lang="en-US" sz="910" dirty="0"/>
          </a:p>
        </p:txBody>
      </p:sp>
      <p:sp>
        <p:nvSpPr>
          <p:cNvPr id="24" name="Shape 22"/>
          <p:cNvSpPr/>
          <p:nvPr/>
        </p:nvSpPr>
        <p:spPr>
          <a:xfrm>
            <a:off x="859536" y="4434840"/>
            <a:ext cx="1234440" cy="283464"/>
          </a:xfrm>
          <a:prstGeom prst="roundRect">
            <a:avLst>
              <a:gd name="adj" fmla="val 38710"/>
            </a:avLst>
          </a:prstGeom>
          <a:solidFill>
            <a:srgbClr val="0C2235"/>
          </a:solidFill>
          <a:ln w="12700">
            <a:solidFill>
              <a:srgbClr val="34506E"/>
            </a:solidFill>
            <a:prstDash val="solid"/>
          </a:ln>
        </p:spPr>
      </p:sp>
      <p:sp>
        <p:nvSpPr>
          <p:cNvPr id="25" name="Text 23"/>
          <p:cNvSpPr/>
          <p:nvPr/>
        </p:nvSpPr>
        <p:spPr>
          <a:xfrm>
            <a:off x="905256" y="4466844"/>
            <a:ext cx="1143000" cy="210312"/>
          </a:xfrm>
          <a:prstGeom prst="rect">
            <a:avLst/>
          </a:prstGeom>
          <a:noFill/>
          <a:ln/>
        </p:spPr>
        <p:txBody>
          <a:bodyPr wrap="square" lIns="0" tIns="0" rIns="0" bIns="0" rtlCol="0" anchor="ctr">
            <a:normAutofit/>
          </a:bodyPr>
          <a:lstStyle/>
          <a:p>
            <a:pPr algn="ctr" indent="0" marL="0">
              <a:buNone/>
            </a:pPr>
            <a:r>
              <a:rPr lang="en-US" sz="910" dirty="0">
                <a:solidFill>
                  <a:srgbClr val="D9E9FA"/>
                </a:solidFill>
                <a:latin typeface="Aptos" pitchFamily="34" charset="0"/>
                <a:ea typeface="Aptos" pitchFamily="34" charset="-122"/>
                <a:cs typeface="Aptos" pitchFamily="34" charset="-120"/>
              </a:rPr>
              <a:t>Timing constraints</a:t>
            </a:r>
            <a:endParaRPr lang="en-US" sz="910" dirty="0"/>
          </a:p>
        </p:txBody>
      </p:sp>
      <p:sp>
        <p:nvSpPr>
          <p:cNvPr id="26" name="Text 24"/>
          <p:cNvSpPr/>
          <p:nvPr/>
        </p:nvSpPr>
        <p:spPr>
          <a:xfrm>
            <a:off x="859536" y="5148072"/>
            <a:ext cx="4480560" cy="475488"/>
          </a:xfrm>
          <a:prstGeom prst="rect">
            <a:avLst/>
          </a:prstGeom>
          <a:noFill/>
          <a:ln/>
        </p:spPr>
        <p:txBody>
          <a:bodyPr wrap="square" lIns="0" tIns="0" rIns="0" bIns="0" rtlCol="0" anchor="ctr">
            <a:normAutofit/>
          </a:bodyPr>
          <a:lstStyle/>
          <a:p>
            <a:pPr algn="ctr" indent="0" marL="0">
              <a:buNone/>
            </a:pPr>
            <a:r>
              <a:rPr lang="en-US" sz="1180" b="1" dirty="0">
                <a:solidFill>
                  <a:srgbClr val="DFFCF9"/>
                </a:solidFill>
                <a:latin typeface="Aptos" pitchFamily="34" charset="0"/>
                <a:ea typeface="Aptos" pitchFamily="34" charset="-122"/>
                <a:cs typeface="Aptos" pitchFamily="34" charset="-120"/>
              </a:rPr>
              <a:t>Typical collaboration: Architect ↔ RTL Designer ↔ Verification ↔ Physical Design</a:t>
            </a:r>
            <a:endParaRPr lang="en-US" sz="1180" dirty="0"/>
          </a:p>
        </p:txBody>
      </p:sp>
      <p:sp>
        <p:nvSpPr>
          <p:cNvPr id="27" name="Shape 25"/>
          <p:cNvSpPr/>
          <p:nvPr/>
        </p:nvSpPr>
        <p:spPr>
          <a:xfrm>
            <a:off x="6190488" y="1353312"/>
            <a:ext cx="5404104" cy="4517136"/>
          </a:xfrm>
          <a:prstGeom prst="roundRect">
            <a:avLst>
              <a:gd name="adj" fmla="val 2429"/>
            </a:avLst>
          </a:prstGeom>
          <a:solidFill>
            <a:srgbClr val="0D1B2C"/>
          </a:solidFill>
          <a:ln w="12700">
            <a:solidFill>
              <a:srgbClr val="26415D"/>
            </a:solidFill>
            <a:prstDash val="solid"/>
          </a:ln>
        </p:spPr>
      </p:sp>
      <p:sp>
        <p:nvSpPr>
          <p:cNvPr id="28" name="Shape 26"/>
          <p:cNvSpPr/>
          <p:nvPr/>
        </p:nvSpPr>
        <p:spPr>
          <a:xfrm>
            <a:off x="6464808" y="1627632"/>
            <a:ext cx="1901952" cy="310896"/>
          </a:xfrm>
          <a:prstGeom prst="roundRect">
            <a:avLst>
              <a:gd name="adj" fmla="val 41176"/>
            </a:avLst>
          </a:prstGeom>
          <a:solidFill>
            <a:srgbClr val="0D2435">
              <a:alpha val="90000"/>
            </a:srgbClr>
          </a:solidFill>
          <a:ln w="12700">
            <a:solidFill>
              <a:srgbClr val="6AA7FF">
                <a:alpha val="60000"/>
              </a:srgbClr>
            </a:solidFill>
            <a:prstDash val="solid"/>
          </a:ln>
        </p:spPr>
      </p:sp>
      <p:sp>
        <p:nvSpPr>
          <p:cNvPr id="29" name="Shape 27"/>
          <p:cNvSpPr/>
          <p:nvPr/>
        </p:nvSpPr>
        <p:spPr>
          <a:xfrm>
            <a:off x="6556248" y="1732788"/>
            <a:ext cx="73152" cy="73152"/>
          </a:xfrm>
          <a:prstGeom prst="ellipse">
            <a:avLst/>
          </a:prstGeom>
          <a:solidFill>
            <a:srgbClr val="6AA7FF"/>
          </a:solidFill>
          <a:ln w="12700">
            <a:solidFill>
              <a:srgbClr val="6AA7FF"/>
            </a:solidFill>
            <a:prstDash val="solid"/>
          </a:ln>
        </p:spPr>
      </p:sp>
      <p:sp>
        <p:nvSpPr>
          <p:cNvPr id="30" name="Text 28"/>
          <p:cNvSpPr/>
          <p:nvPr/>
        </p:nvSpPr>
        <p:spPr>
          <a:xfrm>
            <a:off x="6675120" y="1645920"/>
            <a:ext cx="1655064"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Design Verification</a:t>
            </a:r>
            <a:endParaRPr lang="en-US" sz="920" dirty="0"/>
          </a:p>
        </p:txBody>
      </p:sp>
      <p:sp>
        <p:nvSpPr>
          <p:cNvPr id="31" name="Text 29"/>
          <p:cNvSpPr/>
          <p:nvPr/>
        </p:nvSpPr>
        <p:spPr>
          <a:xfrm>
            <a:off x="6464808" y="2139696"/>
            <a:ext cx="4251960" cy="411480"/>
          </a:xfrm>
          <a:prstGeom prst="rect">
            <a:avLst/>
          </a:prstGeom>
          <a:noFill/>
          <a:ln/>
        </p:spPr>
        <p:txBody>
          <a:bodyPr wrap="square" lIns="0" tIns="0" rIns="0" bIns="0" rtlCol="0" anchor="ctr">
            <a:normAutofit/>
          </a:bodyPr>
          <a:lstStyle/>
          <a:p>
            <a:pPr algn="l" indent="0" marL="0">
              <a:buNone/>
            </a:pPr>
            <a:r>
              <a:rPr lang="en-US" sz="2400" b="1" dirty="0">
                <a:solidFill>
                  <a:srgbClr val="F5F8FC"/>
                </a:solidFill>
                <a:latin typeface="Aptos Display" pitchFamily="34" charset="0"/>
                <a:ea typeface="Aptos Display" pitchFamily="34" charset="-122"/>
                <a:cs typeface="Aptos Display" pitchFamily="34" charset="-120"/>
              </a:rPr>
              <a:t>Prove the logic works</a:t>
            </a:r>
            <a:endParaRPr lang="en-US" sz="2400" dirty="0"/>
          </a:p>
        </p:txBody>
      </p:sp>
      <p:sp>
        <p:nvSpPr>
          <p:cNvPr id="32" name="Text 30"/>
          <p:cNvSpPr/>
          <p:nvPr/>
        </p:nvSpPr>
        <p:spPr>
          <a:xfrm>
            <a:off x="6464808" y="2624328"/>
            <a:ext cx="4389120" cy="749808"/>
          </a:xfrm>
          <a:prstGeom prst="rect">
            <a:avLst/>
          </a:prstGeom>
          <a:noFill/>
          <a:ln/>
        </p:spPr>
        <p:txBody>
          <a:bodyPr wrap="square" lIns="0" tIns="0" rIns="0" bIns="0" rtlCol="0" anchor="t">
            <a:normAutofit/>
          </a:bodyPr>
          <a:lstStyle/>
          <a:p>
            <a:pPr algn="l" indent="0" marL="0">
              <a:buNone/>
            </a:pPr>
            <a:r>
              <a:rPr lang="en-US" sz="1370" dirty="0">
                <a:solidFill>
                  <a:srgbClr val="B7C4D6"/>
                </a:solidFill>
                <a:latin typeface="Aptos" pitchFamily="34" charset="0"/>
                <a:ea typeface="Aptos" pitchFamily="34" charset="-122"/>
                <a:cs typeface="Aptos" pitchFamily="34" charset="-120"/>
              </a:rPr>
              <a:t>Develop verification plans, UVM environments, automated tests and functional coverage before silicon is built.</a:t>
            </a:r>
            <a:endParaRPr lang="en-US" sz="1370" dirty="0"/>
          </a:p>
        </p:txBody>
      </p:sp>
      <p:sp>
        <p:nvSpPr>
          <p:cNvPr id="33" name="Shape 31"/>
          <p:cNvSpPr/>
          <p:nvPr/>
        </p:nvSpPr>
        <p:spPr>
          <a:xfrm>
            <a:off x="6464808" y="3593592"/>
            <a:ext cx="1234440" cy="283464"/>
          </a:xfrm>
          <a:prstGeom prst="roundRect">
            <a:avLst>
              <a:gd name="adj" fmla="val 38710"/>
            </a:avLst>
          </a:prstGeom>
          <a:solidFill>
            <a:srgbClr val="0C2235"/>
          </a:solidFill>
          <a:ln w="12700">
            <a:solidFill>
              <a:srgbClr val="34506E"/>
            </a:solidFill>
            <a:prstDash val="solid"/>
          </a:ln>
        </p:spPr>
      </p:sp>
      <p:sp>
        <p:nvSpPr>
          <p:cNvPr id="34" name="Text 32"/>
          <p:cNvSpPr/>
          <p:nvPr/>
        </p:nvSpPr>
        <p:spPr>
          <a:xfrm>
            <a:off x="6510528" y="3625596"/>
            <a:ext cx="1143000" cy="210312"/>
          </a:xfrm>
          <a:prstGeom prst="rect">
            <a:avLst/>
          </a:prstGeom>
          <a:noFill/>
          <a:ln/>
        </p:spPr>
        <p:txBody>
          <a:bodyPr wrap="square" lIns="0" tIns="0" rIns="0" bIns="0" rtlCol="0" anchor="ctr">
            <a:normAutofit/>
          </a:bodyPr>
          <a:lstStyle/>
          <a:p>
            <a:pPr algn="ctr" indent="0" marL="0">
              <a:buNone/>
            </a:pPr>
            <a:r>
              <a:rPr lang="en-US" sz="910" dirty="0">
                <a:solidFill>
                  <a:srgbClr val="D9E9FA"/>
                </a:solidFill>
                <a:latin typeface="Aptos" pitchFamily="34" charset="0"/>
                <a:ea typeface="Aptos" pitchFamily="34" charset="-122"/>
                <a:cs typeface="Aptos" pitchFamily="34" charset="-120"/>
              </a:rPr>
              <a:t>SystemVerilog</a:t>
            </a:r>
            <a:endParaRPr lang="en-US" sz="910" dirty="0"/>
          </a:p>
        </p:txBody>
      </p:sp>
      <p:sp>
        <p:nvSpPr>
          <p:cNvPr id="35" name="Shape 33"/>
          <p:cNvSpPr/>
          <p:nvPr/>
        </p:nvSpPr>
        <p:spPr>
          <a:xfrm>
            <a:off x="7854696" y="3593592"/>
            <a:ext cx="1234440" cy="283464"/>
          </a:xfrm>
          <a:prstGeom prst="roundRect">
            <a:avLst>
              <a:gd name="adj" fmla="val 38710"/>
            </a:avLst>
          </a:prstGeom>
          <a:solidFill>
            <a:srgbClr val="0C2235"/>
          </a:solidFill>
          <a:ln w="12700">
            <a:solidFill>
              <a:srgbClr val="34506E"/>
            </a:solidFill>
            <a:prstDash val="solid"/>
          </a:ln>
        </p:spPr>
      </p:sp>
      <p:sp>
        <p:nvSpPr>
          <p:cNvPr id="36" name="Text 34"/>
          <p:cNvSpPr/>
          <p:nvPr/>
        </p:nvSpPr>
        <p:spPr>
          <a:xfrm>
            <a:off x="7900416" y="3625596"/>
            <a:ext cx="1143000" cy="210312"/>
          </a:xfrm>
          <a:prstGeom prst="rect">
            <a:avLst/>
          </a:prstGeom>
          <a:noFill/>
          <a:ln/>
        </p:spPr>
        <p:txBody>
          <a:bodyPr wrap="square" lIns="0" tIns="0" rIns="0" bIns="0" rtlCol="0" anchor="ctr">
            <a:normAutofit/>
          </a:bodyPr>
          <a:lstStyle/>
          <a:p>
            <a:pPr algn="ctr" indent="0" marL="0">
              <a:buNone/>
            </a:pPr>
            <a:r>
              <a:rPr lang="en-US" sz="910" dirty="0">
                <a:solidFill>
                  <a:srgbClr val="D9E9FA"/>
                </a:solidFill>
                <a:latin typeface="Aptos" pitchFamily="34" charset="0"/>
                <a:ea typeface="Aptos" pitchFamily="34" charset="-122"/>
                <a:cs typeface="Aptos" pitchFamily="34" charset="-120"/>
              </a:rPr>
              <a:t>UVM</a:t>
            </a:r>
            <a:endParaRPr lang="en-US" sz="910" dirty="0"/>
          </a:p>
        </p:txBody>
      </p:sp>
      <p:sp>
        <p:nvSpPr>
          <p:cNvPr id="37" name="Shape 35"/>
          <p:cNvSpPr/>
          <p:nvPr/>
        </p:nvSpPr>
        <p:spPr>
          <a:xfrm>
            <a:off x="9244584" y="3593592"/>
            <a:ext cx="1234440" cy="283464"/>
          </a:xfrm>
          <a:prstGeom prst="roundRect">
            <a:avLst>
              <a:gd name="adj" fmla="val 38710"/>
            </a:avLst>
          </a:prstGeom>
          <a:solidFill>
            <a:srgbClr val="0C2235"/>
          </a:solidFill>
          <a:ln w="12700">
            <a:solidFill>
              <a:srgbClr val="34506E"/>
            </a:solidFill>
            <a:prstDash val="solid"/>
          </a:ln>
        </p:spPr>
      </p:sp>
      <p:sp>
        <p:nvSpPr>
          <p:cNvPr id="38" name="Text 36"/>
          <p:cNvSpPr/>
          <p:nvPr/>
        </p:nvSpPr>
        <p:spPr>
          <a:xfrm>
            <a:off x="9290304" y="3625596"/>
            <a:ext cx="1143000" cy="210312"/>
          </a:xfrm>
          <a:prstGeom prst="rect">
            <a:avLst/>
          </a:prstGeom>
          <a:noFill/>
          <a:ln/>
        </p:spPr>
        <p:txBody>
          <a:bodyPr wrap="square" lIns="0" tIns="0" rIns="0" bIns="0" rtlCol="0" anchor="ctr">
            <a:normAutofit/>
          </a:bodyPr>
          <a:lstStyle/>
          <a:p>
            <a:pPr algn="ctr" indent="0" marL="0">
              <a:buNone/>
            </a:pPr>
            <a:r>
              <a:rPr lang="en-US" sz="910" dirty="0">
                <a:solidFill>
                  <a:srgbClr val="D9E9FA"/>
                </a:solidFill>
                <a:latin typeface="Aptos" pitchFamily="34" charset="0"/>
                <a:ea typeface="Aptos" pitchFamily="34" charset="-122"/>
                <a:cs typeface="Aptos" pitchFamily="34" charset="-120"/>
              </a:rPr>
              <a:t>Assertions</a:t>
            </a:r>
            <a:endParaRPr lang="en-US" sz="910" dirty="0"/>
          </a:p>
        </p:txBody>
      </p:sp>
      <p:sp>
        <p:nvSpPr>
          <p:cNvPr id="39" name="Shape 37"/>
          <p:cNvSpPr/>
          <p:nvPr/>
        </p:nvSpPr>
        <p:spPr>
          <a:xfrm>
            <a:off x="6464808" y="4014216"/>
            <a:ext cx="1234440" cy="283464"/>
          </a:xfrm>
          <a:prstGeom prst="roundRect">
            <a:avLst>
              <a:gd name="adj" fmla="val 38710"/>
            </a:avLst>
          </a:prstGeom>
          <a:solidFill>
            <a:srgbClr val="0C2235"/>
          </a:solidFill>
          <a:ln w="12700">
            <a:solidFill>
              <a:srgbClr val="34506E"/>
            </a:solidFill>
            <a:prstDash val="solid"/>
          </a:ln>
        </p:spPr>
      </p:sp>
      <p:sp>
        <p:nvSpPr>
          <p:cNvPr id="40" name="Text 38"/>
          <p:cNvSpPr/>
          <p:nvPr/>
        </p:nvSpPr>
        <p:spPr>
          <a:xfrm>
            <a:off x="6510528" y="4046220"/>
            <a:ext cx="1143000" cy="210312"/>
          </a:xfrm>
          <a:prstGeom prst="rect">
            <a:avLst/>
          </a:prstGeom>
          <a:noFill/>
          <a:ln/>
        </p:spPr>
        <p:txBody>
          <a:bodyPr wrap="square" lIns="0" tIns="0" rIns="0" bIns="0" rtlCol="0" anchor="ctr">
            <a:normAutofit/>
          </a:bodyPr>
          <a:lstStyle/>
          <a:p>
            <a:pPr algn="ctr" indent="0" marL="0">
              <a:buNone/>
            </a:pPr>
            <a:r>
              <a:rPr lang="en-US" sz="910" dirty="0">
                <a:solidFill>
                  <a:srgbClr val="D9E9FA"/>
                </a:solidFill>
                <a:latin typeface="Aptos" pitchFamily="34" charset="0"/>
                <a:ea typeface="Aptos" pitchFamily="34" charset="-122"/>
                <a:cs typeface="Aptos" pitchFamily="34" charset="-120"/>
              </a:rPr>
              <a:t>Coverage</a:t>
            </a:r>
            <a:endParaRPr lang="en-US" sz="910" dirty="0"/>
          </a:p>
        </p:txBody>
      </p:sp>
      <p:sp>
        <p:nvSpPr>
          <p:cNvPr id="41" name="Shape 39"/>
          <p:cNvSpPr/>
          <p:nvPr/>
        </p:nvSpPr>
        <p:spPr>
          <a:xfrm>
            <a:off x="7854696" y="4014216"/>
            <a:ext cx="1234440" cy="283464"/>
          </a:xfrm>
          <a:prstGeom prst="roundRect">
            <a:avLst>
              <a:gd name="adj" fmla="val 38710"/>
            </a:avLst>
          </a:prstGeom>
          <a:solidFill>
            <a:srgbClr val="0C2235"/>
          </a:solidFill>
          <a:ln w="12700">
            <a:solidFill>
              <a:srgbClr val="34506E"/>
            </a:solidFill>
            <a:prstDash val="solid"/>
          </a:ln>
        </p:spPr>
      </p:sp>
      <p:sp>
        <p:nvSpPr>
          <p:cNvPr id="42" name="Text 40"/>
          <p:cNvSpPr/>
          <p:nvPr/>
        </p:nvSpPr>
        <p:spPr>
          <a:xfrm>
            <a:off x="7900416" y="4046220"/>
            <a:ext cx="1143000" cy="210312"/>
          </a:xfrm>
          <a:prstGeom prst="rect">
            <a:avLst/>
          </a:prstGeom>
          <a:noFill/>
          <a:ln/>
        </p:spPr>
        <p:txBody>
          <a:bodyPr wrap="square" lIns="0" tIns="0" rIns="0" bIns="0" rtlCol="0" anchor="ctr">
            <a:normAutofit/>
          </a:bodyPr>
          <a:lstStyle/>
          <a:p>
            <a:pPr algn="ctr" indent="0" marL="0">
              <a:buNone/>
            </a:pPr>
            <a:r>
              <a:rPr lang="en-US" sz="910" dirty="0">
                <a:solidFill>
                  <a:srgbClr val="D9E9FA"/>
                </a:solidFill>
                <a:latin typeface="Aptos" pitchFamily="34" charset="0"/>
                <a:ea typeface="Aptos" pitchFamily="34" charset="-122"/>
                <a:cs typeface="Aptos" pitchFamily="34" charset="-120"/>
              </a:rPr>
              <a:t>Regression</a:t>
            </a:r>
            <a:endParaRPr lang="en-US" sz="910" dirty="0"/>
          </a:p>
        </p:txBody>
      </p:sp>
      <p:sp>
        <p:nvSpPr>
          <p:cNvPr id="43" name="Shape 41"/>
          <p:cNvSpPr/>
          <p:nvPr/>
        </p:nvSpPr>
        <p:spPr>
          <a:xfrm>
            <a:off x="9244584" y="4014216"/>
            <a:ext cx="1234440" cy="283464"/>
          </a:xfrm>
          <a:prstGeom prst="roundRect">
            <a:avLst>
              <a:gd name="adj" fmla="val 38710"/>
            </a:avLst>
          </a:prstGeom>
          <a:solidFill>
            <a:srgbClr val="0C2235"/>
          </a:solidFill>
          <a:ln w="12700">
            <a:solidFill>
              <a:srgbClr val="34506E"/>
            </a:solidFill>
            <a:prstDash val="solid"/>
          </a:ln>
        </p:spPr>
      </p:sp>
      <p:sp>
        <p:nvSpPr>
          <p:cNvPr id="44" name="Text 42"/>
          <p:cNvSpPr/>
          <p:nvPr/>
        </p:nvSpPr>
        <p:spPr>
          <a:xfrm>
            <a:off x="9290304" y="4046220"/>
            <a:ext cx="1143000" cy="210312"/>
          </a:xfrm>
          <a:prstGeom prst="rect">
            <a:avLst/>
          </a:prstGeom>
          <a:noFill/>
          <a:ln/>
        </p:spPr>
        <p:txBody>
          <a:bodyPr wrap="square" lIns="0" tIns="0" rIns="0" bIns="0" rtlCol="0" anchor="ctr">
            <a:normAutofit/>
          </a:bodyPr>
          <a:lstStyle/>
          <a:p>
            <a:pPr algn="ctr" indent="0" marL="0">
              <a:buNone/>
            </a:pPr>
            <a:r>
              <a:rPr lang="en-US" sz="910" dirty="0">
                <a:solidFill>
                  <a:srgbClr val="D9E9FA"/>
                </a:solidFill>
                <a:latin typeface="Aptos" pitchFamily="34" charset="0"/>
                <a:ea typeface="Aptos" pitchFamily="34" charset="-122"/>
                <a:cs typeface="Aptos" pitchFamily="34" charset="-120"/>
              </a:rPr>
              <a:t>Python/Perl</a:t>
            </a:r>
            <a:endParaRPr lang="en-US" sz="910" dirty="0"/>
          </a:p>
        </p:txBody>
      </p:sp>
      <p:sp>
        <p:nvSpPr>
          <p:cNvPr id="45" name="Shape 43"/>
          <p:cNvSpPr/>
          <p:nvPr/>
        </p:nvSpPr>
        <p:spPr>
          <a:xfrm>
            <a:off x="6464808" y="4434840"/>
            <a:ext cx="1234440" cy="283464"/>
          </a:xfrm>
          <a:prstGeom prst="roundRect">
            <a:avLst>
              <a:gd name="adj" fmla="val 38710"/>
            </a:avLst>
          </a:prstGeom>
          <a:solidFill>
            <a:srgbClr val="0C2235"/>
          </a:solidFill>
          <a:ln w="12700">
            <a:solidFill>
              <a:srgbClr val="34506E"/>
            </a:solidFill>
            <a:prstDash val="solid"/>
          </a:ln>
        </p:spPr>
      </p:sp>
      <p:sp>
        <p:nvSpPr>
          <p:cNvPr id="46" name="Text 44"/>
          <p:cNvSpPr/>
          <p:nvPr/>
        </p:nvSpPr>
        <p:spPr>
          <a:xfrm>
            <a:off x="6510528" y="4466844"/>
            <a:ext cx="1143000" cy="210312"/>
          </a:xfrm>
          <a:prstGeom prst="rect">
            <a:avLst/>
          </a:prstGeom>
          <a:noFill/>
          <a:ln/>
        </p:spPr>
        <p:txBody>
          <a:bodyPr wrap="square" lIns="0" tIns="0" rIns="0" bIns="0" rtlCol="0" anchor="ctr">
            <a:normAutofit/>
          </a:bodyPr>
          <a:lstStyle/>
          <a:p>
            <a:pPr algn="ctr" indent="0" marL="0">
              <a:buNone/>
            </a:pPr>
            <a:r>
              <a:rPr lang="en-US" sz="910" dirty="0">
                <a:solidFill>
                  <a:srgbClr val="D9E9FA"/>
                </a:solidFill>
                <a:latin typeface="Aptos" pitchFamily="34" charset="0"/>
                <a:ea typeface="Aptos" pitchFamily="34" charset="-122"/>
                <a:cs typeface="Aptos" pitchFamily="34" charset="-120"/>
              </a:rPr>
              <a:t>Linux</a:t>
            </a:r>
            <a:endParaRPr lang="en-US" sz="910" dirty="0"/>
          </a:p>
        </p:txBody>
      </p:sp>
      <p:sp>
        <p:nvSpPr>
          <p:cNvPr id="47" name="Text 45"/>
          <p:cNvSpPr/>
          <p:nvPr/>
        </p:nvSpPr>
        <p:spPr>
          <a:xfrm>
            <a:off x="6464808" y="5148072"/>
            <a:ext cx="4498848" cy="475488"/>
          </a:xfrm>
          <a:prstGeom prst="rect">
            <a:avLst/>
          </a:prstGeom>
          <a:noFill/>
          <a:ln/>
        </p:spPr>
        <p:txBody>
          <a:bodyPr wrap="square" lIns="0" tIns="0" rIns="0" bIns="0" rtlCol="0" anchor="ctr">
            <a:normAutofit/>
          </a:bodyPr>
          <a:lstStyle/>
          <a:p>
            <a:pPr algn="ctr" indent="0" marL="0">
              <a:buNone/>
            </a:pPr>
            <a:r>
              <a:rPr lang="en-US" sz="1180" b="1" dirty="0">
                <a:solidFill>
                  <a:srgbClr val="DFE8FF"/>
                </a:solidFill>
                <a:latin typeface="Aptos" pitchFamily="34" charset="0"/>
                <a:ea typeface="Aptos" pitchFamily="34" charset="-122"/>
                <a:cs typeface="Aptos" pitchFamily="34" charset="-120"/>
              </a:rPr>
              <a:t>Mindset: systematic debugging, corner cases, automation and completeness.</a:t>
            </a:r>
            <a:endParaRPr lang="en-US" sz="1180" dirty="0"/>
          </a:p>
        </p:txBody>
      </p:sp>
      <p:sp>
        <p:nvSpPr>
          <p:cNvPr id="48" name="Text 46"/>
          <p:cNvSpPr/>
          <p:nvPr/>
        </p:nvSpPr>
        <p:spPr>
          <a:xfrm>
            <a:off x="576072" y="6236208"/>
            <a:ext cx="10835640" cy="164592"/>
          </a:xfrm>
          <a:prstGeom prst="rect">
            <a:avLst/>
          </a:prstGeom>
          <a:noFill/>
          <a:ln/>
        </p:spPr>
        <p:txBody>
          <a:bodyPr wrap="square" lIns="0" tIns="0" rIns="0" bIns="0" rtlCol="0" anchor="ctr">
            <a:normAutofit/>
          </a:bodyPr>
          <a:lstStyle/>
          <a:p>
            <a:pPr algn="l" indent="0" marL="0">
              <a:buNone/>
            </a:pPr>
            <a:r>
              <a:rPr lang="en-US" sz="730" dirty="0">
                <a:solidFill>
                  <a:srgbClr val="6F829A"/>
                </a:solidFill>
                <a:latin typeface="Aptos" pitchFamily="34" charset="0"/>
                <a:ea typeface="Aptos" pitchFamily="34" charset="-122"/>
                <a:cs typeface="Aptos" pitchFamily="34" charset="-120"/>
              </a:rPr>
              <a:t>Role definitions summarized from the class brief and standard ASIC front-end practice.</a:t>
            </a:r>
            <a:endParaRPr lang="en-US" sz="730" dirty="0"/>
          </a:p>
        </p:txBody>
      </p:sp>
      <p:sp>
        <p:nvSpPr>
          <p:cNvPr id="25" name="Slide Number Placeholder 0"/>
          <p:cNvSpPr>
            <a:spLocks noGrp="1"/>
          </p:cNvSpPr>
          <p:nvPr>
            <p:ph type="sldNum" sz="quarter" idx="4294967295"/>
          </p:nvPr>
        </p:nvSpPr>
        <p:spPr>
          <a:xfrm>
            <a:off x="11201400" y="650138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F829A"/>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47472"/>
            <a:ext cx="5303520" cy="201168"/>
          </a:xfrm>
          <a:prstGeom prst="rect">
            <a:avLst/>
          </a:prstGeom>
          <a:noFill/>
          <a:ln/>
        </p:spPr>
        <p:txBody>
          <a:bodyPr wrap="square" lIns="0" tIns="0" rIns="0" bIns="0" rtlCol="0" anchor="ctr">
            <a:normAutofit/>
          </a:bodyPr>
          <a:lstStyle/>
          <a:p>
            <a:pPr algn="l" indent="0" marL="0">
              <a:buNone/>
            </a:pPr>
            <a:r>
              <a:rPr lang="en-US" sz="930" b="1" spc="140" kern="0" dirty="0">
                <a:solidFill>
                  <a:srgbClr val="4FD1C5"/>
                </a:solidFill>
                <a:latin typeface="Aptos" pitchFamily="34" charset="0"/>
                <a:ea typeface="Aptos" pitchFamily="34" charset="-122"/>
                <a:cs typeface="Aptos" pitchFamily="34" charset="-120"/>
              </a:rPr>
              <a:t>SPECIALIZED CAREER TRACKS</a:t>
            </a:r>
            <a:endParaRPr lang="en-US" sz="930" dirty="0"/>
          </a:p>
        </p:txBody>
      </p:sp>
      <p:sp>
        <p:nvSpPr>
          <p:cNvPr id="3" name="Text 1"/>
          <p:cNvSpPr/>
          <p:nvPr/>
        </p:nvSpPr>
        <p:spPr>
          <a:xfrm>
            <a:off x="566928" y="566928"/>
            <a:ext cx="10881360" cy="530352"/>
          </a:xfrm>
          <a:prstGeom prst="rect">
            <a:avLst/>
          </a:prstGeom>
          <a:noFill/>
          <a:ln/>
        </p:spPr>
        <p:txBody>
          <a:bodyPr wrap="square" lIns="0" tIns="0" rIns="0" bIns="0" rtlCol="0" anchor="ctr">
            <a:normAutofit/>
          </a:bodyPr>
          <a:lstStyle/>
          <a:p>
            <a:pPr algn="l" indent="0" marL="0">
              <a:buNone/>
            </a:pPr>
            <a:r>
              <a:rPr lang="en-US" sz="2750" b="1" dirty="0">
                <a:solidFill>
                  <a:srgbClr val="F5F8FC"/>
                </a:solidFill>
                <a:latin typeface="Aptos Display" pitchFamily="34" charset="0"/>
                <a:ea typeface="Aptos Display" pitchFamily="34" charset="-122"/>
                <a:cs typeface="Aptos Display" pitchFamily="34" charset="-120"/>
              </a:rPr>
              <a:t>DFT · Physical Design · Analog / Mixed-Signal</a:t>
            </a:r>
            <a:endParaRPr lang="en-US" sz="2750" dirty="0"/>
          </a:p>
        </p:txBody>
      </p:sp>
      <p:sp>
        <p:nvSpPr>
          <p:cNvPr id="4" name="Shape 2"/>
          <p:cNvSpPr/>
          <p:nvPr/>
        </p:nvSpPr>
        <p:spPr>
          <a:xfrm>
            <a:off x="9555480" y="338328"/>
            <a:ext cx="2057400" cy="310896"/>
          </a:xfrm>
          <a:prstGeom prst="roundRect">
            <a:avLst>
              <a:gd name="adj" fmla="val 35294"/>
            </a:avLst>
          </a:prstGeom>
          <a:solidFill>
            <a:srgbClr val="10263D"/>
          </a:solidFill>
          <a:ln w="12700">
            <a:solidFill>
              <a:srgbClr val="26415D"/>
            </a:solidFill>
            <a:prstDash val="solid"/>
          </a:ln>
        </p:spPr>
      </p:sp>
      <p:sp>
        <p:nvSpPr>
          <p:cNvPr id="5" name="Text 3"/>
          <p:cNvSpPr/>
          <p:nvPr/>
        </p:nvSpPr>
        <p:spPr>
          <a:xfrm>
            <a:off x="9646920" y="370332"/>
            <a:ext cx="1874520" cy="210312"/>
          </a:xfrm>
          <a:prstGeom prst="rect">
            <a:avLst/>
          </a:prstGeom>
          <a:noFill/>
          <a:ln/>
        </p:spPr>
        <p:txBody>
          <a:bodyPr wrap="square" lIns="0" tIns="0" rIns="0" bIns="0" rtlCol="0" anchor="ctr">
            <a:normAutofit/>
          </a:bodyPr>
          <a:lstStyle/>
          <a:p>
            <a:pPr algn="ctr" indent="0" marL="0">
              <a:buNone/>
            </a:pPr>
            <a:r>
              <a:rPr lang="en-US" sz="840" b="1" dirty="0">
                <a:solidFill>
                  <a:srgbClr val="D9E8F6"/>
                </a:solidFill>
                <a:latin typeface="Aptos" pitchFamily="34" charset="0"/>
                <a:ea typeface="Aptos" pitchFamily="34" charset="-122"/>
                <a:cs typeface="Aptos" pitchFamily="34" charset="-120"/>
              </a:rPr>
              <a:t>NGUYỄN HỮU ĐỨC</a:t>
            </a:r>
            <a:endParaRPr lang="en-US" sz="840" dirty="0"/>
          </a:p>
        </p:txBody>
      </p:sp>
      <p:sp>
        <p:nvSpPr>
          <p:cNvPr id="6" name="Shape 4"/>
          <p:cNvSpPr/>
          <p:nvPr/>
        </p:nvSpPr>
        <p:spPr>
          <a:xfrm>
            <a:off x="585216" y="1426464"/>
            <a:ext cx="3255264" cy="4343400"/>
          </a:xfrm>
          <a:prstGeom prst="roundRect">
            <a:avLst>
              <a:gd name="adj" fmla="val 3371"/>
            </a:avLst>
          </a:prstGeom>
          <a:solidFill>
            <a:srgbClr val="0D1B2C"/>
          </a:solidFill>
          <a:ln w="12700">
            <a:solidFill>
              <a:srgbClr val="26415D"/>
            </a:solidFill>
            <a:prstDash val="solid"/>
          </a:ln>
        </p:spPr>
      </p:sp>
      <p:sp>
        <p:nvSpPr>
          <p:cNvPr id="7" name="Shape 5"/>
          <p:cNvSpPr/>
          <p:nvPr/>
        </p:nvSpPr>
        <p:spPr>
          <a:xfrm>
            <a:off x="795528" y="1682496"/>
            <a:ext cx="2258568" cy="310896"/>
          </a:xfrm>
          <a:prstGeom prst="roundRect">
            <a:avLst>
              <a:gd name="adj" fmla="val 41176"/>
            </a:avLst>
          </a:prstGeom>
          <a:solidFill>
            <a:srgbClr val="0D2435">
              <a:alpha val="90000"/>
            </a:srgbClr>
          </a:solidFill>
          <a:ln w="12700">
            <a:solidFill>
              <a:srgbClr val="70D6A7">
                <a:alpha val="60000"/>
              </a:srgbClr>
            </a:solidFill>
            <a:prstDash val="solid"/>
          </a:ln>
        </p:spPr>
      </p:sp>
      <p:sp>
        <p:nvSpPr>
          <p:cNvPr id="8" name="Shape 6"/>
          <p:cNvSpPr/>
          <p:nvPr/>
        </p:nvSpPr>
        <p:spPr>
          <a:xfrm>
            <a:off x="886968" y="1787652"/>
            <a:ext cx="73152" cy="73152"/>
          </a:xfrm>
          <a:prstGeom prst="ellipse">
            <a:avLst/>
          </a:prstGeom>
          <a:solidFill>
            <a:srgbClr val="70D6A7"/>
          </a:solidFill>
          <a:ln w="12700">
            <a:solidFill>
              <a:srgbClr val="70D6A7"/>
            </a:solidFill>
            <a:prstDash val="solid"/>
          </a:ln>
        </p:spPr>
      </p:sp>
      <p:sp>
        <p:nvSpPr>
          <p:cNvPr id="9" name="Text 7"/>
          <p:cNvSpPr/>
          <p:nvPr/>
        </p:nvSpPr>
        <p:spPr>
          <a:xfrm>
            <a:off x="1005840" y="1700784"/>
            <a:ext cx="2011680"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DFT ENGINEER</a:t>
            </a:r>
            <a:endParaRPr lang="en-US" sz="920" dirty="0"/>
          </a:p>
        </p:txBody>
      </p:sp>
      <p:sp>
        <p:nvSpPr>
          <p:cNvPr id="10" name="Text 8"/>
          <p:cNvSpPr/>
          <p:nvPr/>
        </p:nvSpPr>
        <p:spPr>
          <a:xfrm>
            <a:off x="795528" y="2212848"/>
            <a:ext cx="2816352" cy="621792"/>
          </a:xfrm>
          <a:prstGeom prst="rect">
            <a:avLst/>
          </a:prstGeom>
          <a:noFill/>
          <a:ln/>
        </p:spPr>
        <p:txBody>
          <a:bodyPr wrap="square" lIns="0" tIns="0" rIns="0" bIns="0" rtlCol="0" anchor="t">
            <a:normAutofit/>
          </a:bodyPr>
          <a:lstStyle/>
          <a:p>
            <a:pPr algn="l" indent="0" marL="0">
              <a:buNone/>
            </a:pPr>
            <a:r>
              <a:rPr lang="en-US" sz="2120" b="1" dirty="0">
                <a:solidFill>
                  <a:srgbClr val="F5F8FC"/>
                </a:solidFill>
                <a:latin typeface="Aptos Display" pitchFamily="34" charset="0"/>
                <a:ea typeface="Aptos Display" pitchFamily="34" charset="-122"/>
                <a:cs typeface="Aptos Display" pitchFamily="34" charset="-120"/>
              </a:rPr>
              <a:t>Make silicon testable</a:t>
            </a:r>
            <a:endParaRPr lang="en-US" sz="2120" dirty="0"/>
          </a:p>
        </p:txBody>
      </p:sp>
      <p:sp>
        <p:nvSpPr>
          <p:cNvPr id="11" name="Text 9"/>
          <p:cNvSpPr/>
          <p:nvPr/>
        </p:nvSpPr>
        <p:spPr>
          <a:xfrm>
            <a:off x="795528" y="2862072"/>
            <a:ext cx="2788920" cy="685800"/>
          </a:xfrm>
          <a:prstGeom prst="rect">
            <a:avLst/>
          </a:prstGeom>
          <a:noFill/>
          <a:ln/>
        </p:spPr>
        <p:txBody>
          <a:bodyPr wrap="square" lIns="0" tIns="0" rIns="0" bIns="0" rtlCol="0" anchor="t">
            <a:normAutofit/>
          </a:bodyPr>
          <a:lstStyle/>
          <a:p>
            <a:pPr algn="l" indent="0" marL="0">
              <a:buNone/>
            </a:pPr>
            <a:r>
              <a:rPr lang="en-US" sz="1250" dirty="0">
                <a:solidFill>
                  <a:srgbClr val="B7C4D6"/>
                </a:solidFill>
                <a:latin typeface="Aptos" pitchFamily="34" charset="0"/>
                <a:ea typeface="Aptos" pitchFamily="34" charset="-122"/>
                <a:cs typeface="Aptos" pitchFamily="34" charset="-120"/>
              </a:rPr>
              <a:t>Add test structures so manufactured chips can be screened efficiently.</a:t>
            </a:r>
            <a:endParaRPr lang="en-US" sz="1250" dirty="0"/>
          </a:p>
        </p:txBody>
      </p:sp>
      <p:sp>
        <p:nvSpPr>
          <p:cNvPr id="12" name="Shape 10"/>
          <p:cNvSpPr/>
          <p:nvPr/>
        </p:nvSpPr>
        <p:spPr>
          <a:xfrm>
            <a:off x="795528" y="3739896"/>
            <a:ext cx="2743200" cy="274320"/>
          </a:xfrm>
          <a:prstGeom prst="roundRect">
            <a:avLst>
              <a:gd name="adj" fmla="val 40000"/>
            </a:avLst>
          </a:prstGeom>
          <a:solidFill>
            <a:srgbClr val="0A2032"/>
          </a:solidFill>
          <a:ln w="12700">
            <a:solidFill>
              <a:srgbClr val="23425C"/>
            </a:solidFill>
            <a:prstDash val="solid"/>
          </a:ln>
        </p:spPr>
      </p:sp>
      <p:sp>
        <p:nvSpPr>
          <p:cNvPr id="13" name="Text 11"/>
          <p:cNvSpPr/>
          <p:nvPr/>
        </p:nvSpPr>
        <p:spPr>
          <a:xfrm>
            <a:off x="905256" y="3776472"/>
            <a:ext cx="2523744" cy="182880"/>
          </a:xfrm>
          <a:prstGeom prst="rect">
            <a:avLst/>
          </a:prstGeom>
          <a:noFill/>
          <a:ln/>
        </p:spPr>
        <p:txBody>
          <a:bodyPr wrap="square" lIns="0" tIns="0" rIns="0" bIns="0" rtlCol="0" anchor="ctr">
            <a:normAutofit/>
          </a:bodyPr>
          <a:lstStyle/>
          <a:p>
            <a:pPr algn="l" indent="0" marL="0">
              <a:buNone/>
            </a:pPr>
            <a:r>
              <a:rPr lang="en-US" sz="970" b="1" dirty="0">
                <a:solidFill>
                  <a:srgbClr val="DCEAF6"/>
                </a:solidFill>
                <a:latin typeface="Aptos" pitchFamily="34" charset="0"/>
                <a:ea typeface="Aptos" pitchFamily="34" charset="-122"/>
                <a:cs typeface="Aptos" pitchFamily="34" charset="-120"/>
              </a:rPr>
              <a:t>Scan Chain</a:t>
            </a:r>
            <a:endParaRPr lang="en-US" sz="970" dirty="0"/>
          </a:p>
        </p:txBody>
      </p:sp>
      <p:sp>
        <p:nvSpPr>
          <p:cNvPr id="14" name="Shape 12"/>
          <p:cNvSpPr/>
          <p:nvPr/>
        </p:nvSpPr>
        <p:spPr>
          <a:xfrm>
            <a:off x="795528" y="4105656"/>
            <a:ext cx="2743200" cy="274320"/>
          </a:xfrm>
          <a:prstGeom prst="roundRect">
            <a:avLst>
              <a:gd name="adj" fmla="val 40000"/>
            </a:avLst>
          </a:prstGeom>
          <a:solidFill>
            <a:srgbClr val="0A2032"/>
          </a:solidFill>
          <a:ln w="12700">
            <a:solidFill>
              <a:srgbClr val="23425C"/>
            </a:solidFill>
            <a:prstDash val="solid"/>
          </a:ln>
        </p:spPr>
      </p:sp>
      <p:sp>
        <p:nvSpPr>
          <p:cNvPr id="15" name="Text 13"/>
          <p:cNvSpPr/>
          <p:nvPr/>
        </p:nvSpPr>
        <p:spPr>
          <a:xfrm>
            <a:off x="905256" y="4142232"/>
            <a:ext cx="2523744" cy="182880"/>
          </a:xfrm>
          <a:prstGeom prst="rect">
            <a:avLst/>
          </a:prstGeom>
          <a:noFill/>
          <a:ln/>
        </p:spPr>
        <p:txBody>
          <a:bodyPr wrap="square" lIns="0" tIns="0" rIns="0" bIns="0" rtlCol="0" anchor="ctr">
            <a:normAutofit/>
          </a:bodyPr>
          <a:lstStyle/>
          <a:p>
            <a:pPr algn="l" indent="0" marL="0">
              <a:buNone/>
            </a:pPr>
            <a:r>
              <a:rPr lang="en-US" sz="970" b="1" dirty="0">
                <a:solidFill>
                  <a:srgbClr val="DCEAF6"/>
                </a:solidFill>
                <a:latin typeface="Aptos" pitchFamily="34" charset="0"/>
                <a:ea typeface="Aptos" pitchFamily="34" charset="-122"/>
                <a:cs typeface="Aptos" pitchFamily="34" charset="-120"/>
              </a:rPr>
              <a:t>MBIST</a:t>
            </a:r>
            <a:endParaRPr lang="en-US" sz="970" dirty="0"/>
          </a:p>
        </p:txBody>
      </p:sp>
      <p:sp>
        <p:nvSpPr>
          <p:cNvPr id="16" name="Shape 14"/>
          <p:cNvSpPr/>
          <p:nvPr/>
        </p:nvSpPr>
        <p:spPr>
          <a:xfrm>
            <a:off x="795528" y="4471416"/>
            <a:ext cx="2743200" cy="274320"/>
          </a:xfrm>
          <a:prstGeom prst="roundRect">
            <a:avLst>
              <a:gd name="adj" fmla="val 40000"/>
            </a:avLst>
          </a:prstGeom>
          <a:solidFill>
            <a:srgbClr val="0A2032"/>
          </a:solidFill>
          <a:ln w="12700">
            <a:solidFill>
              <a:srgbClr val="23425C"/>
            </a:solidFill>
            <a:prstDash val="solid"/>
          </a:ln>
        </p:spPr>
      </p:sp>
      <p:sp>
        <p:nvSpPr>
          <p:cNvPr id="17" name="Text 15"/>
          <p:cNvSpPr/>
          <p:nvPr/>
        </p:nvSpPr>
        <p:spPr>
          <a:xfrm>
            <a:off x="905256" y="4507992"/>
            <a:ext cx="2523744" cy="182880"/>
          </a:xfrm>
          <a:prstGeom prst="rect">
            <a:avLst/>
          </a:prstGeom>
          <a:noFill/>
          <a:ln/>
        </p:spPr>
        <p:txBody>
          <a:bodyPr wrap="square" lIns="0" tIns="0" rIns="0" bIns="0" rtlCol="0" anchor="ctr">
            <a:normAutofit/>
          </a:bodyPr>
          <a:lstStyle/>
          <a:p>
            <a:pPr algn="l" indent="0" marL="0">
              <a:buNone/>
            </a:pPr>
            <a:r>
              <a:rPr lang="en-US" sz="970" b="1" dirty="0">
                <a:solidFill>
                  <a:srgbClr val="DCEAF6"/>
                </a:solidFill>
                <a:latin typeface="Aptos" pitchFamily="34" charset="0"/>
                <a:ea typeface="Aptos" pitchFamily="34" charset="-122"/>
                <a:cs typeface="Aptos" pitchFamily="34" charset="-120"/>
              </a:rPr>
              <a:t>ATPG</a:t>
            </a:r>
            <a:endParaRPr lang="en-US" sz="970" dirty="0"/>
          </a:p>
        </p:txBody>
      </p:sp>
      <p:sp>
        <p:nvSpPr>
          <p:cNvPr id="18" name="Shape 16"/>
          <p:cNvSpPr/>
          <p:nvPr/>
        </p:nvSpPr>
        <p:spPr>
          <a:xfrm>
            <a:off x="795528" y="4837176"/>
            <a:ext cx="2743200" cy="274320"/>
          </a:xfrm>
          <a:prstGeom prst="roundRect">
            <a:avLst>
              <a:gd name="adj" fmla="val 40000"/>
            </a:avLst>
          </a:prstGeom>
          <a:solidFill>
            <a:srgbClr val="0A2032"/>
          </a:solidFill>
          <a:ln w="12700">
            <a:solidFill>
              <a:srgbClr val="23425C"/>
            </a:solidFill>
            <a:prstDash val="solid"/>
          </a:ln>
        </p:spPr>
      </p:sp>
      <p:sp>
        <p:nvSpPr>
          <p:cNvPr id="19" name="Text 17"/>
          <p:cNvSpPr/>
          <p:nvPr/>
        </p:nvSpPr>
        <p:spPr>
          <a:xfrm>
            <a:off x="905256" y="4873752"/>
            <a:ext cx="2523744" cy="182880"/>
          </a:xfrm>
          <a:prstGeom prst="rect">
            <a:avLst/>
          </a:prstGeom>
          <a:noFill/>
          <a:ln/>
        </p:spPr>
        <p:txBody>
          <a:bodyPr wrap="square" lIns="0" tIns="0" rIns="0" bIns="0" rtlCol="0" anchor="ctr">
            <a:normAutofit/>
          </a:bodyPr>
          <a:lstStyle/>
          <a:p>
            <a:pPr algn="l" indent="0" marL="0">
              <a:buNone/>
            </a:pPr>
            <a:r>
              <a:rPr lang="en-US" sz="970" b="1" dirty="0">
                <a:solidFill>
                  <a:srgbClr val="DCEAF6"/>
                </a:solidFill>
                <a:latin typeface="Aptos" pitchFamily="34" charset="0"/>
                <a:ea typeface="Aptos" pitchFamily="34" charset="-122"/>
                <a:cs typeface="Aptos" pitchFamily="34" charset="-120"/>
              </a:rPr>
              <a:t>Boundary Scan</a:t>
            </a:r>
            <a:endParaRPr lang="en-US" sz="970" dirty="0"/>
          </a:p>
        </p:txBody>
      </p:sp>
      <p:sp>
        <p:nvSpPr>
          <p:cNvPr id="20" name="Shape 18"/>
          <p:cNvSpPr/>
          <p:nvPr/>
        </p:nvSpPr>
        <p:spPr>
          <a:xfrm>
            <a:off x="4096512" y="1426464"/>
            <a:ext cx="3255264" cy="4343400"/>
          </a:xfrm>
          <a:prstGeom prst="roundRect">
            <a:avLst>
              <a:gd name="adj" fmla="val 3371"/>
            </a:avLst>
          </a:prstGeom>
          <a:solidFill>
            <a:srgbClr val="0D1B2C"/>
          </a:solidFill>
          <a:ln w="12700">
            <a:solidFill>
              <a:srgbClr val="26415D"/>
            </a:solidFill>
            <a:prstDash val="solid"/>
          </a:ln>
        </p:spPr>
      </p:sp>
      <p:sp>
        <p:nvSpPr>
          <p:cNvPr id="21" name="Shape 19"/>
          <p:cNvSpPr/>
          <p:nvPr/>
        </p:nvSpPr>
        <p:spPr>
          <a:xfrm>
            <a:off x="4306824" y="1682496"/>
            <a:ext cx="2258568" cy="310896"/>
          </a:xfrm>
          <a:prstGeom prst="roundRect">
            <a:avLst>
              <a:gd name="adj" fmla="val 41176"/>
            </a:avLst>
          </a:prstGeom>
          <a:solidFill>
            <a:srgbClr val="0D2435">
              <a:alpha val="90000"/>
            </a:srgbClr>
          </a:solidFill>
          <a:ln w="12700">
            <a:solidFill>
              <a:srgbClr val="6AA7FF">
                <a:alpha val="60000"/>
              </a:srgbClr>
            </a:solidFill>
            <a:prstDash val="solid"/>
          </a:ln>
        </p:spPr>
      </p:sp>
      <p:sp>
        <p:nvSpPr>
          <p:cNvPr id="22" name="Shape 20"/>
          <p:cNvSpPr/>
          <p:nvPr/>
        </p:nvSpPr>
        <p:spPr>
          <a:xfrm>
            <a:off x="4398264" y="1787652"/>
            <a:ext cx="73152" cy="73152"/>
          </a:xfrm>
          <a:prstGeom prst="ellipse">
            <a:avLst/>
          </a:prstGeom>
          <a:solidFill>
            <a:srgbClr val="6AA7FF"/>
          </a:solidFill>
          <a:ln w="12700">
            <a:solidFill>
              <a:srgbClr val="6AA7FF"/>
            </a:solidFill>
            <a:prstDash val="solid"/>
          </a:ln>
        </p:spPr>
      </p:sp>
      <p:sp>
        <p:nvSpPr>
          <p:cNvPr id="23" name="Text 21"/>
          <p:cNvSpPr/>
          <p:nvPr/>
        </p:nvSpPr>
        <p:spPr>
          <a:xfrm>
            <a:off x="4517136" y="1700784"/>
            <a:ext cx="2011680"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PHYSICAL DESIGN / STA</a:t>
            </a:r>
            <a:endParaRPr lang="en-US" sz="920" dirty="0"/>
          </a:p>
        </p:txBody>
      </p:sp>
      <p:sp>
        <p:nvSpPr>
          <p:cNvPr id="24" name="Text 22"/>
          <p:cNvSpPr/>
          <p:nvPr/>
        </p:nvSpPr>
        <p:spPr>
          <a:xfrm>
            <a:off x="4306824" y="2212848"/>
            <a:ext cx="2816352" cy="621792"/>
          </a:xfrm>
          <a:prstGeom prst="rect">
            <a:avLst/>
          </a:prstGeom>
          <a:noFill/>
          <a:ln/>
        </p:spPr>
        <p:txBody>
          <a:bodyPr wrap="square" lIns="0" tIns="0" rIns="0" bIns="0" rtlCol="0" anchor="t">
            <a:normAutofit/>
          </a:bodyPr>
          <a:lstStyle/>
          <a:p>
            <a:pPr algn="l" indent="0" marL="0">
              <a:buNone/>
            </a:pPr>
            <a:r>
              <a:rPr lang="en-US" sz="2120" b="1" dirty="0">
                <a:solidFill>
                  <a:srgbClr val="F5F8FC"/>
                </a:solidFill>
                <a:latin typeface="Aptos Display" pitchFamily="34" charset="0"/>
                <a:ea typeface="Aptos Display" pitchFamily="34" charset="-122"/>
                <a:cs typeface="Aptos Display" pitchFamily="34" charset="-120"/>
              </a:rPr>
              <a:t>Turn netlist into silicon</a:t>
            </a:r>
            <a:endParaRPr lang="en-US" sz="2120" dirty="0"/>
          </a:p>
        </p:txBody>
      </p:sp>
      <p:sp>
        <p:nvSpPr>
          <p:cNvPr id="25" name="Text 23"/>
          <p:cNvSpPr/>
          <p:nvPr/>
        </p:nvSpPr>
        <p:spPr>
          <a:xfrm>
            <a:off x="4306824" y="2862072"/>
            <a:ext cx="2788920" cy="685800"/>
          </a:xfrm>
          <a:prstGeom prst="rect">
            <a:avLst/>
          </a:prstGeom>
          <a:noFill/>
          <a:ln/>
        </p:spPr>
        <p:txBody>
          <a:bodyPr wrap="square" lIns="0" tIns="0" rIns="0" bIns="0" rtlCol="0" anchor="t">
            <a:normAutofit/>
          </a:bodyPr>
          <a:lstStyle/>
          <a:p>
            <a:pPr algn="l" indent="0" marL="0">
              <a:buNone/>
            </a:pPr>
            <a:r>
              <a:rPr lang="en-US" sz="1250" dirty="0">
                <a:solidFill>
                  <a:srgbClr val="B7C4D6"/>
                </a:solidFill>
                <a:latin typeface="Aptos" pitchFamily="34" charset="0"/>
                <a:ea typeface="Aptos" pitchFamily="34" charset="-122"/>
                <a:cs typeface="Aptos" pitchFamily="34" charset="-120"/>
              </a:rPr>
              <a:t>Build the physical implementation and close timing for signoff.</a:t>
            </a:r>
            <a:endParaRPr lang="en-US" sz="1250" dirty="0"/>
          </a:p>
        </p:txBody>
      </p:sp>
      <p:sp>
        <p:nvSpPr>
          <p:cNvPr id="26" name="Shape 24"/>
          <p:cNvSpPr/>
          <p:nvPr/>
        </p:nvSpPr>
        <p:spPr>
          <a:xfrm>
            <a:off x="4306824" y="3739896"/>
            <a:ext cx="2743200" cy="274320"/>
          </a:xfrm>
          <a:prstGeom prst="roundRect">
            <a:avLst>
              <a:gd name="adj" fmla="val 40000"/>
            </a:avLst>
          </a:prstGeom>
          <a:solidFill>
            <a:srgbClr val="0A2032"/>
          </a:solidFill>
          <a:ln w="12700">
            <a:solidFill>
              <a:srgbClr val="23425C"/>
            </a:solidFill>
            <a:prstDash val="solid"/>
          </a:ln>
        </p:spPr>
      </p:sp>
      <p:sp>
        <p:nvSpPr>
          <p:cNvPr id="27" name="Text 25"/>
          <p:cNvSpPr/>
          <p:nvPr/>
        </p:nvSpPr>
        <p:spPr>
          <a:xfrm>
            <a:off x="4416552" y="3776472"/>
            <a:ext cx="2523744" cy="182880"/>
          </a:xfrm>
          <a:prstGeom prst="rect">
            <a:avLst/>
          </a:prstGeom>
          <a:noFill/>
          <a:ln/>
        </p:spPr>
        <p:txBody>
          <a:bodyPr wrap="square" lIns="0" tIns="0" rIns="0" bIns="0" rtlCol="0" anchor="ctr">
            <a:normAutofit/>
          </a:bodyPr>
          <a:lstStyle/>
          <a:p>
            <a:pPr algn="l" indent="0" marL="0">
              <a:buNone/>
            </a:pPr>
            <a:r>
              <a:rPr lang="en-US" sz="970" b="1" dirty="0">
                <a:solidFill>
                  <a:srgbClr val="DCEAF6"/>
                </a:solidFill>
                <a:latin typeface="Aptos" pitchFamily="34" charset="0"/>
                <a:ea typeface="Aptos" pitchFamily="34" charset="-122"/>
                <a:cs typeface="Aptos" pitchFamily="34" charset="-120"/>
              </a:rPr>
              <a:t>Floorplan</a:t>
            </a:r>
            <a:endParaRPr lang="en-US" sz="970" dirty="0"/>
          </a:p>
        </p:txBody>
      </p:sp>
      <p:sp>
        <p:nvSpPr>
          <p:cNvPr id="28" name="Shape 26"/>
          <p:cNvSpPr/>
          <p:nvPr/>
        </p:nvSpPr>
        <p:spPr>
          <a:xfrm>
            <a:off x="4306824" y="4105656"/>
            <a:ext cx="2743200" cy="274320"/>
          </a:xfrm>
          <a:prstGeom prst="roundRect">
            <a:avLst>
              <a:gd name="adj" fmla="val 40000"/>
            </a:avLst>
          </a:prstGeom>
          <a:solidFill>
            <a:srgbClr val="0A2032"/>
          </a:solidFill>
          <a:ln w="12700">
            <a:solidFill>
              <a:srgbClr val="23425C"/>
            </a:solidFill>
            <a:prstDash val="solid"/>
          </a:ln>
        </p:spPr>
      </p:sp>
      <p:sp>
        <p:nvSpPr>
          <p:cNvPr id="29" name="Text 27"/>
          <p:cNvSpPr/>
          <p:nvPr/>
        </p:nvSpPr>
        <p:spPr>
          <a:xfrm>
            <a:off x="4416552" y="4142232"/>
            <a:ext cx="2523744" cy="182880"/>
          </a:xfrm>
          <a:prstGeom prst="rect">
            <a:avLst/>
          </a:prstGeom>
          <a:noFill/>
          <a:ln/>
        </p:spPr>
        <p:txBody>
          <a:bodyPr wrap="square" lIns="0" tIns="0" rIns="0" bIns="0" rtlCol="0" anchor="ctr">
            <a:normAutofit/>
          </a:bodyPr>
          <a:lstStyle/>
          <a:p>
            <a:pPr algn="l" indent="0" marL="0">
              <a:buNone/>
            </a:pPr>
            <a:r>
              <a:rPr lang="en-US" sz="970" b="1" dirty="0">
                <a:solidFill>
                  <a:srgbClr val="DCEAF6"/>
                </a:solidFill>
                <a:latin typeface="Aptos" pitchFamily="34" charset="0"/>
                <a:ea typeface="Aptos" pitchFamily="34" charset="-122"/>
                <a:cs typeface="Aptos" pitchFamily="34" charset="-120"/>
              </a:rPr>
              <a:t>Placement</a:t>
            </a:r>
            <a:endParaRPr lang="en-US" sz="970" dirty="0"/>
          </a:p>
        </p:txBody>
      </p:sp>
      <p:sp>
        <p:nvSpPr>
          <p:cNvPr id="30" name="Shape 28"/>
          <p:cNvSpPr/>
          <p:nvPr/>
        </p:nvSpPr>
        <p:spPr>
          <a:xfrm>
            <a:off x="4306824" y="4471416"/>
            <a:ext cx="2743200" cy="274320"/>
          </a:xfrm>
          <a:prstGeom prst="roundRect">
            <a:avLst>
              <a:gd name="adj" fmla="val 40000"/>
            </a:avLst>
          </a:prstGeom>
          <a:solidFill>
            <a:srgbClr val="0A2032"/>
          </a:solidFill>
          <a:ln w="12700">
            <a:solidFill>
              <a:srgbClr val="23425C"/>
            </a:solidFill>
            <a:prstDash val="solid"/>
          </a:ln>
        </p:spPr>
      </p:sp>
      <p:sp>
        <p:nvSpPr>
          <p:cNvPr id="31" name="Text 29"/>
          <p:cNvSpPr/>
          <p:nvPr/>
        </p:nvSpPr>
        <p:spPr>
          <a:xfrm>
            <a:off x="4416552" y="4507992"/>
            <a:ext cx="2523744" cy="182880"/>
          </a:xfrm>
          <a:prstGeom prst="rect">
            <a:avLst/>
          </a:prstGeom>
          <a:noFill/>
          <a:ln/>
        </p:spPr>
        <p:txBody>
          <a:bodyPr wrap="square" lIns="0" tIns="0" rIns="0" bIns="0" rtlCol="0" anchor="ctr">
            <a:normAutofit/>
          </a:bodyPr>
          <a:lstStyle/>
          <a:p>
            <a:pPr algn="l" indent="0" marL="0">
              <a:buNone/>
            </a:pPr>
            <a:r>
              <a:rPr lang="en-US" sz="970" b="1" dirty="0">
                <a:solidFill>
                  <a:srgbClr val="DCEAF6"/>
                </a:solidFill>
                <a:latin typeface="Aptos" pitchFamily="34" charset="0"/>
                <a:ea typeface="Aptos" pitchFamily="34" charset="-122"/>
                <a:cs typeface="Aptos" pitchFamily="34" charset="-120"/>
              </a:rPr>
              <a:t>CTS</a:t>
            </a:r>
            <a:endParaRPr lang="en-US" sz="970" dirty="0"/>
          </a:p>
        </p:txBody>
      </p:sp>
      <p:sp>
        <p:nvSpPr>
          <p:cNvPr id="32" name="Shape 30"/>
          <p:cNvSpPr/>
          <p:nvPr/>
        </p:nvSpPr>
        <p:spPr>
          <a:xfrm>
            <a:off x="4306824" y="4837176"/>
            <a:ext cx="2743200" cy="274320"/>
          </a:xfrm>
          <a:prstGeom prst="roundRect">
            <a:avLst>
              <a:gd name="adj" fmla="val 40000"/>
            </a:avLst>
          </a:prstGeom>
          <a:solidFill>
            <a:srgbClr val="0A2032"/>
          </a:solidFill>
          <a:ln w="12700">
            <a:solidFill>
              <a:srgbClr val="23425C"/>
            </a:solidFill>
            <a:prstDash val="solid"/>
          </a:ln>
        </p:spPr>
      </p:sp>
      <p:sp>
        <p:nvSpPr>
          <p:cNvPr id="33" name="Text 31"/>
          <p:cNvSpPr/>
          <p:nvPr/>
        </p:nvSpPr>
        <p:spPr>
          <a:xfrm>
            <a:off x="4416552" y="4873752"/>
            <a:ext cx="2523744" cy="182880"/>
          </a:xfrm>
          <a:prstGeom prst="rect">
            <a:avLst/>
          </a:prstGeom>
          <a:noFill/>
          <a:ln/>
        </p:spPr>
        <p:txBody>
          <a:bodyPr wrap="square" lIns="0" tIns="0" rIns="0" bIns="0" rtlCol="0" anchor="ctr">
            <a:normAutofit/>
          </a:bodyPr>
          <a:lstStyle/>
          <a:p>
            <a:pPr algn="l" indent="0" marL="0">
              <a:buNone/>
            </a:pPr>
            <a:r>
              <a:rPr lang="en-US" sz="970" b="1" dirty="0">
                <a:solidFill>
                  <a:srgbClr val="DCEAF6"/>
                </a:solidFill>
                <a:latin typeface="Aptos" pitchFamily="34" charset="0"/>
                <a:ea typeface="Aptos" pitchFamily="34" charset="-122"/>
                <a:cs typeface="Aptos" pitchFamily="34" charset="-120"/>
              </a:rPr>
              <a:t>Routing</a:t>
            </a:r>
            <a:endParaRPr lang="en-US" sz="970" dirty="0"/>
          </a:p>
        </p:txBody>
      </p:sp>
      <p:sp>
        <p:nvSpPr>
          <p:cNvPr id="34" name="Shape 32"/>
          <p:cNvSpPr/>
          <p:nvPr/>
        </p:nvSpPr>
        <p:spPr>
          <a:xfrm>
            <a:off x="4306824" y="5202936"/>
            <a:ext cx="2743200" cy="274320"/>
          </a:xfrm>
          <a:prstGeom prst="roundRect">
            <a:avLst>
              <a:gd name="adj" fmla="val 40000"/>
            </a:avLst>
          </a:prstGeom>
          <a:solidFill>
            <a:srgbClr val="0A2032"/>
          </a:solidFill>
          <a:ln w="12700">
            <a:solidFill>
              <a:srgbClr val="23425C"/>
            </a:solidFill>
            <a:prstDash val="solid"/>
          </a:ln>
        </p:spPr>
      </p:sp>
      <p:sp>
        <p:nvSpPr>
          <p:cNvPr id="35" name="Text 33"/>
          <p:cNvSpPr/>
          <p:nvPr/>
        </p:nvSpPr>
        <p:spPr>
          <a:xfrm>
            <a:off x="4416552" y="5239512"/>
            <a:ext cx="2523744" cy="182880"/>
          </a:xfrm>
          <a:prstGeom prst="rect">
            <a:avLst/>
          </a:prstGeom>
          <a:noFill/>
          <a:ln/>
        </p:spPr>
        <p:txBody>
          <a:bodyPr wrap="square" lIns="0" tIns="0" rIns="0" bIns="0" rtlCol="0" anchor="ctr">
            <a:normAutofit/>
          </a:bodyPr>
          <a:lstStyle/>
          <a:p>
            <a:pPr algn="l" indent="0" marL="0">
              <a:buNone/>
            </a:pPr>
            <a:r>
              <a:rPr lang="en-US" sz="970" b="1" dirty="0">
                <a:solidFill>
                  <a:srgbClr val="DCEAF6"/>
                </a:solidFill>
                <a:latin typeface="Aptos" pitchFamily="34" charset="0"/>
                <a:ea typeface="Aptos" pitchFamily="34" charset="-122"/>
                <a:cs typeface="Aptos" pitchFamily="34" charset="-120"/>
              </a:rPr>
              <a:t>Timing closure</a:t>
            </a:r>
            <a:endParaRPr lang="en-US" sz="970" dirty="0"/>
          </a:p>
        </p:txBody>
      </p:sp>
      <p:sp>
        <p:nvSpPr>
          <p:cNvPr id="36" name="Shape 34"/>
          <p:cNvSpPr/>
          <p:nvPr/>
        </p:nvSpPr>
        <p:spPr>
          <a:xfrm>
            <a:off x="7607808" y="1426464"/>
            <a:ext cx="3255264" cy="4343400"/>
          </a:xfrm>
          <a:prstGeom prst="roundRect">
            <a:avLst>
              <a:gd name="adj" fmla="val 3371"/>
            </a:avLst>
          </a:prstGeom>
          <a:solidFill>
            <a:srgbClr val="0D1B2C"/>
          </a:solidFill>
          <a:ln w="12700">
            <a:solidFill>
              <a:srgbClr val="26415D"/>
            </a:solidFill>
            <a:prstDash val="solid"/>
          </a:ln>
        </p:spPr>
      </p:sp>
      <p:sp>
        <p:nvSpPr>
          <p:cNvPr id="37" name="Shape 35"/>
          <p:cNvSpPr/>
          <p:nvPr/>
        </p:nvSpPr>
        <p:spPr>
          <a:xfrm>
            <a:off x="7818120" y="1682496"/>
            <a:ext cx="2258568" cy="310896"/>
          </a:xfrm>
          <a:prstGeom prst="roundRect">
            <a:avLst>
              <a:gd name="adj" fmla="val 41176"/>
            </a:avLst>
          </a:prstGeom>
          <a:solidFill>
            <a:srgbClr val="0D2435">
              <a:alpha val="90000"/>
            </a:srgbClr>
          </a:solidFill>
          <a:ln w="12700">
            <a:solidFill>
              <a:srgbClr val="B08CFF">
                <a:alpha val="60000"/>
              </a:srgbClr>
            </a:solidFill>
            <a:prstDash val="solid"/>
          </a:ln>
        </p:spPr>
      </p:sp>
      <p:sp>
        <p:nvSpPr>
          <p:cNvPr id="38" name="Shape 36"/>
          <p:cNvSpPr/>
          <p:nvPr/>
        </p:nvSpPr>
        <p:spPr>
          <a:xfrm>
            <a:off x="7909560" y="1787652"/>
            <a:ext cx="73152" cy="73152"/>
          </a:xfrm>
          <a:prstGeom prst="ellipse">
            <a:avLst/>
          </a:prstGeom>
          <a:solidFill>
            <a:srgbClr val="B08CFF"/>
          </a:solidFill>
          <a:ln w="12700">
            <a:solidFill>
              <a:srgbClr val="B08CFF"/>
            </a:solidFill>
            <a:prstDash val="solid"/>
          </a:ln>
        </p:spPr>
      </p:sp>
      <p:sp>
        <p:nvSpPr>
          <p:cNvPr id="39" name="Text 37"/>
          <p:cNvSpPr/>
          <p:nvPr/>
        </p:nvSpPr>
        <p:spPr>
          <a:xfrm>
            <a:off x="8028432" y="1700784"/>
            <a:ext cx="2011680"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ANALOG / MIXED-SIGNAL</a:t>
            </a:r>
            <a:endParaRPr lang="en-US" sz="920" dirty="0"/>
          </a:p>
        </p:txBody>
      </p:sp>
      <p:sp>
        <p:nvSpPr>
          <p:cNvPr id="40" name="Text 38"/>
          <p:cNvSpPr/>
          <p:nvPr/>
        </p:nvSpPr>
        <p:spPr>
          <a:xfrm>
            <a:off x="7818120" y="2212848"/>
            <a:ext cx="2816352" cy="621792"/>
          </a:xfrm>
          <a:prstGeom prst="rect">
            <a:avLst/>
          </a:prstGeom>
          <a:noFill/>
          <a:ln/>
        </p:spPr>
        <p:txBody>
          <a:bodyPr wrap="square" lIns="0" tIns="0" rIns="0" bIns="0" rtlCol="0" anchor="t">
            <a:normAutofit/>
          </a:bodyPr>
          <a:lstStyle/>
          <a:p>
            <a:pPr algn="l" indent="0" marL="0">
              <a:buNone/>
            </a:pPr>
            <a:r>
              <a:rPr lang="en-US" sz="2120" b="1" dirty="0">
                <a:solidFill>
                  <a:srgbClr val="F5F8FC"/>
                </a:solidFill>
                <a:latin typeface="Aptos Display" pitchFamily="34" charset="0"/>
                <a:ea typeface="Aptos Display" pitchFamily="34" charset="-122"/>
                <a:cs typeface="Aptos Display" pitchFamily="34" charset="-120"/>
              </a:rPr>
              <a:t>Design transistor-level IP</a:t>
            </a:r>
            <a:endParaRPr lang="en-US" sz="2120" dirty="0"/>
          </a:p>
        </p:txBody>
      </p:sp>
      <p:sp>
        <p:nvSpPr>
          <p:cNvPr id="41" name="Text 39"/>
          <p:cNvSpPr/>
          <p:nvPr/>
        </p:nvSpPr>
        <p:spPr>
          <a:xfrm>
            <a:off x="7818120" y="2862072"/>
            <a:ext cx="2788920" cy="685800"/>
          </a:xfrm>
          <a:prstGeom prst="rect">
            <a:avLst/>
          </a:prstGeom>
          <a:noFill/>
          <a:ln/>
        </p:spPr>
        <p:txBody>
          <a:bodyPr wrap="square" lIns="0" tIns="0" rIns="0" bIns="0" rtlCol="0" anchor="t">
            <a:normAutofit/>
          </a:bodyPr>
          <a:lstStyle/>
          <a:p>
            <a:pPr algn="l" indent="0" marL="0">
              <a:buNone/>
            </a:pPr>
            <a:r>
              <a:rPr lang="en-US" sz="1250" dirty="0">
                <a:solidFill>
                  <a:srgbClr val="B7C4D6"/>
                </a:solidFill>
                <a:latin typeface="Aptos" pitchFamily="34" charset="0"/>
                <a:ea typeface="Aptos" pitchFamily="34" charset="-122"/>
                <a:cs typeface="Aptos" pitchFamily="34" charset="-120"/>
              </a:rPr>
              <a:t>Create and verify high-speed analog and mixed-signal circuits.</a:t>
            </a:r>
            <a:endParaRPr lang="en-US" sz="1250" dirty="0"/>
          </a:p>
        </p:txBody>
      </p:sp>
      <p:sp>
        <p:nvSpPr>
          <p:cNvPr id="42" name="Shape 40"/>
          <p:cNvSpPr/>
          <p:nvPr/>
        </p:nvSpPr>
        <p:spPr>
          <a:xfrm>
            <a:off x="7818120" y="3739896"/>
            <a:ext cx="2743200" cy="274320"/>
          </a:xfrm>
          <a:prstGeom prst="roundRect">
            <a:avLst>
              <a:gd name="adj" fmla="val 40000"/>
            </a:avLst>
          </a:prstGeom>
          <a:solidFill>
            <a:srgbClr val="0A2032"/>
          </a:solidFill>
          <a:ln w="12700">
            <a:solidFill>
              <a:srgbClr val="23425C"/>
            </a:solidFill>
            <a:prstDash val="solid"/>
          </a:ln>
        </p:spPr>
      </p:sp>
      <p:sp>
        <p:nvSpPr>
          <p:cNvPr id="43" name="Text 41"/>
          <p:cNvSpPr/>
          <p:nvPr/>
        </p:nvSpPr>
        <p:spPr>
          <a:xfrm>
            <a:off x="7927848" y="3776472"/>
            <a:ext cx="2523744" cy="182880"/>
          </a:xfrm>
          <a:prstGeom prst="rect">
            <a:avLst/>
          </a:prstGeom>
          <a:noFill/>
          <a:ln/>
        </p:spPr>
        <p:txBody>
          <a:bodyPr wrap="square" lIns="0" tIns="0" rIns="0" bIns="0" rtlCol="0" anchor="ctr">
            <a:normAutofit/>
          </a:bodyPr>
          <a:lstStyle/>
          <a:p>
            <a:pPr algn="l" indent="0" marL="0">
              <a:buNone/>
            </a:pPr>
            <a:r>
              <a:rPr lang="en-US" sz="970" b="1" dirty="0">
                <a:solidFill>
                  <a:srgbClr val="DCEAF6"/>
                </a:solidFill>
                <a:latin typeface="Aptos" pitchFamily="34" charset="0"/>
                <a:ea typeface="Aptos" pitchFamily="34" charset="-122"/>
                <a:cs typeface="Aptos" pitchFamily="34" charset="-120"/>
              </a:rPr>
              <a:t>SerDes</a:t>
            </a:r>
            <a:endParaRPr lang="en-US" sz="970" dirty="0"/>
          </a:p>
        </p:txBody>
      </p:sp>
      <p:sp>
        <p:nvSpPr>
          <p:cNvPr id="44" name="Shape 42"/>
          <p:cNvSpPr/>
          <p:nvPr/>
        </p:nvSpPr>
        <p:spPr>
          <a:xfrm>
            <a:off x="7818120" y="4105656"/>
            <a:ext cx="2743200" cy="274320"/>
          </a:xfrm>
          <a:prstGeom prst="roundRect">
            <a:avLst>
              <a:gd name="adj" fmla="val 40000"/>
            </a:avLst>
          </a:prstGeom>
          <a:solidFill>
            <a:srgbClr val="0A2032"/>
          </a:solidFill>
          <a:ln w="12700">
            <a:solidFill>
              <a:srgbClr val="23425C"/>
            </a:solidFill>
            <a:prstDash val="solid"/>
          </a:ln>
        </p:spPr>
      </p:sp>
      <p:sp>
        <p:nvSpPr>
          <p:cNvPr id="45" name="Text 43"/>
          <p:cNvSpPr/>
          <p:nvPr/>
        </p:nvSpPr>
        <p:spPr>
          <a:xfrm>
            <a:off x="7927848" y="4142232"/>
            <a:ext cx="2523744" cy="182880"/>
          </a:xfrm>
          <a:prstGeom prst="rect">
            <a:avLst/>
          </a:prstGeom>
          <a:noFill/>
          <a:ln/>
        </p:spPr>
        <p:txBody>
          <a:bodyPr wrap="square" lIns="0" tIns="0" rIns="0" bIns="0" rtlCol="0" anchor="ctr">
            <a:normAutofit/>
          </a:bodyPr>
          <a:lstStyle/>
          <a:p>
            <a:pPr algn="l" indent="0" marL="0">
              <a:buNone/>
            </a:pPr>
            <a:r>
              <a:rPr lang="en-US" sz="970" b="1" dirty="0">
                <a:solidFill>
                  <a:srgbClr val="DCEAF6"/>
                </a:solidFill>
                <a:latin typeface="Aptos" pitchFamily="34" charset="0"/>
                <a:ea typeface="Aptos" pitchFamily="34" charset="-122"/>
                <a:cs typeface="Aptos" pitchFamily="34" charset="-120"/>
              </a:rPr>
              <a:t>PLL</a:t>
            </a:r>
            <a:endParaRPr lang="en-US" sz="970" dirty="0"/>
          </a:p>
        </p:txBody>
      </p:sp>
      <p:sp>
        <p:nvSpPr>
          <p:cNvPr id="46" name="Shape 44"/>
          <p:cNvSpPr/>
          <p:nvPr/>
        </p:nvSpPr>
        <p:spPr>
          <a:xfrm>
            <a:off x="7818120" y="4471416"/>
            <a:ext cx="2743200" cy="274320"/>
          </a:xfrm>
          <a:prstGeom prst="roundRect">
            <a:avLst>
              <a:gd name="adj" fmla="val 40000"/>
            </a:avLst>
          </a:prstGeom>
          <a:solidFill>
            <a:srgbClr val="0A2032"/>
          </a:solidFill>
          <a:ln w="12700">
            <a:solidFill>
              <a:srgbClr val="23425C"/>
            </a:solidFill>
            <a:prstDash val="solid"/>
          </a:ln>
        </p:spPr>
      </p:sp>
      <p:sp>
        <p:nvSpPr>
          <p:cNvPr id="47" name="Text 45"/>
          <p:cNvSpPr/>
          <p:nvPr/>
        </p:nvSpPr>
        <p:spPr>
          <a:xfrm>
            <a:off x="7927848" y="4507992"/>
            <a:ext cx="2523744" cy="182880"/>
          </a:xfrm>
          <a:prstGeom prst="rect">
            <a:avLst/>
          </a:prstGeom>
          <a:noFill/>
          <a:ln/>
        </p:spPr>
        <p:txBody>
          <a:bodyPr wrap="square" lIns="0" tIns="0" rIns="0" bIns="0" rtlCol="0" anchor="ctr">
            <a:normAutofit/>
          </a:bodyPr>
          <a:lstStyle/>
          <a:p>
            <a:pPr algn="l" indent="0" marL="0">
              <a:buNone/>
            </a:pPr>
            <a:r>
              <a:rPr lang="en-US" sz="970" b="1" dirty="0">
                <a:solidFill>
                  <a:srgbClr val="DCEAF6"/>
                </a:solidFill>
                <a:latin typeface="Aptos" pitchFamily="34" charset="0"/>
                <a:ea typeface="Aptos" pitchFamily="34" charset="-122"/>
                <a:cs typeface="Aptos" pitchFamily="34" charset="-120"/>
              </a:rPr>
              <a:t>ADC / DAC</a:t>
            </a:r>
            <a:endParaRPr lang="en-US" sz="970" dirty="0"/>
          </a:p>
        </p:txBody>
      </p:sp>
      <p:sp>
        <p:nvSpPr>
          <p:cNvPr id="48" name="Shape 46"/>
          <p:cNvSpPr/>
          <p:nvPr/>
        </p:nvSpPr>
        <p:spPr>
          <a:xfrm>
            <a:off x="7818120" y="4837176"/>
            <a:ext cx="2743200" cy="274320"/>
          </a:xfrm>
          <a:prstGeom prst="roundRect">
            <a:avLst>
              <a:gd name="adj" fmla="val 40000"/>
            </a:avLst>
          </a:prstGeom>
          <a:solidFill>
            <a:srgbClr val="0A2032"/>
          </a:solidFill>
          <a:ln w="12700">
            <a:solidFill>
              <a:srgbClr val="23425C"/>
            </a:solidFill>
            <a:prstDash val="solid"/>
          </a:ln>
        </p:spPr>
      </p:sp>
      <p:sp>
        <p:nvSpPr>
          <p:cNvPr id="49" name="Text 47"/>
          <p:cNvSpPr/>
          <p:nvPr/>
        </p:nvSpPr>
        <p:spPr>
          <a:xfrm>
            <a:off x="7927848" y="4873752"/>
            <a:ext cx="2523744" cy="182880"/>
          </a:xfrm>
          <a:prstGeom prst="rect">
            <a:avLst/>
          </a:prstGeom>
          <a:noFill/>
          <a:ln/>
        </p:spPr>
        <p:txBody>
          <a:bodyPr wrap="square" lIns="0" tIns="0" rIns="0" bIns="0" rtlCol="0" anchor="ctr">
            <a:normAutofit/>
          </a:bodyPr>
          <a:lstStyle/>
          <a:p>
            <a:pPr algn="l" indent="0" marL="0">
              <a:buNone/>
            </a:pPr>
            <a:r>
              <a:rPr lang="en-US" sz="970" b="1" dirty="0">
                <a:solidFill>
                  <a:srgbClr val="DCEAF6"/>
                </a:solidFill>
                <a:latin typeface="Aptos" pitchFamily="34" charset="0"/>
                <a:ea typeface="Aptos" pitchFamily="34" charset="-122"/>
                <a:cs typeface="Aptos" pitchFamily="34" charset="-120"/>
              </a:rPr>
              <a:t>SPICE / Spectre</a:t>
            </a:r>
            <a:endParaRPr lang="en-US" sz="970" dirty="0"/>
          </a:p>
        </p:txBody>
      </p:sp>
      <p:sp>
        <p:nvSpPr>
          <p:cNvPr id="50" name="Text 48"/>
          <p:cNvSpPr/>
          <p:nvPr/>
        </p:nvSpPr>
        <p:spPr>
          <a:xfrm>
            <a:off x="576072" y="6236208"/>
            <a:ext cx="10835640" cy="164592"/>
          </a:xfrm>
          <a:prstGeom prst="rect">
            <a:avLst/>
          </a:prstGeom>
          <a:noFill/>
          <a:ln/>
        </p:spPr>
        <p:txBody>
          <a:bodyPr wrap="square" lIns="0" tIns="0" rIns="0" bIns="0" rtlCol="0" anchor="ctr">
            <a:normAutofit/>
          </a:bodyPr>
          <a:lstStyle/>
          <a:p>
            <a:pPr algn="l" indent="0" marL="0">
              <a:buNone/>
            </a:pPr>
            <a:r>
              <a:rPr lang="en-US" sz="730" dirty="0">
                <a:solidFill>
                  <a:srgbClr val="6F829A"/>
                </a:solidFill>
                <a:latin typeface="Aptos" pitchFamily="34" charset="0"/>
                <a:ea typeface="Aptos" pitchFamily="34" charset="-122"/>
                <a:cs typeface="Aptos" pitchFamily="34" charset="-120"/>
              </a:rPr>
              <a:t>Skill areas summarized from the group’s DFT, PD/STA and Analog/AMS discussion.</a:t>
            </a:r>
            <a:endParaRPr lang="en-US" sz="730" dirty="0"/>
          </a:p>
        </p:txBody>
      </p:sp>
      <p:sp>
        <p:nvSpPr>
          <p:cNvPr id="25" name="Slide Number Placeholder 0"/>
          <p:cNvSpPr>
            <a:spLocks noGrp="1"/>
          </p:cNvSpPr>
          <p:nvPr>
            <p:ph type="sldNum" sz="quarter" idx="4294967295"/>
          </p:nvPr>
        </p:nvSpPr>
        <p:spPr>
          <a:xfrm>
            <a:off x="11201400" y="650138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F829A"/>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47472"/>
            <a:ext cx="5303520" cy="201168"/>
          </a:xfrm>
          <a:prstGeom prst="rect">
            <a:avLst/>
          </a:prstGeom>
          <a:noFill/>
          <a:ln/>
        </p:spPr>
        <p:txBody>
          <a:bodyPr wrap="square" lIns="0" tIns="0" rIns="0" bIns="0" rtlCol="0" anchor="ctr">
            <a:normAutofit/>
          </a:bodyPr>
          <a:lstStyle/>
          <a:p>
            <a:pPr algn="l" indent="0" marL="0">
              <a:buNone/>
            </a:pPr>
            <a:r>
              <a:rPr lang="en-US" sz="930" b="1" spc="140" kern="0" dirty="0">
                <a:solidFill>
                  <a:srgbClr val="4FD1C5"/>
                </a:solidFill>
                <a:latin typeface="Aptos" pitchFamily="34" charset="0"/>
                <a:ea typeface="Aptos" pitchFamily="34" charset="-122"/>
                <a:cs typeface="Aptos" pitchFamily="34" charset="-120"/>
              </a:rPr>
              <a:t>WHAT EACH TRACK EXPECTS</a:t>
            </a:r>
            <a:endParaRPr lang="en-US" sz="930" dirty="0"/>
          </a:p>
        </p:txBody>
      </p:sp>
      <p:sp>
        <p:nvSpPr>
          <p:cNvPr id="3" name="Text 1"/>
          <p:cNvSpPr/>
          <p:nvPr/>
        </p:nvSpPr>
        <p:spPr>
          <a:xfrm>
            <a:off x="566928" y="566928"/>
            <a:ext cx="10881360" cy="530352"/>
          </a:xfrm>
          <a:prstGeom prst="rect">
            <a:avLst/>
          </a:prstGeom>
          <a:noFill/>
          <a:ln/>
        </p:spPr>
        <p:txBody>
          <a:bodyPr wrap="square" lIns="0" tIns="0" rIns="0" bIns="0" rtlCol="0" anchor="ctr">
            <a:normAutofit/>
          </a:bodyPr>
          <a:lstStyle/>
          <a:p>
            <a:pPr algn="l" indent="0" marL="0">
              <a:buNone/>
            </a:pPr>
            <a:r>
              <a:rPr lang="en-US" sz="2750" b="1" dirty="0">
                <a:solidFill>
                  <a:srgbClr val="F5F8FC"/>
                </a:solidFill>
                <a:latin typeface="Aptos Display" pitchFamily="34" charset="0"/>
                <a:ea typeface="Aptos Display" pitchFamily="34" charset="-122"/>
                <a:cs typeface="Aptos Display" pitchFamily="34" charset="-120"/>
              </a:rPr>
              <a:t>Required Skills Matrix for IC Jobs</a:t>
            </a:r>
            <a:endParaRPr lang="en-US" sz="2750" dirty="0"/>
          </a:p>
        </p:txBody>
      </p:sp>
      <p:sp>
        <p:nvSpPr>
          <p:cNvPr id="4" name="Shape 2"/>
          <p:cNvSpPr/>
          <p:nvPr/>
        </p:nvSpPr>
        <p:spPr>
          <a:xfrm>
            <a:off x="9555480" y="338328"/>
            <a:ext cx="2057400" cy="310896"/>
          </a:xfrm>
          <a:prstGeom prst="roundRect">
            <a:avLst>
              <a:gd name="adj" fmla="val 35294"/>
            </a:avLst>
          </a:prstGeom>
          <a:solidFill>
            <a:srgbClr val="10263D"/>
          </a:solidFill>
          <a:ln w="12700">
            <a:solidFill>
              <a:srgbClr val="26415D"/>
            </a:solidFill>
            <a:prstDash val="solid"/>
          </a:ln>
        </p:spPr>
      </p:sp>
      <p:sp>
        <p:nvSpPr>
          <p:cNvPr id="5" name="Text 3"/>
          <p:cNvSpPr/>
          <p:nvPr/>
        </p:nvSpPr>
        <p:spPr>
          <a:xfrm>
            <a:off x="9646920" y="370332"/>
            <a:ext cx="1874520" cy="210312"/>
          </a:xfrm>
          <a:prstGeom prst="rect">
            <a:avLst/>
          </a:prstGeom>
          <a:noFill/>
          <a:ln/>
        </p:spPr>
        <p:txBody>
          <a:bodyPr wrap="square" lIns="0" tIns="0" rIns="0" bIns="0" rtlCol="0" anchor="ctr">
            <a:normAutofit/>
          </a:bodyPr>
          <a:lstStyle/>
          <a:p>
            <a:pPr algn="ctr" indent="0" marL="0">
              <a:buNone/>
            </a:pPr>
            <a:r>
              <a:rPr lang="en-US" sz="840" b="1" dirty="0">
                <a:solidFill>
                  <a:srgbClr val="D9E8F6"/>
                </a:solidFill>
                <a:latin typeface="Aptos" pitchFamily="34" charset="0"/>
                <a:ea typeface="Aptos" pitchFamily="34" charset="-122"/>
                <a:cs typeface="Aptos" pitchFamily="34" charset="-120"/>
              </a:rPr>
              <a:t>NGUYỄN HỮU ĐỨC</a:t>
            </a:r>
            <a:endParaRPr lang="en-US" sz="840" dirty="0"/>
          </a:p>
        </p:txBody>
      </p:sp>
      <p:sp>
        <p:nvSpPr>
          <p:cNvPr id="6" name="Shape 4"/>
          <p:cNvSpPr/>
          <p:nvPr/>
        </p:nvSpPr>
        <p:spPr>
          <a:xfrm>
            <a:off x="594360" y="1389888"/>
            <a:ext cx="1700784" cy="484632"/>
          </a:xfrm>
          <a:prstGeom prst="roundRect">
            <a:avLst>
              <a:gd name="adj" fmla="val 22642"/>
            </a:avLst>
          </a:prstGeom>
          <a:solidFill>
            <a:srgbClr val="10263D"/>
          </a:solidFill>
          <a:ln w="12700">
            <a:solidFill>
              <a:srgbClr val="26415D"/>
            </a:solidFill>
            <a:prstDash val="solid"/>
          </a:ln>
        </p:spPr>
      </p:sp>
      <p:sp>
        <p:nvSpPr>
          <p:cNvPr id="7" name="Text 5"/>
          <p:cNvSpPr/>
          <p:nvPr/>
        </p:nvSpPr>
        <p:spPr>
          <a:xfrm>
            <a:off x="649224" y="1472184"/>
            <a:ext cx="1591056" cy="301752"/>
          </a:xfrm>
          <a:prstGeom prst="rect">
            <a:avLst/>
          </a:prstGeom>
          <a:noFill/>
          <a:ln/>
        </p:spPr>
        <p:txBody>
          <a:bodyPr wrap="square" lIns="0" tIns="0" rIns="0" bIns="0" rtlCol="0" anchor="ctr">
            <a:normAutofit/>
          </a:bodyPr>
          <a:lstStyle/>
          <a:p>
            <a:pPr algn="l" indent="0" marL="0">
              <a:buNone/>
            </a:pPr>
            <a:r>
              <a:rPr lang="en-US" sz="940" b="1" dirty="0">
                <a:solidFill>
                  <a:srgbClr val="DFEAF7"/>
                </a:solidFill>
                <a:latin typeface="Aptos" pitchFamily="34" charset="0"/>
                <a:ea typeface="Aptos" pitchFamily="34" charset="-122"/>
                <a:cs typeface="Aptos" pitchFamily="34" charset="-120"/>
              </a:rPr>
              <a:t>Track</a:t>
            </a:r>
            <a:endParaRPr lang="en-US" sz="940" dirty="0"/>
          </a:p>
        </p:txBody>
      </p:sp>
      <p:sp>
        <p:nvSpPr>
          <p:cNvPr id="8" name="Shape 6"/>
          <p:cNvSpPr/>
          <p:nvPr/>
        </p:nvSpPr>
        <p:spPr>
          <a:xfrm>
            <a:off x="2295144" y="1389888"/>
            <a:ext cx="1207008" cy="484632"/>
          </a:xfrm>
          <a:prstGeom prst="roundRect">
            <a:avLst>
              <a:gd name="adj" fmla="val 22642"/>
            </a:avLst>
          </a:prstGeom>
          <a:solidFill>
            <a:srgbClr val="10263D"/>
          </a:solidFill>
          <a:ln w="12700">
            <a:solidFill>
              <a:srgbClr val="26415D"/>
            </a:solidFill>
            <a:prstDash val="solid"/>
          </a:ln>
        </p:spPr>
      </p:sp>
      <p:sp>
        <p:nvSpPr>
          <p:cNvPr id="9" name="Text 7"/>
          <p:cNvSpPr/>
          <p:nvPr/>
        </p:nvSpPr>
        <p:spPr>
          <a:xfrm>
            <a:off x="2350008" y="1472184"/>
            <a:ext cx="1097280" cy="301752"/>
          </a:xfrm>
          <a:prstGeom prst="rect">
            <a:avLst/>
          </a:prstGeom>
          <a:noFill/>
          <a:ln/>
        </p:spPr>
        <p:txBody>
          <a:bodyPr wrap="square" lIns="0" tIns="0" rIns="0" bIns="0" rtlCol="0" anchor="ctr">
            <a:normAutofit/>
          </a:bodyPr>
          <a:lstStyle/>
          <a:p>
            <a:pPr algn="ctr" indent="0" marL="0">
              <a:buNone/>
            </a:pPr>
            <a:r>
              <a:rPr lang="en-US" sz="940" b="1" dirty="0">
                <a:solidFill>
                  <a:srgbClr val="DFEAF7"/>
                </a:solidFill>
                <a:latin typeface="Aptos" pitchFamily="34" charset="0"/>
                <a:ea typeface="Aptos" pitchFamily="34" charset="-122"/>
                <a:cs typeface="Aptos" pitchFamily="34" charset="-120"/>
              </a:rPr>
              <a:t>HDL / UVM</a:t>
            </a:r>
            <a:endParaRPr lang="en-US" sz="940" dirty="0"/>
          </a:p>
        </p:txBody>
      </p:sp>
      <p:sp>
        <p:nvSpPr>
          <p:cNvPr id="10" name="Shape 8"/>
          <p:cNvSpPr/>
          <p:nvPr/>
        </p:nvSpPr>
        <p:spPr>
          <a:xfrm>
            <a:off x="3502152" y="1389888"/>
            <a:ext cx="1298448" cy="484632"/>
          </a:xfrm>
          <a:prstGeom prst="roundRect">
            <a:avLst>
              <a:gd name="adj" fmla="val 22642"/>
            </a:avLst>
          </a:prstGeom>
          <a:solidFill>
            <a:srgbClr val="10263D"/>
          </a:solidFill>
          <a:ln w="12700">
            <a:solidFill>
              <a:srgbClr val="26415D"/>
            </a:solidFill>
            <a:prstDash val="solid"/>
          </a:ln>
        </p:spPr>
      </p:sp>
      <p:sp>
        <p:nvSpPr>
          <p:cNvPr id="11" name="Text 9"/>
          <p:cNvSpPr/>
          <p:nvPr/>
        </p:nvSpPr>
        <p:spPr>
          <a:xfrm>
            <a:off x="3557016" y="1472184"/>
            <a:ext cx="1188720" cy="301752"/>
          </a:xfrm>
          <a:prstGeom prst="rect">
            <a:avLst/>
          </a:prstGeom>
          <a:noFill/>
          <a:ln/>
        </p:spPr>
        <p:txBody>
          <a:bodyPr wrap="square" lIns="0" tIns="0" rIns="0" bIns="0" rtlCol="0" anchor="ctr">
            <a:normAutofit/>
          </a:bodyPr>
          <a:lstStyle/>
          <a:p>
            <a:pPr algn="ctr" indent="0" marL="0">
              <a:buNone/>
            </a:pPr>
            <a:r>
              <a:rPr lang="en-US" sz="940" b="1" dirty="0">
                <a:solidFill>
                  <a:srgbClr val="DFEAF7"/>
                </a:solidFill>
                <a:latin typeface="Aptos" pitchFamily="34" charset="0"/>
                <a:ea typeface="Aptos" pitchFamily="34" charset="-122"/>
                <a:cs typeface="Aptos" pitchFamily="34" charset="-120"/>
              </a:rPr>
              <a:t>DFT / Test</a:t>
            </a:r>
            <a:endParaRPr lang="en-US" sz="940" dirty="0"/>
          </a:p>
        </p:txBody>
      </p:sp>
      <p:sp>
        <p:nvSpPr>
          <p:cNvPr id="12" name="Shape 10"/>
          <p:cNvSpPr/>
          <p:nvPr/>
        </p:nvSpPr>
        <p:spPr>
          <a:xfrm>
            <a:off x="4800600" y="1389888"/>
            <a:ext cx="1133856" cy="484632"/>
          </a:xfrm>
          <a:prstGeom prst="roundRect">
            <a:avLst>
              <a:gd name="adj" fmla="val 22642"/>
            </a:avLst>
          </a:prstGeom>
          <a:solidFill>
            <a:srgbClr val="10263D"/>
          </a:solidFill>
          <a:ln w="12700">
            <a:solidFill>
              <a:srgbClr val="26415D"/>
            </a:solidFill>
            <a:prstDash val="solid"/>
          </a:ln>
        </p:spPr>
      </p:sp>
      <p:sp>
        <p:nvSpPr>
          <p:cNvPr id="13" name="Text 11"/>
          <p:cNvSpPr/>
          <p:nvPr/>
        </p:nvSpPr>
        <p:spPr>
          <a:xfrm>
            <a:off x="4855464" y="1472184"/>
            <a:ext cx="1024128" cy="301752"/>
          </a:xfrm>
          <a:prstGeom prst="rect">
            <a:avLst/>
          </a:prstGeom>
          <a:noFill/>
          <a:ln/>
        </p:spPr>
        <p:txBody>
          <a:bodyPr wrap="square" lIns="0" tIns="0" rIns="0" bIns="0" rtlCol="0" anchor="ctr">
            <a:normAutofit/>
          </a:bodyPr>
          <a:lstStyle/>
          <a:p>
            <a:pPr algn="ctr" indent="0" marL="0">
              <a:buNone/>
            </a:pPr>
            <a:r>
              <a:rPr lang="en-US" sz="940" b="1" dirty="0">
                <a:solidFill>
                  <a:srgbClr val="DFEAF7"/>
                </a:solidFill>
                <a:latin typeface="Aptos" pitchFamily="34" charset="0"/>
                <a:ea typeface="Aptos" pitchFamily="34" charset="-122"/>
                <a:cs typeface="Aptos" pitchFamily="34" charset="-120"/>
              </a:rPr>
              <a:t>PnR / STA</a:t>
            </a:r>
            <a:endParaRPr lang="en-US" sz="940" dirty="0"/>
          </a:p>
        </p:txBody>
      </p:sp>
      <p:sp>
        <p:nvSpPr>
          <p:cNvPr id="14" name="Shape 12"/>
          <p:cNvSpPr/>
          <p:nvPr/>
        </p:nvSpPr>
        <p:spPr>
          <a:xfrm>
            <a:off x="5934456" y="1389888"/>
            <a:ext cx="1207008" cy="484632"/>
          </a:xfrm>
          <a:prstGeom prst="roundRect">
            <a:avLst>
              <a:gd name="adj" fmla="val 22642"/>
            </a:avLst>
          </a:prstGeom>
          <a:solidFill>
            <a:srgbClr val="10263D"/>
          </a:solidFill>
          <a:ln w="12700">
            <a:solidFill>
              <a:srgbClr val="26415D"/>
            </a:solidFill>
            <a:prstDash val="solid"/>
          </a:ln>
        </p:spPr>
      </p:sp>
      <p:sp>
        <p:nvSpPr>
          <p:cNvPr id="15" name="Text 13"/>
          <p:cNvSpPr/>
          <p:nvPr/>
        </p:nvSpPr>
        <p:spPr>
          <a:xfrm>
            <a:off x="5989320" y="1472184"/>
            <a:ext cx="1097280" cy="301752"/>
          </a:xfrm>
          <a:prstGeom prst="rect">
            <a:avLst/>
          </a:prstGeom>
          <a:noFill/>
          <a:ln/>
        </p:spPr>
        <p:txBody>
          <a:bodyPr wrap="square" lIns="0" tIns="0" rIns="0" bIns="0" rtlCol="0" anchor="ctr">
            <a:normAutofit/>
          </a:bodyPr>
          <a:lstStyle/>
          <a:p>
            <a:pPr algn="ctr" indent="0" marL="0">
              <a:buNone/>
            </a:pPr>
            <a:r>
              <a:rPr lang="en-US" sz="940" b="1" dirty="0">
                <a:solidFill>
                  <a:srgbClr val="DFEAF7"/>
                </a:solidFill>
                <a:latin typeface="Aptos" pitchFamily="34" charset="0"/>
                <a:ea typeface="Aptos" pitchFamily="34" charset="-122"/>
                <a:cs typeface="Aptos" pitchFamily="34" charset="-120"/>
              </a:rPr>
              <a:t>SPICE / AMS</a:t>
            </a:r>
            <a:endParaRPr lang="en-US" sz="940" dirty="0"/>
          </a:p>
        </p:txBody>
      </p:sp>
      <p:sp>
        <p:nvSpPr>
          <p:cNvPr id="16" name="Shape 14"/>
          <p:cNvSpPr/>
          <p:nvPr/>
        </p:nvSpPr>
        <p:spPr>
          <a:xfrm>
            <a:off x="7141464" y="1389888"/>
            <a:ext cx="1316736" cy="484632"/>
          </a:xfrm>
          <a:prstGeom prst="roundRect">
            <a:avLst>
              <a:gd name="adj" fmla="val 22642"/>
            </a:avLst>
          </a:prstGeom>
          <a:solidFill>
            <a:srgbClr val="10263D"/>
          </a:solidFill>
          <a:ln w="12700">
            <a:solidFill>
              <a:srgbClr val="26415D"/>
            </a:solidFill>
            <a:prstDash val="solid"/>
          </a:ln>
        </p:spPr>
      </p:sp>
      <p:sp>
        <p:nvSpPr>
          <p:cNvPr id="17" name="Text 15"/>
          <p:cNvSpPr/>
          <p:nvPr/>
        </p:nvSpPr>
        <p:spPr>
          <a:xfrm>
            <a:off x="7196328" y="1472184"/>
            <a:ext cx="1207008" cy="301752"/>
          </a:xfrm>
          <a:prstGeom prst="rect">
            <a:avLst/>
          </a:prstGeom>
          <a:noFill/>
          <a:ln/>
        </p:spPr>
        <p:txBody>
          <a:bodyPr wrap="square" lIns="0" tIns="0" rIns="0" bIns="0" rtlCol="0" anchor="ctr">
            <a:normAutofit/>
          </a:bodyPr>
          <a:lstStyle/>
          <a:p>
            <a:pPr algn="ctr" indent="0" marL="0">
              <a:buNone/>
            </a:pPr>
            <a:r>
              <a:rPr lang="en-US" sz="940" b="1" dirty="0">
                <a:solidFill>
                  <a:srgbClr val="DFEAF7"/>
                </a:solidFill>
                <a:latin typeface="Aptos" pitchFamily="34" charset="0"/>
                <a:ea typeface="Aptos" pitchFamily="34" charset="-122"/>
                <a:cs typeface="Aptos" pitchFamily="34" charset="-120"/>
              </a:rPr>
              <a:t>EDA Tools</a:t>
            </a:r>
            <a:endParaRPr lang="en-US" sz="940" dirty="0"/>
          </a:p>
        </p:txBody>
      </p:sp>
      <p:sp>
        <p:nvSpPr>
          <p:cNvPr id="18" name="Shape 16"/>
          <p:cNvSpPr/>
          <p:nvPr/>
        </p:nvSpPr>
        <p:spPr>
          <a:xfrm>
            <a:off x="8458200" y="1389888"/>
            <a:ext cx="1609344" cy="484632"/>
          </a:xfrm>
          <a:prstGeom prst="roundRect">
            <a:avLst>
              <a:gd name="adj" fmla="val 22642"/>
            </a:avLst>
          </a:prstGeom>
          <a:solidFill>
            <a:srgbClr val="10263D"/>
          </a:solidFill>
          <a:ln w="12700">
            <a:solidFill>
              <a:srgbClr val="26415D"/>
            </a:solidFill>
            <a:prstDash val="solid"/>
          </a:ln>
        </p:spPr>
      </p:sp>
      <p:sp>
        <p:nvSpPr>
          <p:cNvPr id="19" name="Text 17"/>
          <p:cNvSpPr/>
          <p:nvPr/>
        </p:nvSpPr>
        <p:spPr>
          <a:xfrm>
            <a:off x="8513064" y="1472184"/>
            <a:ext cx="1499616" cy="301752"/>
          </a:xfrm>
          <a:prstGeom prst="rect">
            <a:avLst/>
          </a:prstGeom>
          <a:noFill/>
          <a:ln/>
        </p:spPr>
        <p:txBody>
          <a:bodyPr wrap="square" lIns="0" tIns="0" rIns="0" bIns="0" rtlCol="0" anchor="ctr">
            <a:normAutofit/>
          </a:bodyPr>
          <a:lstStyle/>
          <a:p>
            <a:pPr algn="ctr" indent="0" marL="0">
              <a:buNone/>
            </a:pPr>
            <a:r>
              <a:rPr lang="en-US" sz="940" b="1" dirty="0">
                <a:solidFill>
                  <a:srgbClr val="DFEAF7"/>
                </a:solidFill>
                <a:latin typeface="Aptos" pitchFamily="34" charset="0"/>
                <a:ea typeface="Aptos" pitchFamily="34" charset="-122"/>
                <a:cs typeface="Aptos" pitchFamily="34" charset="-120"/>
              </a:rPr>
              <a:t>Linux + Scripting</a:t>
            </a:r>
            <a:endParaRPr lang="en-US" sz="940" dirty="0"/>
          </a:p>
        </p:txBody>
      </p:sp>
      <p:sp>
        <p:nvSpPr>
          <p:cNvPr id="20" name="Shape 18"/>
          <p:cNvSpPr/>
          <p:nvPr/>
        </p:nvSpPr>
        <p:spPr>
          <a:xfrm>
            <a:off x="594360" y="1874520"/>
            <a:ext cx="1700784" cy="694944"/>
          </a:xfrm>
          <a:prstGeom prst="roundRect">
            <a:avLst>
              <a:gd name="adj" fmla="val 15789"/>
            </a:avLst>
          </a:prstGeom>
          <a:solidFill>
            <a:srgbClr val="0B1928"/>
          </a:solidFill>
          <a:ln w="12700">
            <a:solidFill>
              <a:srgbClr val="26415D"/>
            </a:solidFill>
            <a:prstDash val="solid"/>
          </a:ln>
        </p:spPr>
      </p:sp>
      <p:sp>
        <p:nvSpPr>
          <p:cNvPr id="21" name="Text 19"/>
          <p:cNvSpPr/>
          <p:nvPr/>
        </p:nvSpPr>
        <p:spPr>
          <a:xfrm>
            <a:off x="649224" y="1993392"/>
            <a:ext cx="1591056" cy="438912"/>
          </a:xfrm>
          <a:prstGeom prst="rect">
            <a:avLst/>
          </a:prstGeom>
          <a:noFill/>
          <a:ln/>
        </p:spPr>
        <p:txBody>
          <a:bodyPr wrap="square" lIns="0" tIns="0" rIns="0" bIns="0" rtlCol="0" anchor="ctr">
            <a:normAutofit/>
          </a:bodyPr>
          <a:lstStyle/>
          <a:p>
            <a:pPr algn="l" indent="0" marL="0">
              <a:buNone/>
            </a:pPr>
            <a:r>
              <a:rPr lang="en-US" sz="1030" b="1" dirty="0">
                <a:solidFill>
                  <a:srgbClr val="F5F8FC"/>
                </a:solidFill>
                <a:latin typeface="Aptos" pitchFamily="34" charset="0"/>
                <a:ea typeface="Aptos" pitchFamily="34" charset="-122"/>
                <a:cs typeface="Aptos" pitchFamily="34" charset="-120"/>
              </a:rPr>
              <a:t>RTL Design</a:t>
            </a:r>
            <a:endParaRPr lang="en-US" sz="1030" dirty="0"/>
          </a:p>
        </p:txBody>
      </p:sp>
      <p:sp>
        <p:nvSpPr>
          <p:cNvPr id="22" name="Shape 20"/>
          <p:cNvSpPr/>
          <p:nvPr/>
        </p:nvSpPr>
        <p:spPr>
          <a:xfrm>
            <a:off x="2295144" y="1874520"/>
            <a:ext cx="1207008" cy="694944"/>
          </a:xfrm>
          <a:prstGeom prst="roundRect">
            <a:avLst>
              <a:gd name="adj" fmla="val 15789"/>
            </a:avLst>
          </a:prstGeom>
          <a:solidFill>
            <a:srgbClr val="0B1928"/>
          </a:solidFill>
          <a:ln w="12700">
            <a:solidFill>
              <a:srgbClr val="26415D"/>
            </a:solidFill>
            <a:prstDash val="solid"/>
          </a:ln>
        </p:spPr>
      </p:sp>
      <p:sp>
        <p:nvSpPr>
          <p:cNvPr id="23" name="Text 21"/>
          <p:cNvSpPr/>
          <p:nvPr/>
        </p:nvSpPr>
        <p:spPr>
          <a:xfrm>
            <a:off x="2350008" y="1993392"/>
            <a:ext cx="1097280" cy="438912"/>
          </a:xfrm>
          <a:prstGeom prst="rect">
            <a:avLst/>
          </a:prstGeom>
          <a:noFill/>
          <a:ln/>
        </p:spPr>
        <p:txBody>
          <a:bodyPr wrap="square" lIns="0" tIns="0" rIns="0" bIns="0" rtlCol="0" anchor="ctr">
            <a:normAutofit/>
          </a:bodyPr>
          <a:lstStyle/>
          <a:p>
            <a:pPr algn="ctr" indent="0" marL="0">
              <a:buNone/>
            </a:pPr>
            <a:r>
              <a:rPr lang="en-US" sz="1030" b="1" dirty="0">
                <a:solidFill>
                  <a:srgbClr val="70D6A7"/>
                </a:solidFill>
                <a:latin typeface="Aptos" pitchFamily="34" charset="0"/>
                <a:ea typeface="Aptos" pitchFamily="34" charset="-122"/>
                <a:cs typeface="Aptos" pitchFamily="34" charset="-120"/>
              </a:rPr>
              <a:t>Strong</a:t>
            </a:r>
            <a:endParaRPr lang="en-US" sz="1030" dirty="0"/>
          </a:p>
        </p:txBody>
      </p:sp>
      <p:sp>
        <p:nvSpPr>
          <p:cNvPr id="24" name="Shape 22"/>
          <p:cNvSpPr/>
          <p:nvPr/>
        </p:nvSpPr>
        <p:spPr>
          <a:xfrm>
            <a:off x="3502152" y="1874520"/>
            <a:ext cx="1298448" cy="694944"/>
          </a:xfrm>
          <a:prstGeom prst="roundRect">
            <a:avLst>
              <a:gd name="adj" fmla="val 15789"/>
            </a:avLst>
          </a:prstGeom>
          <a:solidFill>
            <a:srgbClr val="0B1928"/>
          </a:solidFill>
          <a:ln w="12700">
            <a:solidFill>
              <a:srgbClr val="26415D"/>
            </a:solidFill>
            <a:prstDash val="solid"/>
          </a:ln>
        </p:spPr>
      </p:sp>
      <p:sp>
        <p:nvSpPr>
          <p:cNvPr id="25" name="Text 23"/>
          <p:cNvSpPr/>
          <p:nvPr/>
        </p:nvSpPr>
        <p:spPr>
          <a:xfrm>
            <a:off x="3557016" y="1993392"/>
            <a:ext cx="1188720" cy="438912"/>
          </a:xfrm>
          <a:prstGeom prst="rect">
            <a:avLst/>
          </a:prstGeom>
          <a:noFill/>
          <a:ln/>
        </p:spPr>
        <p:txBody>
          <a:bodyPr wrap="square" lIns="0" tIns="0" rIns="0" bIns="0" rtlCol="0" anchor="ctr">
            <a:normAutofit/>
          </a:bodyPr>
          <a:lstStyle/>
          <a:p>
            <a:pPr algn="ctr" indent="0" marL="0">
              <a:buNone/>
            </a:pPr>
            <a:r>
              <a:rPr lang="en-US" sz="1030" dirty="0">
                <a:solidFill>
                  <a:srgbClr val="B7C4D6"/>
                </a:solidFill>
                <a:latin typeface="Aptos" pitchFamily="34" charset="0"/>
                <a:ea typeface="Aptos" pitchFamily="34" charset="-122"/>
                <a:cs typeface="Aptos" pitchFamily="34" charset="-120"/>
              </a:rPr>
              <a:t>Basic</a:t>
            </a:r>
            <a:endParaRPr lang="en-US" sz="1030" dirty="0"/>
          </a:p>
        </p:txBody>
      </p:sp>
      <p:sp>
        <p:nvSpPr>
          <p:cNvPr id="26" name="Shape 24"/>
          <p:cNvSpPr/>
          <p:nvPr/>
        </p:nvSpPr>
        <p:spPr>
          <a:xfrm>
            <a:off x="4800600" y="1874520"/>
            <a:ext cx="1133856" cy="694944"/>
          </a:xfrm>
          <a:prstGeom prst="roundRect">
            <a:avLst>
              <a:gd name="adj" fmla="val 15789"/>
            </a:avLst>
          </a:prstGeom>
          <a:solidFill>
            <a:srgbClr val="0B1928"/>
          </a:solidFill>
          <a:ln w="12700">
            <a:solidFill>
              <a:srgbClr val="26415D"/>
            </a:solidFill>
            <a:prstDash val="solid"/>
          </a:ln>
        </p:spPr>
      </p:sp>
      <p:sp>
        <p:nvSpPr>
          <p:cNvPr id="27" name="Text 25"/>
          <p:cNvSpPr/>
          <p:nvPr/>
        </p:nvSpPr>
        <p:spPr>
          <a:xfrm>
            <a:off x="4855464" y="1993392"/>
            <a:ext cx="1024128" cy="438912"/>
          </a:xfrm>
          <a:prstGeom prst="rect">
            <a:avLst/>
          </a:prstGeom>
          <a:noFill/>
          <a:ln/>
        </p:spPr>
        <p:txBody>
          <a:bodyPr wrap="square" lIns="0" tIns="0" rIns="0" bIns="0" rtlCol="0" anchor="ctr">
            <a:normAutofit/>
          </a:bodyPr>
          <a:lstStyle/>
          <a:p>
            <a:pPr algn="ctr" indent="0" marL="0">
              <a:buNone/>
            </a:pPr>
            <a:r>
              <a:rPr lang="en-US" sz="1030" dirty="0">
                <a:solidFill>
                  <a:srgbClr val="B7C4D6"/>
                </a:solidFill>
                <a:latin typeface="Aptos" pitchFamily="34" charset="0"/>
                <a:ea typeface="Aptos" pitchFamily="34" charset="-122"/>
                <a:cs typeface="Aptos" pitchFamily="34" charset="-120"/>
              </a:rPr>
              <a:t>Basic</a:t>
            </a:r>
            <a:endParaRPr lang="en-US" sz="1030" dirty="0"/>
          </a:p>
        </p:txBody>
      </p:sp>
      <p:sp>
        <p:nvSpPr>
          <p:cNvPr id="28" name="Shape 26"/>
          <p:cNvSpPr/>
          <p:nvPr/>
        </p:nvSpPr>
        <p:spPr>
          <a:xfrm>
            <a:off x="5934456" y="1874520"/>
            <a:ext cx="1207008" cy="694944"/>
          </a:xfrm>
          <a:prstGeom prst="roundRect">
            <a:avLst>
              <a:gd name="adj" fmla="val 15789"/>
            </a:avLst>
          </a:prstGeom>
          <a:solidFill>
            <a:srgbClr val="0B1928"/>
          </a:solidFill>
          <a:ln w="12700">
            <a:solidFill>
              <a:srgbClr val="26415D"/>
            </a:solidFill>
            <a:prstDash val="solid"/>
          </a:ln>
        </p:spPr>
      </p:sp>
      <p:sp>
        <p:nvSpPr>
          <p:cNvPr id="29" name="Text 27"/>
          <p:cNvSpPr/>
          <p:nvPr/>
        </p:nvSpPr>
        <p:spPr>
          <a:xfrm>
            <a:off x="5989320" y="1993392"/>
            <a:ext cx="1097280" cy="438912"/>
          </a:xfrm>
          <a:prstGeom prst="rect">
            <a:avLst/>
          </a:prstGeom>
          <a:noFill/>
          <a:ln/>
        </p:spPr>
        <p:txBody>
          <a:bodyPr wrap="square" lIns="0" tIns="0" rIns="0" bIns="0" rtlCol="0" anchor="ctr">
            <a:normAutofit/>
          </a:bodyPr>
          <a:lstStyle/>
          <a:p>
            <a:pPr algn="ctr" indent="0" marL="0">
              <a:buNone/>
            </a:pPr>
            <a:r>
              <a:rPr lang="en-US" sz="1030" dirty="0">
                <a:solidFill>
                  <a:srgbClr val="60758C"/>
                </a:solidFill>
                <a:latin typeface="Aptos" pitchFamily="34" charset="0"/>
                <a:ea typeface="Aptos" pitchFamily="34" charset="-122"/>
                <a:cs typeface="Aptos" pitchFamily="34" charset="-120"/>
              </a:rPr>
              <a:t>—</a:t>
            </a:r>
            <a:endParaRPr lang="en-US" sz="1030" dirty="0"/>
          </a:p>
        </p:txBody>
      </p:sp>
      <p:sp>
        <p:nvSpPr>
          <p:cNvPr id="30" name="Shape 28"/>
          <p:cNvSpPr/>
          <p:nvPr/>
        </p:nvSpPr>
        <p:spPr>
          <a:xfrm>
            <a:off x="7141464" y="1874520"/>
            <a:ext cx="1316736" cy="694944"/>
          </a:xfrm>
          <a:prstGeom prst="roundRect">
            <a:avLst>
              <a:gd name="adj" fmla="val 15789"/>
            </a:avLst>
          </a:prstGeom>
          <a:solidFill>
            <a:srgbClr val="0B1928"/>
          </a:solidFill>
          <a:ln w="12700">
            <a:solidFill>
              <a:srgbClr val="26415D"/>
            </a:solidFill>
            <a:prstDash val="solid"/>
          </a:ln>
        </p:spPr>
      </p:sp>
      <p:sp>
        <p:nvSpPr>
          <p:cNvPr id="31" name="Text 29"/>
          <p:cNvSpPr/>
          <p:nvPr/>
        </p:nvSpPr>
        <p:spPr>
          <a:xfrm>
            <a:off x="7196328" y="1993392"/>
            <a:ext cx="1207008" cy="438912"/>
          </a:xfrm>
          <a:prstGeom prst="rect">
            <a:avLst/>
          </a:prstGeom>
          <a:noFill/>
          <a:ln/>
        </p:spPr>
        <p:txBody>
          <a:bodyPr wrap="square" lIns="0" tIns="0" rIns="0" bIns="0" rtlCol="0" anchor="ctr">
            <a:normAutofit/>
          </a:bodyPr>
          <a:lstStyle/>
          <a:p>
            <a:pPr algn="ctr" indent="0" marL="0">
              <a:buNone/>
            </a:pPr>
            <a:r>
              <a:rPr lang="en-US" sz="1030" dirty="0">
                <a:solidFill>
                  <a:srgbClr val="B7C4D6"/>
                </a:solidFill>
                <a:latin typeface="Aptos" pitchFamily="34" charset="0"/>
                <a:ea typeface="Aptos" pitchFamily="34" charset="-122"/>
                <a:cs typeface="Aptos" pitchFamily="34" charset="-120"/>
              </a:rPr>
              <a:t>VCS / Xcelium</a:t>
            </a:r>
            <a:endParaRPr lang="en-US" sz="1030" dirty="0"/>
          </a:p>
        </p:txBody>
      </p:sp>
      <p:sp>
        <p:nvSpPr>
          <p:cNvPr id="32" name="Shape 30"/>
          <p:cNvSpPr/>
          <p:nvPr/>
        </p:nvSpPr>
        <p:spPr>
          <a:xfrm>
            <a:off x="8458200" y="1874520"/>
            <a:ext cx="1609344" cy="694944"/>
          </a:xfrm>
          <a:prstGeom prst="roundRect">
            <a:avLst>
              <a:gd name="adj" fmla="val 15789"/>
            </a:avLst>
          </a:prstGeom>
          <a:solidFill>
            <a:srgbClr val="0B1928"/>
          </a:solidFill>
          <a:ln w="12700">
            <a:solidFill>
              <a:srgbClr val="26415D"/>
            </a:solidFill>
            <a:prstDash val="solid"/>
          </a:ln>
        </p:spPr>
      </p:sp>
      <p:sp>
        <p:nvSpPr>
          <p:cNvPr id="33" name="Text 31"/>
          <p:cNvSpPr/>
          <p:nvPr/>
        </p:nvSpPr>
        <p:spPr>
          <a:xfrm>
            <a:off x="8513064" y="1993392"/>
            <a:ext cx="1499616" cy="438912"/>
          </a:xfrm>
          <a:prstGeom prst="rect">
            <a:avLst/>
          </a:prstGeom>
          <a:noFill/>
          <a:ln/>
        </p:spPr>
        <p:txBody>
          <a:bodyPr wrap="square" lIns="0" tIns="0" rIns="0" bIns="0" rtlCol="0" anchor="ctr">
            <a:normAutofit/>
          </a:bodyPr>
          <a:lstStyle/>
          <a:p>
            <a:pPr algn="ctr" indent="0" marL="0">
              <a:buNone/>
            </a:pPr>
            <a:r>
              <a:rPr lang="en-US" sz="1030" b="1" dirty="0">
                <a:solidFill>
                  <a:srgbClr val="70D6A7"/>
                </a:solidFill>
                <a:latin typeface="Aptos" pitchFamily="34" charset="0"/>
                <a:ea typeface="Aptos" pitchFamily="34" charset="-122"/>
                <a:cs typeface="Aptos" pitchFamily="34" charset="-120"/>
              </a:rPr>
              <a:t>Yes</a:t>
            </a:r>
            <a:endParaRPr lang="en-US" sz="1030" dirty="0"/>
          </a:p>
        </p:txBody>
      </p:sp>
      <p:sp>
        <p:nvSpPr>
          <p:cNvPr id="34" name="Shape 32"/>
          <p:cNvSpPr/>
          <p:nvPr/>
        </p:nvSpPr>
        <p:spPr>
          <a:xfrm>
            <a:off x="594360" y="2569464"/>
            <a:ext cx="1700784" cy="694944"/>
          </a:xfrm>
          <a:prstGeom prst="roundRect">
            <a:avLst>
              <a:gd name="adj" fmla="val 15789"/>
            </a:avLst>
          </a:prstGeom>
          <a:solidFill>
            <a:srgbClr val="0C1D30"/>
          </a:solidFill>
          <a:ln w="12700">
            <a:solidFill>
              <a:srgbClr val="26415D"/>
            </a:solidFill>
            <a:prstDash val="solid"/>
          </a:ln>
        </p:spPr>
      </p:sp>
      <p:sp>
        <p:nvSpPr>
          <p:cNvPr id="35" name="Text 33"/>
          <p:cNvSpPr/>
          <p:nvPr/>
        </p:nvSpPr>
        <p:spPr>
          <a:xfrm>
            <a:off x="649224" y="2688336"/>
            <a:ext cx="1591056" cy="438912"/>
          </a:xfrm>
          <a:prstGeom prst="rect">
            <a:avLst/>
          </a:prstGeom>
          <a:noFill/>
          <a:ln/>
        </p:spPr>
        <p:txBody>
          <a:bodyPr wrap="square" lIns="0" tIns="0" rIns="0" bIns="0" rtlCol="0" anchor="ctr">
            <a:normAutofit/>
          </a:bodyPr>
          <a:lstStyle/>
          <a:p>
            <a:pPr algn="l" indent="0" marL="0">
              <a:buNone/>
            </a:pPr>
            <a:r>
              <a:rPr lang="en-US" sz="1030" b="1" dirty="0">
                <a:solidFill>
                  <a:srgbClr val="F5F8FC"/>
                </a:solidFill>
                <a:latin typeface="Aptos" pitchFamily="34" charset="0"/>
                <a:ea typeface="Aptos" pitchFamily="34" charset="-122"/>
                <a:cs typeface="Aptos" pitchFamily="34" charset="-120"/>
              </a:rPr>
              <a:t>Verification</a:t>
            </a:r>
            <a:endParaRPr lang="en-US" sz="1030" dirty="0"/>
          </a:p>
        </p:txBody>
      </p:sp>
      <p:sp>
        <p:nvSpPr>
          <p:cNvPr id="36" name="Shape 34"/>
          <p:cNvSpPr/>
          <p:nvPr/>
        </p:nvSpPr>
        <p:spPr>
          <a:xfrm>
            <a:off x="2295144" y="2569464"/>
            <a:ext cx="1207008" cy="694944"/>
          </a:xfrm>
          <a:prstGeom prst="roundRect">
            <a:avLst>
              <a:gd name="adj" fmla="val 15789"/>
            </a:avLst>
          </a:prstGeom>
          <a:solidFill>
            <a:srgbClr val="0C1D30"/>
          </a:solidFill>
          <a:ln w="12700">
            <a:solidFill>
              <a:srgbClr val="26415D"/>
            </a:solidFill>
            <a:prstDash val="solid"/>
          </a:ln>
        </p:spPr>
      </p:sp>
      <p:sp>
        <p:nvSpPr>
          <p:cNvPr id="37" name="Text 35"/>
          <p:cNvSpPr/>
          <p:nvPr/>
        </p:nvSpPr>
        <p:spPr>
          <a:xfrm>
            <a:off x="2350008" y="2688336"/>
            <a:ext cx="1097280" cy="438912"/>
          </a:xfrm>
          <a:prstGeom prst="rect">
            <a:avLst/>
          </a:prstGeom>
          <a:noFill/>
          <a:ln/>
        </p:spPr>
        <p:txBody>
          <a:bodyPr wrap="square" lIns="0" tIns="0" rIns="0" bIns="0" rtlCol="0" anchor="ctr">
            <a:normAutofit/>
          </a:bodyPr>
          <a:lstStyle/>
          <a:p>
            <a:pPr algn="ctr" indent="0" marL="0">
              <a:buNone/>
            </a:pPr>
            <a:r>
              <a:rPr lang="en-US" sz="1030" b="1" dirty="0">
                <a:solidFill>
                  <a:srgbClr val="70D6A7"/>
                </a:solidFill>
                <a:latin typeface="Aptos" pitchFamily="34" charset="0"/>
                <a:ea typeface="Aptos" pitchFamily="34" charset="-122"/>
                <a:cs typeface="Aptos" pitchFamily="34" charset="-120"/>
              </a:rPr>
              <a:t>Strong</a:t>
            </a:r>
            <a:endParaRPr lang="en-US" sz="1030" dirty="0"/>
          </a:p>
        </p:txBody>
      </p:sp>
      <p:sp>
        <p:nvSpPr>
          <p:cNvPr id="38" name="Shape 36"/>
          <p:cNvSpPr/>
          <p:nvPr/>
        </p:nvSpPr>
        <p:spPr>
          <a:xfrm>
            <a:off x="3502152" y="2569464"/>
            <a:ext cx="1298448" cy="694944"/>
          </a:xfrm>
          <a:prstGeom prst="roundRect">
            <a:avLst>
              <a:gd name="adj" fmla="val 15789"/>
            </a:avLst>
          </a:prstGeom>
          <a:solidFill>
            <a:srgbClr val="0C1D30"/>
          </a:solidFill>
          <a:ln w="12700">
            <a:solidFill>
              <a:srgbClr val="26415D"/>
            </a:solidFill>
            <a:prstDash val="solid"/>
          </a:ln>
        </p:spPr>
      </p:sp>
      <p:sp>
        <p:nvSpPr>
          <p:cNvPr id="39" name="Text 37"/>
          <p:cNvSpPr/>
          <p:nvPr/>
        </p:nvSpPr>
        <p:spPr>
          <a:xfrm>
            <a:off x="3557016" y="2688336"/>
            <a:ext cx="1188720" cy="438912"/>
          </a:xfrm>
          <a:prstGeom prst="rect">
            <a:avLst/>
          </a:prstGeom>
          <a:noFill/>
          <a:ln/>
        </p:spPr>
        <p:txBody>
          <a:bodyPr wrap="square" lIns="0" tIns="0" rIns="0" bIns="0" rtlCol="0" anchor="ctr">
            <a:normAutofit/>
          </a:bodyPr>
          <a:lstStyle/>
          <a:p>
            <a:pPr algn="ctr" indent="0" marL="0">
              <a:buNone/>
            </a:pPr>
            <a:r>
              <a:rPr lang="en-US" sz="1030" dirty="0">
                <a:solidFill>
                  <a:srgbClr val="B7C4D6"/>
                </a:solidFill>
                <a:latin typeface="Aptos" pitchFamily="34" charset="0"/>
                <a:ea typeface="Aptos" pitchFamily="34" charset="-122"/>
                <a:cs typeface="Aptos" pitchFamily="34" charset="-120"/>
              </a:rPr>
              <a:t>Basic</a:t>
            </a:r>
            <a:endParaRPr lang="en-US" sz="1030" dirty="0"/>
          </a:p>
        </p:txBody>
      </p:sp>
      <p:sp>
        <p:nvSpPr>
          <p:cNvPr id="40" name="Shape 38"/>
          <p:cNvSpPr/>
          <p:nvPr/>
        </p:nvSpPr>
        <p:spPr>
          <a:xfrm>
            <a:off x="4800600" y="2569464"/>
            <a:ext cx="1133856" cy="694944"/>
          </a:xfrm>
          <a:prstGeom prst="roundRect">
            <a:avLst>
              <a:gd name="adj" fmla="val 15789"/>
            </a:avLst>
          </a:prstGeom>
          <a:solidFill>
            <a:srgbClr val="0C1D30"/>
          </a:solidFill>
          <a:ln w="12700">
            <a:solidFill>
              <a:srgbClr val="26415D"/>
            </a:solidFill>
            <a:prstDash val="solid"/>
          </a:ln>
        </p:spPr>
      </p:sp>
      <p:sp>
        <p:nvSpPr>
          <p:cNvPr id="41" name="Text 39"/>
          <p:cNvSpPr/>
          <p:nvPr/>
        </p:nvSpPr>
        <p:spPr>
          <a:xfrm>
            <a:off x="4855464" y="2688336"/>
            <a:ext cx="1024128" cy="438912"/>
          </a:xfrm>
          <a:prstGeom prst="rect">
            <a:avLst/>
          </a:prstGeom>
          <a:noFill/>
          <a:ln/>
        </p:spPr>
        <p:txBody>
          <a:bodyPr wrap="square" lIns="0" tIns="0" rIns="0" bIns="0" rtlCol="0" anchor="ctr">
            <a:normAutofit/>
          </a:bodyPr>
          <a:lstStyle/>
          <a:p>
            <a:pPr algn="ctr" indent="0" marL="0">
              <a:buNone/>
            </a:pPr>
            <a:r>
              <a:rPr lang="en-US" sz="1030" dirty="0">
                <a:solidFill>
                  <a:srgbClr val="60758C"/>
                </a:solidFill>
                <a:latin typeface="Aptos" pitchFamily="34" charset="0"/>
                <a:ea typeface="Aptos" pitchFamily="34" charset="-122"/>
                <a:cs typeface="Aptos" pitchFamily="34" charset="-120"/>
              </a:rPr>
              <a:t>—</a:t>
            </a:r>
            <a:endParaRPr lang="en-US" sz="1030" dirty="0"/>
          </a:p>
        </p:txBody>
      </p:sp>
      <p:sp>
        <p:nvSpPr>
          <p:cNvPr id="42" name="Shape 40"/>
          <p:cNvSpPr/>
          <p:nvPr/>
        </p:nvSpPr>
        <p:spPr>
          <a:xfrm>
            <a:off x="5934456" y="2569464"/>
            <a:ext cx="1207008" cy="694944"/>
          </a:xfrm>
          <a:prstGeom prst="roundRect">
            <a:avLst>
              <a:gd name="adj" fmla="val 15789"/>
            </a:avLst>
          </a:prstGeom>
          <a:solidFill>
            <a:srgbClr val="0C1D30"/>
          </a:solidFill>
          <a:ln w="12700">
            <a:solidFill>
              <a:srgbClr val="26415D"/>
            </a:solidFill>
            <a:prstDash val="solid"/>
          </a:ln>
        </p:spPr>
      </p:sp>
      <p:sp>
        <p:nvSpPr>
          <p:cNvPr id="43" name="Text 41"/>
          <p:cNvSpPr/>
          <p:nvPr/>
        </p:nvSpPr>
        <p:spPr>
          <a:xfrm>
            <a:off x="5989320" y="2688336"/>
            <a:ext cx="1097280" cy="438912"/>
          </a:xfrm>
          <a:prstGeom prst="rect">
            <a:avLst/>
          </a:prstGeom>
          <a:noFill/>
          <a:ln/>
        </p:spPr>
        <p:txBody>
          <a:bodyPr wrap="square" lIns="0" tIns="0" rIns="0" bIns="0" rtlCol="0" anchor="ctr">
            <a:normAutofit/>
          </a:bodyPr>
          <a:lstStyle/>
          <a:p>
            <a:pPr algn="ctr" indent="0" marL="0">
              <a:buNone/>
            </a:pPr>
            <a:r>
              <a:rPr lang="en-US" sz="1030" dirty="0">
                <a:solidFill>
                  <a:srgbClr val="60758C"/>
                </a:solidFill>
                <a:latin typeface="Aptos" pitchFamily="34" charset="0"/>
                <a:ea typeface="Aptos" pitchFamily="34" charset="-122"/>
                <a:cs typeface="Aptos" pitchFamily="34" charset="-120"/>
              </a:rPr>
              <a:t>—</a:t>
            </a:r>
            <a:endParaRPr lang="en-US" sz="1030" dirty="0"/>
          </a:p>
        </p:txBody>
      </p:sp>
      <p:sp>
        <p:nvSpPr>
          <p:cNvPr id="44" name="Shape 42"/>
          <p:cNvSpPr/>
          <p:nvPr/>
        </p:nvSpPr>
        <p:spPr>
          <a:xfrm>
            <a:off x="7141464" y="2569464"/>
            <a:ext cx="1316736" cy="694944"/>
          </a:xfrm>
          <a:prstGeom prst="roundRect">
            <a:avLst>
              <a:gd name="adj" fmla="val 15789"/>
            </a:avLst>
          </a:prstGeom>
          <a:solidFill>
            <a:srgbClr val="0C1D30"/>
          </a:solidFill>
          <a:ln w="12700">
            <a:solidFill>
              <a:srgbClr val="26415D"/>
            </a:solidFill>
            <a:prstDash val="solid"/>
          </a:ln>
        </p:spPr>
      </p:sp>
      <p:sp>
        <p:nvSpPr>
          <p:cNvPr id="45" name="Text 43"/>
          <p:cNvSpPr/>
          <p:nvPr/>
        </p:nvSpPr>
        <p:spPr>
          <a:xfrm>
            <a:off x="7196328" y="2688336"/>
            <a:ext cx="1207008" cy="438912"/>
          </a:xfrm>
          <a:prstGeom prst="rect">
            <a:avLst/>
          </a:prstGeom>
          <a:noFill/>
          <a:ln/>
        </p:spPr>
        <p:txBody>
          <a:bodyPr wrap="square" lIns="0" tIns="0" rIns="0" bIns="0" rtlCol="0" anchor="ctr">
            <a:normAutofit/>
          </a:bodyPr>
          <a:lstStyle/>
          <a:p>
            <a:pPr algn="ctr" indent="0" marL="0">
              <a:buNone/>
            </a:pPr>
            <a:r>
              <a:rPr lang="en-US" sz="1030" dirty="0">
                <a:solidFill>
                  <a:srgbClr val="B7C4D6"/>
                </a:solidFill>
                <a:latin typeface="Aptos" pitchFamily="34" charset="0"/>
                <a:ea typeface="Aptos" pitchFamily="34" charset="-122"/>
                <a:cs typeface="Aptos" pitchFamily="34" charset="-120"/>
              </a:rPr>
              <a:t>VCS / Xcelium</a:t>
            </a:r>
            <a:endParaRPr lang="en-US" sz="1030" dirty="0"/>
          </a:p>
        </p:txBody>
      </p:sp>
      <p:sp>
        <p:nvSpPr>
          <p:cNvPr id="46" name="Shape 44"/>
          <p:cNvSpPr/>
          <p:nvPr/>
        </p:nvSpPr>
        <p:spPr>
          <a:xfrm>
            <a:off x="8458200" y="2569464"/>
            <a:ext cx="1609344" cy="694944"/>
          </a:xfrm>
          <a:prstGeom prst="roundRect">
            <a:avLst>
              <a:gd name="adj" fmla="val 15789"/>
            </a:avLst>
          </a:prstGeom>
          <a:solidFill>
            <a:srgbClr val="0C1D30"/>
          </a:solidFill>
          <a:ln w="12700">
            <a:solidFill>
              <a:srgbClr val="26415D"/>
            </a:solidFill>
            <a:prstDash val="solid"/>
          </a:ln>
        </p:spPr>
      </p:sp>
      <p:sp>
        <p:nvSpPr>
          <p:cNvPr id="47" name="Text 45"/>
          <p:cNvSpPr/>
          <p:nvPr/>
        </p:nvSpPr>
        <p:spPr>
          <a:xfrm>
            <a:off x="8513064" y="2688336"/>
            <a:ext cx="1499616" cy="438912"/>
          </a:xfrm>
          <a:prstGeom prst="rect">
            <a:avLst/>
          </a:prstGeom>
          <a:noFill/>
          <a:ln/>
        </p:spPr>
        <p:txBody>
          <a:bodyPr wrap="square" lIns="0" tIns="0" rIns="0" bIns="0" rtlCol="0" anchor="ctr">
            <a:normAutofit/>
          </a:bodyPr>
          <a:lstStyle/>
          <a:p>
            <a:pPr algn="ctr" indent="0" marL="0">
              <a:buNone/>
            </a:pPr>
            <a:r>
              <a:rPr lang="en-US" sz="1030" b="1" dirty="0">
                <a:solidFill>
                  <a:srgbClr val="70D6A7"/>
                </a:solidFill>
                <a:latin typeface="Aptos" pitchFamily="34" charset="0"/>
                <a:ea typeface="Aptos" pitchFamily="34" charset="-122"/>
                <a:cs typeface="Aptos" pitchFamily="34" charset="-120"/>
              </a:rPr>
              <a:t>Yes</a:t>
            </a:r>
            <a:endParaRPr lang="en-US" sz="1030" dirty="0"/>
          </a:p>
        </p:txBody>
      </p:sp>
      <p:sp>
        <p:nvSpPr>
          <p:cNvPr id="48" name="Shape 46"/>
          <p:cNvSpPr/>
          <p:nvPr/>
        </p:nvSpPr>
        <p:spPr>
          <a:xfrm>
            <a:off x="594360" y="3264408"/>
            <a:ext cx="1700784" cy="694944"/>
          </a:xfrm>
          <a:prstGeom prst="roundRect">
            <a:avLst>
              <a:gd name="adj" fmla="val 15789"/>
            </a:avLst>
          </a:prstGeom>
          <a:solidFill>
            <a:srgbClr val="0B1928"/>
          </a:solidFill>
          <a:ln w="12700">
            <a:solidFill>
              <a:srgbClr val="26415D"/>
            </a:solidFill>
            <a:prstDash val="solid"/>
          </a:ln>
        </p:spPr>
      </p:sp>
      <p:sp>
        <p:nvSpPr>
          <p:cNvPr id="49" name="Text 47"/>
          <p:cNvSpPr/>
          <p:nvPr/>
        </p:nvSpPr>
        <p:spPr>
          <a:xfrm>
            <a:off x="649224" y="3383280"/>
            <a:ext cx="1591056" cy="438912"/>
          </a:xfrm>
          <a:prstGeom prst="rect">
            <a:avLst/>
          </a:prstGeom>
          <a:noFill/>
          <a:ln/>
        </p:spPr>
        <p:txBody>
          <a:bodyPr wrap="square" lIns="0" tIns="0" rIns="0" bIns="0" rtlCol="0" anchor="ctr">
            <a:normAutofit/>
          </a:bodyPr>
          <a:lstStyle/>
          <a:p>
            <a:pPr algn="l" indent="0" marL="0">
              <a:buNone/>
            </a:pPr>
            <a:r>
              <a:rPr lang="en-US" sz="1030" b="1" dirty="0">
                <a:solidFill>
                  <a:srgbClr val="F5F8FC"/>
                </a:solidFill>
                <a:latin typeface="Aptos" pitchFamily="34" charset="0"/>
                <a:ea typeface="Aptos" pitchFamily="34" charset="-122"/>
                <a:cs typeface="Aptos" pitchFamily="34" charset="-120"/>
              </a:rPr>
              <a:t>DFT</a:t>
            </a:r>
            <a:endParaRPr lang="en-US" sz="1030" dirty="0"/>
          </a:p>
        </p:txBody>
      </p:sp>
      <p:sp>
        <p:nvSpPr>
          <p:cNvPr id="50" name="Shape 48"/>
          <p:cNvSpPr/>
          <p:nvPr/>
        </p:nvSpPr>
        <p:spPr>
          <a:xfrm>
            <a:off x="2295144" y="3264408"/>
            <a:ext cx="1207008" cy="694944"/>
          </a:xfrm>
          <a:prstGeom prst="roundRect">
            <a:avLst>
              <a:gd name="adj" fmla="val 15789"/>
            </a:avLst>
          </a:prstGeom>
          <a:solidFill>
            <a:srgbClr val="0B1928"/>
          </a:solidFill>
          <a:ln w="12700">
            <a:solidFill>
              <a:srgbClr val="26415D"/>
            </a:solidFill>
            <a:prstDash val="solid"/>
          </a:ln>
        </p:spPr>
      </p:sp>
      <p:sp>
        <p:nvSpPr>
          <p:cNvPr id="51" name="Text 49"/>
          <p:cNvSpPr/>
          <p:nvPr/>
        </p:nvSpPr>
        <p:spPr>
          <a:xfrm>
            <a:off x="2350008" y="3383280"/>
            <a:ext cx="1097280" cy="438912"/>
          </a:xfrm>
          <a:prstGeom prst="rect">
            <a:avLst/>
          </a:prstGeom>
          <a:noFill/>
          <a:ln/>
        </p:spPr>
        <p:txBody>
          <a:bodyPr wrap="square" lIns="0" tIns="0" rIns="0" bIns="0" rtlCol="0" anchor="ctr">
            <a:normAutofit/>
          </a:bodyPr>
          <a:lstStyle/>
          <a:p>
            <a:pPr algn="ctr" indent="0" marL="0">
              <a:buNone/>
            </a:pPr>
            <a:r>
              <a:rPr lang="en-US" sz="1030" dirty="0">
                <a:solidFill>
                  <a:srgbClr val="B7C4D6"/>
                </a:solidFill>
                <a:latin typeface="Aptos" pitchFamily="34" charset="0"/>
                <a:ea typeface="Aptos" pitchFamily="34" charset="-122"/>
                <a:cs typeface="Aptos" pitchFamily="34" charset="-120"/>
              </a:rPr>
              <a:t>Basic</a:t>
            </a:r>
            <a:endParaRPr lang="en-US" sz="1030" dirty="0"/>
          </a:p>
        </p:txBody>
      </p:sp>
      <p:sp>
        <p:nvSpPr>
          <p:cNvPr id="52" name="Shape 50"/>
          <p:cNvSpPr/>
          <p:nvPr/>
        </p:nvSpPr>
        <p:spPr>
          <a:xfrm>
            <a:off x="3502152" y="3264408"/>
            <a:ext cx="1298448" cy="694944"/>
          </a:xfrm>
          <a:prstGeom prst="roundRect">
            <a:avLst>
              <a:gd name="adj" fmla="val 15789"/>
            </a:avLst>
          </a:prstGeom>
          <a:solidFill>
            <a:srgbClr val="0B1928"/>
          </a:solidFill>
          <a:ln w="12700">
            <a:solidFill>
              <a:srgbClr val="26415D"/>
            </a:solidFill>
            <a:prstDash val="solid"/>
          </a:ln>
        </p:spPr>
      </p:sp>
      <p:sp>
        <p:nvSpPr>
          <p:cNvPr id="53" name="Text 51"/>
          <p:cNvSpPr/>
          <p:nvPr/>
        </p:nvSpPr>
        <p:spPr>
          <a:xfrm>
            <a:off x="3557016" y="3383280"/>
            <a:ext cx="1188720" cy="438912"/>
          </a:xfrm>
          <a:prstGeom prst="rect">
            <a:avLst/>
          </a:prstGeom>
          <a:noFill/>
          <a:ln/>
        </p:spPr>
        <p:txBody>
          <a:bodyPr wrap="square" lIns="0" tIns="0" rIns="0" bIns="0" rtlCol="0" anchor="ctr">
            <a:normAutofit/>
          </a:bodyPr>
          <a:lstStyle/>
          <a:p>
            <a:pPr algn="ctr" indent="0" marL="0">
              <a:buNone/>
            </a:pPr>
            <a:r>
              <a:rPr lang="en-US" sz="1030" b="1" dirty="0">
                <a:solidFill>
                  <a:srgbClr val="70D6A7"/>
                </a:solidFill>
                <a:latin typeface="Aptos" pitchFamily="34" charset="0"/>
                <a:ea typeface="Aptos" pitchFamily="34" charset="-122"/>
                <a:cs typeface="Aptos" pitchFamily="34" charset="-120"/>
              </a:rPr>
              <a:t>Strong</a:t>
            </a:r>
            <a:endParaRPr lang="en-US" sz="1030" dirty="0"/>
          </a:p>
        </p:txBody>
      </p:sp>
      <p:sp>
        <p:nvSpPr>
          <p:cNvPr id="54" name="Shape 52"/>
          <p:cNvSpPr/>
          <p:nvPr/>
        </p:nvSpPr>
        <p:spPr>
          <a:xfrm>
            <a:off x="4800600" y="3264408"/>
            <a:ext cx="1133856" cy="694944"/>
          </a:xfrm>
          <a:prstGeom prst="roundRect">
            <a:avLst>
              <a:gd name="adj" fmla="val 15789"/>
            </a:avLst>
          </a:prstGeom>
          <a:solidFill>
            <a:srgbClr val="0B1928"/>
          </a:solidFill>
          <a:ln w="12700">
            <a:solidFill>
              <a:srgbClr val="26415D"/>
            </a:solidFill>
            <a:prstDash val="solid"/>
          </a:ln>
        </p:spPr>
      </p:sp>
      <p:sp>
        <p:nvSpPr>
          <p:cNvPr id="55" name="Text 53"/>
          <p:cNvSpPr/>
          <p:nvPr/>
        </p:nvSpPr>
        <p:spPr>
          <a:xfrm>
            <a:off x="4855464" y="3383280"/>
            <a:ext cx="1024128" cy="438912"/>
          </a:xfrm>
          <a:prstGeom prst="rect">
            <a:avLst/>
          </a:prstGeom>
          <a:noFill/>
          <a:ln/>
        </p:spPr>
        <p:txBody>
          <a:bodyPr wrap="square" lIns="0" tIns="0" rIns="0" bIns="0" rtlCol="0" anchor="ctr">
            <a:normAutofit/>
          </a:bodyPr>
          <a:lstStyle/>
          <a:p>
            <a:pPr algn="ctr" indent="0" marL="0">
              <a:buNone/>
            </a:pPr>
            <a:r>
              <a:rPr lang="en-US" sz="1030" dirty="0">
                <a:solidFill>
                  <a:srgbClr val="FFB25B"/>
                </a:solidFill>
                <a:latin typeface="Aptos" pitchFamily="34" charset="0"/>
                <a:ea typeface="Aptos" pitchFamily="34" charset="-122"/>
                <a:cs typeface="Aptos" pitchFamily="34" charset="-120"/>
              </a:rPr>
              <a:t>Medium</a:t>
            </a:r>
            <a:endParaRPr lang="en-US" sz="1030" dirty="0"/>
          </a:p>
        </p:txBody>
      </p:sp>
      <p:sp>
        <p:nvSpPr>
          <p:cNvPr id="56" name="Shape 54"/>
          <p:cNvSpPr/>
          <p:nvPr/>
        </p:nvSpPr>
        <p:spPr>
          <a:xfrm>
            <a:off x="5934456" y="3264408"/>
            <a:ext cx="1207008" cy="694944"/>
          </a:xfrm>
          <a:prstGeom prst="roundRect">
            <a:avLst>
              <a:gd name="adj" fmla="val 15789"/>
            </a:avLst>
          </a:prstGeom>
          <a:solidFill>
            <a:srgbClr val="0B1928"/>
          </a:solidFill>
          <a:ln w="12700">
            <a:solidFill>
              <a:srgbClr val="26415D"/>
            </a:solidFill>
            <a:prstDash val="solid"/>
          </a:ln>
        </p:spPr>
      </p:sp>
      <p:sp>
        <p:nvSpPr>
          <p:cNvPr id="57" name="Text 55"/>
          <p:cNvSpPr/>
          <p:nvPr/>
        </p:nvSpPr>
        <p:spPr>
          <a:xfrm>
            <a:off x="5989320" y="3383280"/>
            <a:ext cx="1097280" cy="438912"/>
          </a:xfrm>
          <a:prstGeom prst="rect">
            <a:avLst/>
          </a:prstGeom>
          <a:noFill/>
          <a:ln/>
        </p:spPr>
        <p:txBody>
          <a:bodyPr wrap="square" lIns="0" tIns="0" rIns="0" bIns="0" rtlCol="0" anchor="ctr">
            <a:normAutofit/>
          </a:bodyPr>
          <a:lstStyle/>
          <a:p>
            <a:pPr algn="ctr" indent="0" marL="0">
              <a:buNone/>
            </a:pPr>
            <a:r>
              <a:rPr lang="en-US" sz="1030" dirty="0">
                <a:solidFill>
                  <a:srgbClr val="60758C"/>
                </a:solidFill>
                <a:latin typeface="Aptos" pitchFamily="34" charset="0"/>
                <a:ea typeface="Aptos" pitchFamily="34" charset="-122"/>
                <a:cs typeface="Aptos" pitchFamily="34" charset="-120"/>
              </a:rPr>
              <a:t>—</a:t>
            </a:r>
            <a:endParaRPr lang="en-US" sz="1030" dirty="0"/>
          </a:p>
        </p:txBody>
      </p:sp>
      <p:sp>
        <p:nvSpPr>
          <p:cNvPr id="58" name="Shape 56"/>
          <p:cNvSpPr/>
          <p:nvPr/>
        </p:nvSpPr>
        <p:spPr>
          <a:xfrm>
            <a:off x="7141464" y="3264408"/>
            <a:ext cx="1316736" cy="694944"/>
          </a:xfrm>
          <a:prstGeom prst="roundRect">
            <a:avLst>
              <a:gd name="adj" fmla="val 15789"/>
            </a:avLst>
          </a:prstGeom>
          <a:solidFill>
            <a:srgbClr val="0B1928"/>
          </a:solidFill>
          <a:ln w="12700">
            <a:solidFill>
              <a:srgbClr val="26415D"/>
            </a:solidFill>
            <a:prstDash val="solid"/>
          </a:ln>
        </p:spPr>
      </p:sp>
      <p:sp>
        <p:nvSpPr>
          <p:cNvPr id="59" name="Text 57"/>
          <p:cNvSpPr/>
          <p:nvPr/>
        </p:nvSpPr>
        <p:spPr>
          <a:xfrm>
            <a:off x="7196328" y="3383280"/>
            <a:ext cx="1207008" cy="438912"/>
          </a:xfrm>
          <a:prstGeom prst="rect">
            <a:avLst/>
          </a:prstGeom>
          <a:noFill/>
          <a:ln/>
        </p:spPr>
        <p:txBody>
          <a:bodyPr wrap="square" lIns="0" tIns="0" rIns="0" bIns="0" rtlCol="0" anchor="ctr">
            <a:normAutofit/>
          </a:bodyPr>
          <a:lstStyle/>
          <a:p>
            <a:pPr algn="ctr" indent="0" marL="0">
              <a:buNone/>
            </a:pPr>
            <a:r>
              <a:rPr lang="en-US" sz="1030" dirty="0">
                <a:solidFill>
                  <a:srgbClr val="B7C4D6"/>
                </a:solidFill>
                <a:latin typeface="Aptos" pitchFamily="34" charset="0"/>
                <a:ea typeface="Aptos" pitchFamily="34" charset="-122"/>
                <a:cs typeface="Aptos" pitchFamily="34" charset="-120"/>
              </a:rPr>
              <a:t>Tessent / DFT tools</a:t>
            </a:r>
            <a:endParaRPr lang="en-US" sz="1030" dirty="0"/>
          </a:p>
        </p:txBody>
      </p:sp>
      <p:sp>
        <p:nvSpPr>
          <p:cNvPr id="60" name="Shape 58"/>
          <p:cNvSpPr/>
          <p:nvPr/>
        </p:nvSpPr>
        <p:spPr>
          <a:xfrm>
            <a:off x="8458200" y="3264408"/>
            <a:ext cx="1609344" cy="694944"/>
          </a:xfrm>
          <a:prstGeom prst="roundRect">
            <a:avLst>
              <a:gd name="adj" fmla="val 15789"/>
            </a:avLst>
          </a:prstGeom>
          <a:solidFill>
            <a:srgbClr val="0B1928"/>
          </a:solidFill>
          <a:ln w="12700">
            <a:solidFill>
              <a:srgbClr val="26415D"/>
            </a:solidFill>
            <a:prstDash val="solid"/>
          </a:ln>
        </p:spPr>
      </p:sp>
      <p:sp>
        <p:nvSpPr>
          <p:cNvPr id="61" name="Text 59"/>
          <p:cNvSpPr/>
          <p:nvPr/>
        </p:nvSpPr>
        <p:spPr>
          <a:xfrm>
            <a:off x="8513064" y="3383280"/>
            <a:ext cx="1499616" cy="438912"/>
          </a:xfrm>
          <a:prstGeom prst="rect">
            <a:avLst/>
          </a:prstGeom>
          <a:noFill/>
          <a:ln/>
        </p:spPr>
        <p:txBody>
          <a:bodyPr wrap="square" lIns="0" tIns="0" rIns="0" bIns="0" rtlCol="0" anchor="ctr">
            <a:normAutofit/>
          </a:bodyPr>
          <a:lstStyle/>
          <a:p>
            <a:pPr algn="ctr" indent="0" marL="0">
              <a:buNone/>
            </a:pPr>
            <a:r>
              <a:rPr lang="en-US" sz="1030" b="1" dirty="0">
                <a:solidFill>
                  <a:srgbClr val="70D6A7"/>
                </a:solidFill>
                <a:latin typeface="Aptos" pitchFamily="34" charset="0"/>
                <a:ea typeface="Aptos" pitchFamily="34" charset="-122"/>
                <a:cs typeface="Aptos" pitchFamily="34" charset="-120"/>
              </a:rPr>
              <a:t>Yes</a:t>
            </a:r>
            <a:endParaRPr lang="en-US" sz="1030" dirty="0"/>
          </a:p>
        </p:txBody>
      </p:sp>
      <p:sp>
        <p:nvSpPr>
          <p:cNvPr id="62" name="Shape 60"/>
          <p:cNvSpPr/>
          <p:nvPr/>
        </p:nvSpPr>
        <p:spPr>
          <a:xfrm>
            <a:off x="594360" y="3959352"/>
            <a:ext cx="1700784" cy="694944"/>
          </a:xfrm>
          <a:prstGeom prst="roundRect">
            <a:avLst>
              <a:gd name="adj" fmla="val 15789"/>
            </a:avLst>
          </a:prstGeom>
          <a:solidFill>
            <a:srgbClr val="0C1D30"/>
          </a:solidFill>
          <a:ln w="12700">
            <a:solidFill>
              <a:srgbClr val="26415D"/>
            </a:solidFill>
            <a:prstDash val="solid"/>
          </a:ln>
        </p:spPr>
      </p:sp>
      <p:sp>
        <p:nvSpPr>
          <p:cNvPr id="63" name="Text 61"/>
          <p:cNvSpPr/>
          <p:nvPr/>
        </p:nvSpPr>
        <p:spPr>
          <a:xfrm>
            <a:off x="649224" y="4078224"/>
            <a:ext cx="1591056" cy="438912"/>
          </a:xfrm>
          <a:prstGeom prst="rect">
            <a:avLst/>
          </a:prstGeom>
          <a:noFill/>
          <a:ln/>
        </p:spPr>
        <p:txBody>
          <a:bodyPr wrap="square" lIns="0" tIns="0" rIns="0" bIns="0" rtlCol="0" anchor="ctr">
            <a:normAutofit/>
          </a:bodyPr>
          <a:lstStyle/>
          <a:p>
            <a:pPr algn="l" indent="0" marL="0">
              <a:buNone/>
            </a:pPr>
            <a:r>
              <a:rPr lang="en-US" sz="1030" b="1" dirty="0">
                <a:solidFill>
                  <a:srgbClr val="F5F8FC"/>
                </a:solidFill>
                <a:latin typeface="Aptos" pitchFamily="34" charset="0"/>
                <a:ea typeface="Aptos" pitchFamily="34" charset="-122"/>
                <a:cs typeface="Aptos" pitchFamily="34" charset="-120"/>
              </a:rPr>
              <a:t>Physical Design</a:t>
            </a:r>
            <a:endParaRPr lang="en-US" sz="1030" dirty="0"/>
          </a:p>
        </p:txBody>
      </p:sp>
      <p:sp>
        <p:nvSpPr>
          <p:cNvPr id="64" name="Shape 62"/>
          <p:cNvSpPr/>
          <p:nvPr/>
        </p:nvSpPr>
        <p:spPr>
          <a:xfrm>
            <a:off x="2295144" y="3959352"/>
            <a:ext cx="1207008" cy="694944"/>
          </a:xfrm>
          <a:prstGeom prst="roundRect">
            <a:avLst>
              <a:gd name="adj" fmla="val 15789"/>
            </a:avLst>
          </a:prstGeom>
          <a:solidFill>
            <a:srgbClr val="0C1D30"/>
          </a:solidFill>
          <a:ln w="12700">
            <a:solidFill>
              <a:srgbClr val="26415D"/>
            </a:solidFill>
            <a:prstDash val="solid"/>
          </a:ln>
        </p:spPr>
      </p:sp>
      <p:sp>
        <p:nvSpPr>
          <p:cNvPr id="65" name="Text 63"/>
          <p:cNvSpPr/>
          <p:nvPr/>
        </p:nvSpPr>
        <p:spPr>
          <a:xfrm>
            <a:off x="2350008" y="4078224"/>
            <a:ext cx="1097280" cy="438912"/>
          </a:xfrm>
          <a:prstGeom prst="rect">
            <a:avLst/>
          </a:prstGeom>
          <a:noFill/>
          <a:ln/>
        </p:spPr>
        <p:txBody>
          <a:bodyPr wrap="square" lIns="0" tIns="0" rIns="0" bIns="0" rtlCol="0" anchor="ctr">
            <a:normAutofit/>
          </a:bodyPr>
          <a:lstStyle/>
          <a:p>
            <a:pPr algn="ctr" indent="0" marL="0">
              <a:buNone/>
            </a:pPr>
            <a:r>
              <a:rPr lang="en-US" sz="1030" dirty="0">
                <a:solidFill>
                  <a:srgbClr val="B7C4D6"/>
                </a:solidFill>
                <a:latin typeface="Aptos" pitchFamily="34" charset="0"/>
                <a:ea typeface="Aptos" pitchFamily="34" charset="-122"/>
                <a:cs typeface="Aptos" pitchFamily="34" charset="-120"/>
              </a:rPr>
              <a:t>Basic</a:t>
            </a:r>
            <a:endParaRPr lang="en-US" sz="1030" dirty="0"/>
          </a:p>
        </p:txBody>
      </p:sp>
      <p:sp>
        <p:nvSpPr>
          <p:cNvPr id="66" name="Shape 64"/>
          <p:cNvSpPr/>
          <p:nvPr/>
        </p:nvSpPr>
        <p:spPr>
          <a:xfrm>
            <a:off x="3502152" y="3959352"/>
            <a:ext cx="1298448" cy="694944"/>
          </a:xfrm>
          <a:prstGeom prst="roundRect">
            <a:avLst>
              <a:gd name="adj" fmla="val 15789"/>
            </a:avLst>
          </a:prstGeom>
          <a:solidFill>
            <a:srgbClr val="0C1D30"/>
          </a:solidFill>
          <a:ln w="12700">
            <a:solidFill>
              <a:srgbClr val="26415D"/>
            </a:solidFill>
            <a:prstDash val="solid"/>
          </a:ln>
        </p:spPr>
      </p:sp>
      <p:sp>
        <p:nvSpPr>
          <p:cNvPr id="67" name="Text 65"/>
          <p:cNvSpPr/>
          <p:nvPr/>
        </p:nvSpPr>
        <p:spPr>
          <a:xfrm>
            <a:off x="3557016" y="4078224"/>
            <a:ext cx="1188720" cy="438912"/>
          </a:xfrm>
          <a:prstGeom prst="rect">
            <a:avLst/>
          </a:prstGeom>
          <a:noFill/>
          <a:ln/>
        </p:spPr>
        <p:txBody>
          <a:bodyPr wrap="square" lIns="0" tIns="0" rIns="0" bIns="0" rtlCol="0" anchor="ctr">
            <a:normAutofit/>
          </a:bodyPr>
          <a:lstStyle/>
          <a:p>
            <a:pPr algn="ctr" indent="0" marL="0">
              <a:buNone/>
            </a:pPr>
            <a:r>
              <a:rPr lang="en-US" sz="1030" dirty="0">
                <a:solidFill>
                  <a:srgbClr val="B7C4D6"/>
                </a:solidFill>
                <a:latin typeface="Aptos" pitchFamily="34" charset="0"/>
                <a:ea typeface="Aptos" pitchFamily="34" charset="-122"/>
                <a:cs typeface="Aptos" pitchFamily="34" charset="-120"/>
              </a:rPr>
              <a:t>Basic</a:t>
            </a:r>
            <a:endParaRPr lang="en-US" sz="1030" dirty="0"/>
          </a:p>
        </p:txBody>
      </p:sp>
      <p:sp>
        <p:nvSpPr>
          <p:cNvPr id="68" name="Shape 66"/>
          <p:cNvSpPr/>
          <p:nvPr/>
        </p:nvSpPr>
        <p:spPr>
          <a:xfrm>
            <a:off x="4800600" y="3959352"/>
            <a:ext cx="1133856" cy="694944"/>
          </a:xfrm>
          <a:prstGeom prst="roundRect">
            <a:avLst>
              <a:gd name="adj" fmla="val 15789"/>
            </a:avLst>
          </a:prstGeom>
          <a:solidFill>
            <a:srgbClr val="0C1D30"/>
          </a:solidFill>
          <a:ln w="12700">
            <a:solidFill>
              <a:srgbClr val="26415D"/>
            </a:solidFill>
            <a:prstDash val="solid"/>
          </a:ln>
        </p:spPr>
      </p:sp>
      <p:sp>
        <p:nvSpPr>
          <p:cNvPr id="69" name="Text 67"/>
          <p:cNvSpPr/>
          <p:nvPr/>
        </p:nvSpPr>
        <p:spPr>
          <a:xfrm>
            <a:off x="4855464" y="4078224"/>
            <a:ext cx="1024128" cy="438912"/>
          </a:xfrm>
          <a:prstGeom prst="rect">
            <a:avLst/>
          </a:prstGeom>
          <a:noFill/>
          <a:ln/>
        </p:spPr>
        <p:txBody>
          <a:bodyPr wrap="square" lIns="0" tIns="0" rIns="0" bIns="0" rtlCol="0" anchor="ctr">
            <a:normAutofit/>
          </a:bodyPr>
          <a:lstStyle/>
          <a:p>
            <a:pPr algn="ctr" indent="0" marL="0">
              <a:buNone/>
            </a:pPr>
            <a:r>
              <a:rPr lang="en-US" sz="1030" b="1" dirty="0">
                <a:solidFill>
                  <a:srgbClr val="70D6A7"/>
                </a:solidFill>
                <a:latin typeface="Aptos" pitchFamily="34" charset="0"/>
                <a:ea typeface="Aptos" pitchFamily="34" charset="-122"/>
                <a:cs typeface="Aptos" pitchFamily="34" charset="-120"/>
              </a:rPr>
              <a:t>Strong</a:t>
            </a:r>
            <a:endParaRPr lang="en-US" sz="1030" dirty="0"/>
          </a:p>
        </p:txBody>
      </p:sp>
      <p:sp>
        <p:nvSpPr>
          <p:cNvPr id="70" name="Shape 68"/>
          <p:cNvSpPr/>
          <p:nvPr/>
        </p:nvSpPr>
        <p:spPr>
          <a:xfrm>
            <a:off x="5934456" y="3959352"/>
            <a:ext cx="1207008" cy="694944"/>
          </a:xfrm>
          <a:prstGeom prst="roundRect">
            <a:avLst>
              <a:gd name="adj" fmla="val 15789"/>
            </a:avLst>
          </a:prstGeom>
          <a:solidFill>
            <a:srgbClr val="0C1D30"/>
          </a:solidFill>
          <a:ln w="12700">
            <a:solidFill>
              <a:srgbClr val="26415D"/>
            </a:solidFill>
            <a:prstDash val="solid"/>
          </a:ln>
        </p:spPr>
      </p:sp>
      <p:sp>
        <p:nvSpPr>
          <p:cNvPr id="71" name="Text 69"/>
          <p:cNvSpPr/>
          <p:nvPr/>
        </p:nvSpPr>
        <p:spPr>
          <a:xfrm>
            <a:off x="5989320" y="4078224"/>
            <a:ext cx="1097280" cy="438912"/>
          </a:xfrm>
          <a:prstGeom prst="rect">
            <a:avLst/>
          </a:prstGeom>
          <a:noFill/>
          <a:ln/>
        </p:spPr>
        <p:txBody>
          <a:bodyPr wrap="square" lIns="0" tIns="0" rIns="0" bIns="0" rtlCol="0" anchor="ctr">
            <a:normAutofit/>
          </a:bodyPr>
          <a:lstStyle/>
          <a:p>
            <a:pPr algn="ctr" indent="0" marL="0">
              <a:buNone/>
            </a:pPr>
            <a:r>
              <a:rPr lang="en-US" sz="1030" dirty="0">
                <a:solidFill>
                  <a:srgbClr val="60758C"/>
                </a:solidFill>
                <a:latin typeface="Aptos" pitchFamily="34" charset="0"/>
                <a:ea typeface="Aptos" pitchFamily="34" charset="-122"/>
                <a:cs typeface="Aptos" pitchFamily="34" charset="-120"/>
              </a:rPr>
              <a:t>—</a:t>
            </a:r>
            <a:endParaRPr lang="en-US" sz="1030" dirty="0"/>
          </a:p>
        </p:txBody>
      </p:sp>
      <p:sp>
        <p:nvSpPr>
          <p:cNvPr id="72" name="Shape 70"/>
          <p:cNvSpPr/>
          <p:nvPr/>
        </p:nvSpPr>
        <p:spPr>
          <a:xfrm>
            <a:off x="7141464" y="3959352"/>
            <a:ext cx="1316736" cy="694944"/>
          </a:xfrm>
          <a:prstGeom prst="roundRect">
            <a:avLst>
              <a:gd name="adj" fmla="val 15789"/>
            </a:avLst>
          </a:prstGeom>
          <a:solidFill>
            <a:srgbClr val="0C1D30"/>
          </a:solidFill>
          <a:ln w="12700">
            <a:solidFill>
              <a:srgbClr val="26415D"/>
            </a:solidFill>
            <a:prstDash val="solid"/>
          </a:ln>
        </p:spPr>
      </p:sp>
      <p:sp>
        <p:nvSpPr>
          <p:cNvPr id="73" name="Text 71"/>
          <p:cNvSpPr/>
          <p:nvPr/>
        </p:nvSpPr>
        <p:spPr>
          <a:xfrm>
            <a:off x="7196328" y="4078224"/>
            <a:ext cx="1207008" cy="438912"/>
          </a:xfrm>
          <a:prstGeom prst="rect">
            <a:avLst/>
          </a:prstGeom>
          <a:noFill/>
          <a:ln/>
        </p:spPr>
        <p:txBody>
          <a:bodyPr wrap="square" lIns="0" tIns="0" rIns="0" bIns="0" rtlCol="0" anchor="ctr">
            <a:normAutofit/>
          </a:bodyPr>
          <a:lstStyle/>
          <a:p>
            <a:pPr algn="ctr" indent="0" marL="0">
              <a:buNone/>
            </a:pPr>
            <a:r>
              <a:rPr lang="en-US" sz="1030" dirty="0">
                <a:solidFill>
                  <a:srgbClr val="B7C4D6"/>
                </a:solidFill>
                <a:latin typeface="Aptos" pitchFamily="34" charset="0"/>
                <a:ea typeface="Aptos" pitchFamily="34" charset="-122"/>
                <a:cs typeface="Aptos" pitchFamily="34" charset="-120"/>
              </a:rPr>
              <a:t>Innovus / ICC2 / PT</a:t>
            </a:r>
            <a:endParaRPr lang="en-US" sz="1030" dirty="0"/>
          </a:p>
        </p:txBody>
      </p:sp>
      <p:sp>
        <p:nvSpPr>
          <p:cNvPr id="74" name="Shape 72"/>
          <p:cNvSpPr/>
          <p:nvPr/>
        </p:nvSpPr>
        <p:spPr>
          <a:xfrm>
            <a:off x="8458200" y="3959352"/>
            <a:ext cx="1609344" cy="694944"/>
          </a:xfrm>
          <a:prstGeom prst="roundRect">
            <a:avLst>
              <a:gd name="adj" fmla="val 15789"/>
            </a:avLst>
          </a:prstGeom>
          <a:solidFill>
            <a:srgbClr val="0C1D30"/>
          </a:solidFill>
          <a:ln w="12700">
            <a:solidFill>
              <a:srgbClr val="26415D"/>
            </a:solidFill>
            <a:prstDash val="solid"/>
          </a:ln>
        </p:spPr>
      </p:sp>
      <p:sp>
        <p:nvSpPr>
          <p:cNvPr id="75" name="Text 73"/>
          <p:cNvSpPr/>
          <p:nvPr/>
        </p:nvSpPr>
        <p:spPr>
          <a:xfrm>
            <a:off x="8513064" y="4078224"/>
            <a:ext cx="1499616" cy="438912"/>
          </a:xfrm>
          <a:prstGeom prst="rect">
            <a:avLst/>
          </a:prstGeom>
          <a:noFill/>
          <a:ln/>
        </p:spPr>
        <p:txBody>
          <a:bodyPr wrap="square" lIns="0" tIns="0" rIns="0" bIns="0" rtlCol="0" anchor="ctr">
            <a:normAutofit/>
          </a:bodyPr>
          <a:lstStyle/>
          <a:p>
            <a:pPr algn="ctr" indent="0" marL="0">
              <a:buNone/>
            </a:pPr>
            <a:r>
              <a:rPr lang="en-US" sz="1030" b="1" dirty="0">
                <a:solidFill>
                  <a:srgbClr val="70D6A7"/>
                </a:solidFill>
                <a:latin typeface="Aptos" pitchFamily="34" charset="0"/>
                <a:ea typeface="Aptos" pitchFamily="34" charset="-122"/>
                <a:cs typeface="Aptos" pitchFamily="34" charset="-120"/>
              </a:rPr>
              <a:t>Yes</a:t>
            </a:r>
            <a:endParaRPr lang="en-US" sz="1030" dirty="0"/>
          </a:p>
        </p:txBody>
      </p:sp>
      <p:sp>
        <p:nvSpPr>
          <p:cNvPr id="76" name="Shape 74"/>
          <p:cNvSpPr/>
          <p:nvPr/>
        </p:nvSpPr>
        <p:spPr>
          <a:xfrm>
            <a:off x="594360" y="4654296"/>
            <a:ext cx="1700784" cy="694944"/>
          </a:xfrm>
          <a:prstGeom prst="roundRect">
            <a:avLst>
              <a:gd name="adj" fmla="val 15789"/>
            </a:avLst>
          </a:prstGeom>
          <a:solidFill>
            <a:srgbClr val="0B1928"/>
          </a:solidFill>
          <a:ln w="12700">
            <a:solidFill>
              <a:srgbClr val="26415D"/>
            </a:solidFill>
            <a:prstDash val="solid"/>
          </a:ln>
        </p:spPr>
      </p:sp>
      <p:sp>
        <p:nvSpPr>
          <p:cNvPr id="77" name="Text 75"/>
          <p:cNvSpPr/>
          <p:nvPr/>
        </p:nvSpPr>
        <p:spPr>
          <a:xfrm>
            <a:off x="649224" y="4773168"/>
            <a:ext cx="1591056" cy="438912"/>
          </a:xfrm>
          <a:prstGeom prst="rect">
            <a:avLst/>
          </a:prstGeom>
          <a:noFill/>
          <a:ln/>
        </p:spPr>
        <p:txBody>
          <a:bodyPr wrap="square" lIns="0" tIns="0" rIns="0" bIns="0" rtlCol="0" anchor="ctr">
            <a:normAutofit/>
          </a:bodyPr>
          <a:lstStyle/>
          <a:p>
            <a:pPr algn="l" indent="0" marL="0">
              <a:buNone/>
            </a:pPr>
            <a:r>
              <a:rPr lang="en-US" sz="1030" b="1" dirty="0">
                <a:solidFill>
                  <a:srgbClr val="F5F8FC"/>
                </a:solidFill>
                <a:latin typeface="Aptos" pitchFamily="34" charset="0"/>
                <a:ea typeface="Aptos" pitchFamily="34" charset="-122"/>
                <a:cs typeface="Aptos" pitchFamily="34" charset="-120"/>
              </a:rPr>
              <a:t>Analog / Layout</a:t>
            </a:r>
            <a:endParaRPr lang="en-US" sz="1030" dirty="0"/>
          </a:p>
        </p:txBody>
      </p:sp>
      <p:sp>
        <p:nvSpPr>
          <p:cNvPr id="78" name="Shape 76"/>
          <p:cNvSpPr/>
          <p:nvPr/>
        </p:nvSpPr>
        <p:spPr>
          <a:xfrm>
            <a:off x="2295144" y="4654296"/>
            <a:ext cx="1207008" cy="694944"/>
          </a:xfrm>
          <a:prstGeom prst="roundRect">
            <a:avLst>
              <a:gd name="adj" fmla="val 15789"/>
            </a:avLst>
          </a:prstGeom>
          <a:solidFill>
            <a:srgbClr val="0B1928"/>
          </a:solidFill>
          <a:ln w="12700">
            <a:solidFill>
              <a:srgbClr val="26415D"/>
            </a:solidFill>
            <a:prstDash val="solid"/>
          </a:ln>
        </p:spPr>
      </p:sp>
      <p:sp>
        <p:nvSpPr>
          <p:cNvPr id="79" name="Text 77"/>
          <p:cNvSpPr/>
          <p:nvPr/>
        </p:nvSpPr>
        <p:spPr>
          <a:xfrm>
            <a:off x="2350008" y="4773168"/>
            <a:ext cx="1097280" cy="438912"/>
          </a:xfrm>
          <a:prstGeom prst="rect">
            <a:avLst/>
          </a:prstGeom>
          <a:noFill/>
          <a:ln/>
        </p:spPr>
        <p:txBody>
          <a:bodyPr wrap="square" lIns="0" tIns="0" rIns="0" bIns="0" rtlCol="0" anchor="ctr">
            <a:normAutofit/>
          </a:bodyPr>
          <a:lstStyle/>
          <a:p>
            <a:pPr algn="ctr" indent="0" marL="0">
              <a:buNone/>
            </a:pPr>
            <a:r>
              <a:rPr lang="en-US" sz="1030" dirty="0">
                <a:solidFill>
                  <a:srgbClr val="60758C"/>
                </a:solidFill>
                <a:latin typeface="Aptos" pitchFamily="34" charset="0"/>
                <a:ea typeface="Aptos" pitchFamily="34" charset="-122"/>
                <a:cs typeface="Aptos" pitchFamily="34" charset="-120"/>
              </a:rPr>
              <a:t>—</a:t>
            </a:r>
            <a:endParaRPr lang="en-US" sz="1030" dirty="0"/>
          </a:p>
        </p:txBody>
      </p:sp>
      <p:sp>
        <p:nvSpPr>
          <p:cNvPr id="80" name="Shape 78"/>
          <p:cNvSpPr/>
          <p:nvPr/>
        </p:nvSpPr>
        <p:spPr>
          <a:xfrm>
            <a:off x="3502152" y="4654296"/>
            <a:ext cx="1298448" cy="694944"/>
          </a:xfrm>
          <a:prstGeom prst="roundRect">
            <a:avLst>
              <a:gd name="adj" fmla="val 15789"/>
            </a:avLst>
          </a:prstGeom>
          <a:solidFill>
            <a:srgbClr val="0B1928"/>
          </a:solidFill>
          <a:ln w="12700">
            <a:solidFill>
              <a:srgbClr val="26415D"/>
            </a:solidFill>
            <a:prstDash val="solid"/>
          </a:ln>
        </p:spPr>
      </p:sp>
      <p:sp>
        <p:nvSpPr>
          <p:cNvPr id="81" name="Text 79"/>
          <p:cNvSpPr/>
          <p:nvPr/>
        </p:nvSpPr>
        <p:spPr>
          <a:xfrm>
            <a:off x="3557016" y="4773168"/>
            <a:ext cx="1188720" cy="438912"/>
          </a:xfrm>
          <a:prstGeom prst="rect">
            <a:avLst/>
          </a:prstGeom>
          <a:noFill/>
          <a:ln/>
        </p:spPr>
        <p:txBody>
          <a:bodyPr wrap="square" lIns="0" tIns="0" rIns="0" bIns="0" rtlCol="0" anchor="ctr">
            <a:normAutofit/>
          </a:bodyPr>
          <a:lstStyle/>
          <a:p>
            <a:pPr algn="ctr" indent="0" marL="0">
              <a:buNone/>
            </a:pPr>
            <a:r>
              <a:rPr lang="en-US" sz="1030" dirty="0">
                <a:solidFill>
                  <a:srgbClr val="60758C"/>
                </a:solidFill>
                <a:latin typeface="Aptos" pitchFamily="34" charset="0"/>
                <a:ea typeface="Aptos" pitchFamily="34" charset="-122"/>
                <a:cs typeface="Aptos" pitchFamily="34" charset="-120"/>
              </a:rPr>
              <a:t>—</a:t>
            </a:r>
            <a:endParaRPr lang="en-US" sz="1030" dirty="0"/>
          </a:p>
        </p:txBody>
      </p:sp>
      <p:sp>
        <p:nvSpPr>
          <p:cNvPr id="82" name="Shape 80"/>
          <p:cNvSpPr/>
          <p:nvPr/>
        </p:nvSpPr>
        <p:spPr>
          <a:xfrm>
            <a:off x="4800600" y="4654296"/>
            <a:ext cx="1133856" cy="694944"/>
          </a:xfrm>
          <a:prstGeom prst="roundRect">
            <a:avLst>
              <a:gd name="adj" fmla="val 15789"/>
            </a:avLst>
          </a:prstGeom>
          <a:solidFill>
            <a:srgbClr val="0B1928"/>
          </a:solidFill>
          <a:ln w="12700">
            <a:solidFill>
              <a:srgbClr val="26415D"/>
            </a:solidFill>
            <a:prstDash val="solid"/>
          </a:ln>
        </p:spPr>
      </p:sp>
      <p:sp>
        <p:nvSpPr>
          <p:cNvPr id="83" name="Text 81"/>
          <p:cNvSpPr/>
          <p:nvPr/>
        </p:nvSpPr>
        <p:spPr>
          <a:xfrm>
            <a:off x="4855464" y="4773168"/>
            <a:ext cx="1024128" cy="438912"/>
          </a:xfrm>
          <a:prstGeom prst="rect">
            <a:avLst/>
          </a:prstGeom>
          <a:noFill/>
          <a:ln/>
        </p:spPr>
        <p:txBody>
          <a:bodyPr wrap="square" lIns="0" tIns="0" rIns="0" bIns="0" rtlCol="0" anchor="ctr">
            <a:normAutofit/>
          </a:bodyPr>
          <a:lstStyle/>
          <a:p>
            <a:pPr algn="ctr" indent="0" marL="0">
              <a:buNone/>
            </a:pPr>
            <a:r>
              <a:rPr lang="en-US" sz="1030" dirty="0">
                <a:solidFill>
                  <a:srgbClr val="FFB25B"/>
                </a:solidFill>
                <a:latin typeface="Aptos" pitchFamily="34" charset="0"/>
                <a:ea typeface="Aptos" pitchFamily="34" charset="-122"/>
                <a:cs typeface="Aptos" pitchFamily="34" charset="-120"/>
              </a:rPr>
              <a:t>Medium</a:t>
            </a:r>
            <a:endParaRPr lang="en-US" sz="1030" dirty="0"/>
          </a:p>
        </p:txBody>
      </p:sp>
      <p:sp>
        <p:nvSpPr>
          <p:cNvPr id="84" name="Shape 82"/>
          <p:cNvSpPr/>
          <p:nvPr/>
        </p:nvSpPr>
        <p:spPr>
          <a:xfrm>
            <a:off x="5934456" y="4654296"/>
            <a:ext cx="1207008" cy="694944"/>
          </a:xfrm>
          <a:prstGeom prst="roundRect">
            <a:avLst>
              <a:gd name="adj" fmla="val 15789"/>
            </a:avLst>
          </a:prstGeom>
          <a:solidFill>
            <a:srgbClr val="0B1928"/>
          </a:solidFill>
          <a:ln w="12700">
            <a:solidFill>
              <a:srgbClr val="26415D"/>
            </a:solidFill>
            <a:prstDash val="solid"/>
          </a:ln>
        </p:spPr>
      </p:sp>
      <p:sp>
        <p:nvSpPr>
          <p:cNvPr id="85" name="Text 83"/>
          <p:cNvSpPr/>
          <p:nvPr/>
        </p:nvSpPr>
        <p:spPr>
          <a:xfrm>
            <a:off x="5989320" y="4773168"/>
            <a:ext cx="1097280" cy="438912"/>
          </a:xfrm>
          <a:prstGeom prst="rect">
            <a:avLst/>
          </a:prstGeom>
          <a:noFill/>
          <a:ln/>
        </p:spPr>
        <p:txBody>
          <a:bodyPr wrap="square" lIns="0" tIns="0" rIns="0" bIns="0" rtlCol="0" anchor="ctr">
            <a:normAutofit/>
          </a:bodyPr>
          <a:lstStyle/>
          <a:p>
            <a:pPr algn="ctr" indent="0" marL="0">
              <a:buNone/>
            </a:pPr>
            <a:r>
              <a:rPr lang="en-US" sz="1030" b="1" dirty="0">
                <a:solidFill>
                  <a:srgbClr val="70D6A7"/>
                </a:solidFill>
                <a:latin typeface="Aptos" pitchFamily="34" charset="0"/>
                <a:ea typeface="Aptos" pitchFamily="34" charset="-122"/>
                <a:cs typeface="Aptos" pitchFamily="34" charset="-120"/>
              </a:rPr>
              <a:t>Strong</a:t>
            </a:r>
            <a:endParaRPr lang="en-US" sz="1030" dirty="0"/>
          </a:p>
        </p:txBody>
      </p:sp>
      <p:sp>
        <p:nvSpPr>
          <p:cNvPr id="86" name="Shape 84"/>
          <p:cNvSpPr/>
          <p:nvPr/>
        </p:nvSpPr>
        <p:spPr>
          <a:xfrm>
            <a:off x="7141464" y="4654296"/>
            <a:ext cx="1316736" cy="694944"/>
          </a:xfrm>
          <a:prstGeom prst="roundRect">
            <a:avLst>
              <a:gd name="adj" fmla="val 15789"/>
            </a:avLst>
          </a:prstGeom>
          <a:solidFill>
            <a:srgbClr val="0B1928"/>
          </a:solidFill>
          <a:ln w="12700">
            <a:solidFill>
              <a:srgbClr val="26415D"/>
            </a:solidFill>
            <a:prstDash val="solid"/>
          </a:ln>
        </p:spPr>
      </p:sp>
      <p:sp>
        <p:nvSpPr>
          <p:cNvPr id="87" name="Text 85"/>
          <p:cNvSpPr/>
          <p:nvPr/>
        </p:nvSpPr>
        <p:spPr>
          <a:xfrm>
            <a:off x="7196328" y="4773168"/>
            <a:ext cx="1207008" cy="438912"/>
          </a:xfrm>
          <a:prstGeom prst="rect">
            <a:avLst/>
          </a:prstGeom>
          <a:noFill/>
          <a:ln/>
        </p:spPr>
        <p:txBody>
          <a:bodyPr wrap="square" lIns="0" tIns="0" rIns="0" bIns="0" rtlCol="0" anchor="ctr">
            <a:normAutofit/>
          </a:bodyPr>
          <a:lstStyle/>
          <a:p>
            <a:pPr algn="ctr" indent="0" marL="0">
              <a:buNone/>
            </a:pPr>
            <a:r>
              <a:rPr lang="en-US" sz="1030" dirty="0">
                <a:solidFill>
                  <a:srgbClr val="B7C4D6"/>
                </a:solidFill>
                <a:latin typeface="Aptos" pitchFamily="34" charset="0"/>
                <a:ea typeface="Aptos" pitchFamily="34" charset="-122"/>
                <a:cs typeface="Aptos" pitchFamily="34" charset="-120"/>
              </a:rPr>
              <a:t>Virtuoso / Spectre</a:t>
            </a:r>
            <a:endParaRPr lang="en-US" sz="1030" dirty="0"/>
          </a:p>
        </p:txBody>
      </p:sp>
      <p:sp>
        <p:nvSpPr>
          <p:cNvPr id="88" name="Shape 86"/>
          <p:cNvSpPr/>
          <p:nvPr/>
        </p:nvSpPr>
        <p:spPr>
          <a:xfrm>
            <a:off x="8458200" y="4654296"/>
            <a:ext cx="1609344" cy="694944"/>
          </a:xfrm>
          <a:prstGeom prst="roundRect">
            <a:avLst>
              <a:gd name="adj" fmla="val 15789"/>
            </a:avLst>
          </a:prstGeom>
          <a:solidFill>
            <a:srgbClr val="0B1928"/>
          </a:solidFill>
          <a:ln w="12700">
            <a:solidFill>
              <a:srgbClr val="26415D"/>
            </a:solidFill>
            <a:prstDash val="solid"/>
          </a:ln>
        </p:spPr>
      </p:sp>
      <p:sp>
        <p:nvSpPr>
          <p:cNvPr id="89" name="Text 87"/>
          <p:cNvSpPr/>
          <p:nvPr/>
        </p:nvSpPr>
        <p:spPr>
          <a:xfrm>
            <a:off x="8513064" y="4773168"/>
            <a:ext cx="1499616" cy="438912"/>
          </a:xfrm>
          <a:prstGeom prst="rect">
            <a:avLst/>
          </a:prstGeom>
          <a:noFill/>
          <a:ln/>
        </p:spPr>
        <p:txBody>
          <a:bodyPr wrap="square" lIns="0" tIns="0" rIns="0" bIns="0" rtlCol="0" anchor="ctr">
            <a:normAutofit/>
          </a:bodyPr>
          <a:lstStyle/>
          <a:p>
            <a:pPr algn="ctr" indent="0" marL="0">
              <a:buNone/>
            </a:pPr>
            <a:r>
              <a:rPr lang="en-US" sz="1030" b="1" dirty="0">
                <a:solidFill>
                  <a:srgbClr val="70D6A7"/>
                </a:solidFill>
                <a:latin typeface="Aptos" pitchFamily="34" charset="0"/>
                <a:ea typeface="Aptos" pitchFamily="34" charset="-122"/>
                <a:cs typeface="Aptos" pitchFamily="34" charset="-120"/>
              </a:rPr>
              <a:t>Yes</a:t>
            </a:r>
            <a:endParaRPr lang="en-US" sz="1030" dirty="0"/>
          </a:p>
        </p:txBody>
      </p:sp>
      <p:sp>
        <p:nvSpPr>
          <p:cNvPr id="90" name="Text 88"/>
          <p:cNvSpPr/>
          <p:nvPr/>
        </p:nvSpPr>
        <p:spPr>
          <a:xfrm>
            <a:off x="786384" y="5522976"/>
            <a:ext cx="10607040" cy="393192"/>
          </a:xfrm>
          <a:prstGeom prst="rect">
            <a:avLst/>
          </a:prstGeom>
          <a:noFill/>
          <a:ln/>
        </p:spPr>
        <p:txBody>
          <a:bodyPr wrap="square" lIns="0" tIns="0" rIns="0" bIns="0" rtlCol="0" anchor="ctr">
            <a:normAutofit/>
          </a:bodyPr>
          <a:lstStyle/>
          <a:p>
            <a:pPr algn="ctr" indent="0" marL="0">
              <a:buNone/>
            </a:pPr>
            <a:r>
              <a:rPr lang="en-US" sz="1270" b="1" dirty="0">
                <a:solidFill>
                  <a:srgbClr val="DFFCF9"/>
                </a:solidFill>
                <a:latin typeface="Aptos" pitchFamily="34" charset="0"/>
                <a:ea typeface="Aptos" pitchFamily="34" charset="-122"/>
                <a:cs typeface="Aptos" pitchFamily="34" charset="-120"/>
              </a:rPr>
              <a:t>Common baseline across tracks: technical English · Linux · scripting mindset · teamwork · problem solving</a:t>
            </a:r>
            <a:endParaRPr lang="en-US" sz="1270" dirty="0"/>
          </a:p>
        </p:txBody>
      </p:sp>
      <p:sp>
        <p:nvSpPr>
          <p:cNvPr id="91" name="Text 89"/>
          <p:cNvSpPr/>
          <p:nvPr/>
        </p:nvSpPr>
        <p:spPr>
          <a:xfrm>
            <a:off x="576072" y="6236208"/>
            <a:ext cx="10835640" cy="164592"/>
          </a:xfrm>
          <a:prstGeom prst="rect">
            <a:avLst/>
          </a:prstGeom>
          <a:noFill/>
          <a:ln/>
        </p:spPr>
        <p:txBody>
          <a:bodyPr wrap="square" lIns="0" tIns="0" rIns="0" bIns="0" rtlCol="0" anchor="ctr">
            <a:normAutofit/>
          </a:bodyPr>
          <a:lstStyle/>
          <a:p>
            <a:pPr algn="l" indent="0" marL="0">
              <a:buNone/>
            </a:pPr>
            <a:r>
              <a:rPr lang="en-US" sz="730" dirty="0">
                <a:solidFill>
                  <a:srgbClr val="6F829A"/>
                </a:solidFill>
                <a:latin typeface="Aptos" pitchFamily="34" charset="0"/>
                <a:ea typeface="Aptos" pitchFamily="34" charset="-122"/>
                <a:cs typeface="Aptos" pitchFamily="34" charset="-120"/>
              </a:rPr>
              <a:t>Examples of tools and skills are representative, not an exhaustive requirement list for every team.</a:t>
            </a:r>
            <a:endParaRPr lang="en-US" sz="730" dirty="0"/>
          </a:p>
        </p:txBody>
      </p:sp>
      <p:sp>
        <p:nvSpPr>
          <p:cNvPr id="25" name="Slide Number Placeholder 0"/>
          <p:cNvSpPr>
            <a:spLocks noGrp="1"/>
          </p:cNvSpPr>
          <p:nvPr>
            <p:ph type="sldNum" sz="quarter" idx="4294967295"/>
          </p:nvPr>
        </p:nvSpPr>
        <p:spPr>
          <a:xfrm>
            <a:off x="11201400" y="650138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F829A"/>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47472"/>
            <a:ext cx="5303520" cy="201168"/>
          </a:xfrm>
          <a:prstGeom prst="rect">
            <a:avLst/>
          </a:prstGeom>
          <a:noFill/>
          <a:ln/>
        </p:spPr>
        <p:txBody>
          <a:bodyPr wrap="square" lIns="0" tIns="0" rIns="0" bIns="0" rtlCol="0" anchor="ctr">
            <a:normAutofit/>
          </a:bodyPr>
          <a:lstStyle/>
          <a:p>
            <a:pPr algn="l" indent="0" marL="0">
              <a:buNone/>
            </a:pPr>
            <a:r>
              <a:rPr lang="en-US" sz="930" b="1" spc="140" kern="0" dirty="0">
                <a:solidFill>
                  <a:srgbClr val="4FD1C5"/>
                </a:solidFill>
                <a:latin typeface="Aptos" pitchFamily="34" charset="0"/>
                <a:ea typeface="Aptos" pitchFamily="34" charset="-122"/>
                <a:cs typeface="Aptos" pitchFamily="34" charset="-120"/>
              </a:rPr>
              <a:t>ROLE DISTRIBUTION</a:t>
            </a:r>
            <a:endParaRPr lang="en-US" sz="930" dirty="0"/>
          </a:p>
        </p:txBody>
      </p:sp>
      <p:sp>
        <p:nvSpPr>
          <p:cNvPr id="3" name="Text 1"/>
          <p:cNvSpPr/>
          <p:nvPr/>
        </p:nvSpPr>
        <p:spPr>
          <a:xfrm>
            <a:off x="566928" y="566928"/>
            <a:ext cx="10881360" cy="530352"/>
          </a:xfrm>
          <a:prstGeom prst="rect">
            <a:avLst/>
          </a:prstGeom>
          <a:noFill/>
          <a:ln/>
        </p:spPr>
        <p:txBody>
          <a:bodyPr wrap="square" lIns="0" tIns="0" rIns="0" bIns="0" rtlCol="0" anchor="ctr">
            <a:normAutofit/>
          </a:bodyPr>
          <a:lstStyle/>
          <a:p>
            <a:pPr algn="l" indent="0" marL="0">
              <a:buNone/>
            </a:pPr>
            <a:r>
              <a:rPr lang="en-US" sz="2750" b="1" dirty="0">
                <a:solidFill>
                  <a:srgbClr val="F5F8FC"/>
                </a:solidFill>
                <a:latin typeface="Aptos Display" pitchFamily="34" charset="0"/>
                <a:ea typeface="Aptos Display" pitchFamily="34" charset="-122"/>
                <a:cs typeface="Aptos Display" pitchFamily="34" charset="-120"/>
              </a:rPr>
              <a:t>Selected Internship Openings — 2026 Snapshot</a:t>
            </a:r>
            <a:endParaRPr lang="en-US" sz="2750" dirty="0"/>
          </a:p>
        </p:txBody>
      </p:sp>
      <p:sp>
        <p:nvSpPr>
          <p:cNvPr id="4" name="Shape 2"/>
          <p:cNvSpPr/>
          <p:nvPr/>
        </p:nvSpPr>
        <p:spPr>
          <a:xfrm>
            <a:off x="9555480" y="338328"/>
            <a:ext cx="2057400" cy="310896"/>
          </a:xfrm>
          <a:prstGeom prst="roundRect">
            <a:avLst>
              <a:gd name="adj" fmla="val 35294"/>
            </a:avLst>
          </a:prstGeom>
          <a:solidFill>
            <a:srgbClr val="10263D"/>
          </a:solidFill>
          <a:ln w="12700">
            <a:solidFill>
              <a:srgbClr val="26415D"/>
            </a:solidFill>
            <a:prstDash val="solid"/>
          </a:ln>
        </p:spPr>
      </p:sp>
      <p:sp>
        <p:nvSpPr>
          <p:cNvPr id="5" name="Text 3"/>
          <p:cNvSpPr/>
          <p:nvPr/>
        </p:nvSpPr>
        <p:spPr>
          <a:xfrm>
            <a:off x="9646920" y="370332"/>
            <a:ext cx="1874520" cy="210312"/>
          </a:xfrm>
          <a:prstGeom prst="rect">
            <a:avLst/>
          </a:prstGeom>
          <a:noFill/>
          <a:ln/>
        </p:spPr>
        <p:txBody>
          <a:bodyPr wrap="square" lIns="0" tIns="0" rIns="0" bIns="0" rtlCol="0" anchor="ctr">
            <a:normAutofit/>
          </a:bodyPr>
          <a:lstStyle/>
          <a:p>
            <a:pPr algn="ctr" indent="0" marL="0">
              <a:buNone/>
            </a:pPr>
            <a:r>
              <a:rPr lang="en-US" sz="840" b="1" dirty="0">
                <a:solidFill>
                  <a:srgbClr val="D9E8F6"/>
                </a:solidFill>
                <a:latin typeface="Aptos" pitchFamily="34" charset="0"/>
                <a:ea typeface="Aptos" pitchFamily="34" charset="-122"/>
                <a:cs typeface="Aptos" pitchFamily="34" charset="-120"/>
              </a:rPr>
              <a:t>NGUYỄN HỮU ĐỨC</a:t>
            </a:r>
            <a:endParaRPr lang="en-US" sz="840" dirty="0"/>
          </a:p>
        </p:txBody>
      </p:sp>
      <p:sp>
        <p:nvSpPr>
          <p:cNvPr id="6" name="Text 4"/>
          <p:cNvSpPr/>
          <p:nvPr/>
        </p:nvSpPr>
        <p:spPr>
          <a:xfrm>
            <a:off x="603504" y="1307592"/>
            <a:ext cx="4480560" cy="237744"/>
          </a:xfrm>
          <a:prstGeom prst="rect">
            <a:avLst/>
          </a:prstGeom>
          <a:noFill/>
          <a:ln/>
        </p:spPr>
        <p:txBody>
          <a:bodyPr wrap="square" lIns="0" tIns="0" rIns="0" bIns="0" rtlCol="0" anchor="ctr">
            <a:normAutofit/>
          </a:bodyPr>
          <a:lstStyle/>
          <a:p>
            <a:pPr algn="l" indent="0" marL="0">
              <a:buNone/>
            </a:pPr>
            <a:r>
              <a:rPr lang="en-US" sz="1120" b="1" dirty="0">
                <a:solidFill>
                  <a:srgbClr val="B7C4D6"/>
                </a:solidFill>
                <a:latin typeface="Aptos" pitchFamily="34" charset="0"/>
                <a:ea typeface="Aptos" pitchFamily="34" charset="-122"/>
                <a:cs typeface="Aptos" pitchFamily="34" charset="-120"/>
              </a:rPr>
              <a:t>Known role counts from the group brief</a:t>
            </a:r>
            <a:endParaRPr lang="en-US" sz="1120" dirty="0"/>
          </a:p>
        </p:txBody>
      </p:sp>
      <p:sp>
        <p:nvSpPr>
          <p:cNvPr id="7" name="Text 5"/>
          <p:cNvSpPr/>
          <p:nvPr/>
        </p:nvSpPr>
        <p:spPr>
          <a:xfrm>
            <a:off x="621792" y="1700784"/>
            <a:ext cx="1947672" cy="256032"/>
          </a:xfrm>
          <a:prstGeom prst="rect">
            <a:avLst/>
          </a:prstGeom>
          <a:noFill/>
          <a:ln/>
        </p:spPr>
        <p:txBody>
          <a:bodyPr wrap="square" lIns="0" tIns="0" rIns="0" bIns="0" rtlCol="0" anchor="ctr">
            <a:normAutofit/>
          </a:bodyPr>
          <a:lstStyle/>
          <a:p>
            <a:pPr algn="l" indent="0" marL="0">
              <a:buNone/>
            </a:pPr>
            <a:r>
              <a:rPr lang="en-US" sz="1150" dirty="0">
                <a:solidFill>
                  <a:srgbClr val="DFE9F6"/>
                </a:solidFill>
                <a:latin typeface="Aptos" pitchFamily="34" charset="0"/>
                <a:ea typeface="Aptos" pitchFamily="34" charset="-122"/>
                <a:cs typeface="Aptos" pitchFamily="34" charset="-120"/>
              </a:rPr>
              <a:t>Digital Design</a:t>
            </a:r>
            <a:endParaRPr lang="en-US" sz="1150" dirty="0"/>
          </a:p>
        </p:txBody>
      </p:sp>
      <p:sp>
        <p:nvSpPr>
          <p:cNvPr id="8" name="Shape 6"/>
          <p:cNvSpPr/>
          <p:nvPr/>
        </p:nvSpPr>
        <p:spPr>
          <a:xfrm>
            <a:off x="2606040" y="1728216"/>
            <a:ext cx="7040880" cy="219456"/>
          </a:xfrm>
          <a:prstGeom prst="roundRect">
            <a:avLst>
              <a:gd name="adj" fmla="val 50000"/>
            </a:avLst>
          </a:prstGeom>
          <a:solidFill>
            <a:srgbClr val="0A1B2B"/>
          </a:solidFill>
          <a:ln w="12700">
            <a:solidFill>
              <a:srgbClr val="19334E"/>
            </a:solidFill>
            <a:prstDash val="solid"/>
          </a:ln>
        </p:spPr>
      </p:sp>
      <p:sp>
        <p:nvSpPr>
          <p:cNvPr id="9" name="Shape 7"/>
          <p:cNvSpPr/>
          <p:nvPr/>
        </p:nvSpPr>
        <p:spPr>
          <a:xfrm>
            <a:off x="2606040" y="1728216"/>
            <a:ext cx="7040880" cy="219456"/>
          </a:xfrm>
          <a:prstGeom prst="roundRect">
            <a:avLst>
              <a:gd name="adj" fmla="val 33333"/>
            </a:avLst>
          </a:prstGeom>
          <a:solidFill>
            <a:srgbClr val="4FD1C5"/>
          </a:solidFill>
          <a:ln w="12700">
            <a:solidFill>
              <a:srgbClr val="4FD1C5"/>
            </a:solidFill>
            <a:prstDash val="solid"/>
          </a:ln>
        </p:spPr>
      </p:sp>
      <p:sp>
        <p:nvSpPr>
          <p:cNvPr id="10" name="Text 8"/>
          <p:cNvSpPr/>
          <p:nvPr/>
        </p:nvSpPr>
        <p:spPr>
          <a:xfrm>
            <a:off x="9802368" y="1691640"/>
            <a:ext cx="475488" cy="256032"/>
          </a:xfrm>
          <a:prstGeom prst="rect">
            <a:avLst/>
          </a:prstGeom>
          <a:noFill/>
          <a:ln/>
        </p:spPr>
        <p:txBody>
          <a:bodyPr wrap="square" lIns="0" tIns="0" rIns="0" bIns="0" rtlCol="0" anchor="ctr">
            <a:normAutofit/>
          </a:bodyPr>
          <a:lstStyle/>
          <a:p>
            <a:pPr algn="r" indent="0" marL="0">
              <a:buNone/>
            </a:pPr>
            <a:r>
              <a:rPr lang="en-US" sz="1200" b="1" dirty="0">
                <a:solidFill>
                  <a:srgbClr val="F5F8FC"/>
                </a:solidFill>
                <a:latin typeface="Aptos" pitchFamily="34" charset="0"/>
                <a:ea typeface="Aptos" pitchFamily="34" charset="-122"/>
                <a:cs typeface="Aptos" pitchFamily="34" charset="-120"/>
              </a:rPr>
              <a:t>13</a:t>
            </a:r>
            <a:endParaRPr lang="en-US" sz="1200" dirty="0"/>
          </a:p>
        </p:txBody>
      </p:sp>
      <p:sp>
        <p:nvSpPr>
          <p:cNvPr id="11" name="Text 9"/>
          <p:cNvSpPr/>
          <p:nvPr/>
        </p:nvSpPr>
        <p:spPr>
          <a:xfrm>
            <a:off x="621792" y="2240280"/>
            <a:ext cx="1947672" cy="256032"/>
          </a:xfrm>
          <a:prstGeom prst="rect">
            <a:avLst/>
          </a:prstGeom>
          <a:noFill/>
          <a:ln/>
        </p:spPr>
        <p:txBody>
          <a:bodyPr wrap="square" lIns="0" tIns="0" rIns="0" bIns="0" rtlCol="0" anchor="ctr">
            <a:normAutofit/>
          </a:bodyPr>
          <a:lstStyle/>
          <a:p>
            <a:pPr algn="l" indent="0" marL="0">
              <a:buNone/>
            </a:pPr>
            <a:r>
              <a:rPr lang="en-US" sz="1150" dirty="0">
                <a:solidFill>
                  <a:srgbClr val="DFE9F6"/>
                </a:solidFill>
                <a:latin typeface="Aptos" pitchFamily="34" charset="0"/>
                <a:ea typeface="Aptos" pitchFamily="34" charset="-122"/>
                <a:cs typeface="Aptos" pitchFamily="34" charset="-120"/>
              </a:rPr>
              <a:t>Analog Design</a:t>
            </a:r>
            <a:endParaRPr lang="en-US" sz="1150" dirty="0"/>
          </a:p>
        </p:txBody>
      </p:sp>
      <p:sp>
        <p:nvSpPr>
          <p:cNvPr id="12" name="Shape 10"/>
          <p:cNvSpPr/>
          <p:nvPr/>
        </p:nvSpPr>
        <p:spPr>
          <a:xfrm>
            <a:off x="2606040" y="2267712"/>
            <a:ext cx="7040880" cy="219456"/>
          </a:xfrm>
          <a:prstGeom prst="roundRect">
            <a:avLst>
              <a:gd name="adj" fmla="val 50000"/>
            </a:avLst>
          </a:prstGeom>
          <a:solidFill>
            <a:srgbClr val="0A1B2B"/>
          </a:solidFill>
          <a:ln w="12700">
            <a:solidFill>
              <a:srgbClr val="19334E"/>
            </a:solidFill>
            <a:prstDash val="solid"/>
          </a:ln>
        </p:spPr>
      </p:sp>
      <p:sp>
        <p:nvSpPr>
          <p:cNvPr id="13" name="Shape 11"/>
          <p:cNvSpPr/>
          <p:nvPr/>
        </p:nvSpPr>
        <p:spPr>
          <a:xfrm>
            <a:off x="2606040" y="2267712"/>
            <a:ext cx="7040880" cy="219456"/>
          </a:xfrm>
          <a:prstGeom prst="roundRect">
            <a:avLst>
              <a:gd name="adj" fmla="val 33333"/>
            </a:avLst>
          </a:prstGeom>
          <a:solidFill>
            <a:srgbClr val="B08CFF"/>
          </a:solidFill>
          <a:ln w="12700">
            <a:solidFill>
              <a:srgbClr val="B08CFF"/>
            </a:solidFill>
            <a:prstDash val="solid"/>
          </a:ln>
        </p:spPr>
      </p:sp>
      <p:sp>
        <p:nvSpPr>
          <p:cNvPr id="14" name="Text 12"/>
          <p:cNvSpPr/>
          <p:nvPr/>
        </p:nvSpPr>
        <p:spPr>
          <a:xfrm>
            <a:off x="9802368" y="2231136"/>
            <a:ext cx="475488" cy="256032"/>
          </a:xfrm>
          <a:prstGeom prst="rect">
            <a:avLst/>
          </a:prstGeom>
          <a:noFill/>
          <a:ln/>
        </p:spPr>
        <p:txBody>
          <a:bodyPr wrap="square" lIns="0" tIns="0" rIns="0" bIns="0" rtlCol="0" anchor="ctr">
            <a:normAutofit/>
          </a:bodyPr>
          <a:lstStyle/>
          <a:p>
            <a:pPr algn="r" indent="0" marL="0">
              <a:buNone/>
            </a:pPr>
            <a:r>
              <a:rPr lang="en-US" sz="1200" b="1" dirty="0">
                <a:solidFill>
                  <a:srgbClr val="F5F8FC"/>
                </a:solidFill>
                <a:latin typeface="Aptos" pitchFamily="34" charset="0"/>
                <a:ea typeface="Aptos" pitchFamily="34" charset="-122"/>
                <a:cs typeface="Aptos" pitchFamily="34" charset="-120"/>
              </a:rPr>
              <a:t>13</a:t>
            </a:r>
            <a:endParaRPr lang="en-US" sz="1200" dirty="0"/>
          </a:p>
        </p:txBody>
      </p:sp>
      <p:sp>
        <p:nvSpPr>
          <p:cNvPr id="15" name="Text 13"/>
          <p:cNvSpPr/>
          <p:nvPr/>
        </p:nvSpPr>
        <p:spPr>
          <a:xfrm>
            <a:off x="621792" y="2779776"/>
            <a:ext cx="1947672" cy="256032"/>
          </a:xfrm>
          <a:prstGeom prst="rect">
            <a:avLst/>
          </a:prstGeom>
          <a:noFill/>
          <a:ln/>
        </p:spPr>
        <p:txBody>
          <a:bodyPr wrap="square" lIns="0" tIns="0" rIns="0" bIns="0" rtlCol="0" anchor="ctr">
            <a:normAutofit/>
          </a:bodyPr>
          <a:lstStyle/>
          <a:p>
            <a:pPr algn="l" indent="0" marL="0">
              <a:buNone/>
            </a:pPr>
            <a:r>
              <a:rPr lang="en-US" sz="1150" dirty="0">
                <a:solidFill>
                  <a:srgbClr val="DFE9F6"/>
                </a:solidFill>
                <a:latin typeface="Aptos" pitchFamily="34" charset="0"/>
                <a:ea typeface="Aptos" pitchFamily="34" charset="-122"/>
                <a:cs typeface="Aptos" pitchFamily="34" charset="-120"/>
              </a:rPr>
              <a:t>Physical Design</a:t>
            </a:r>
            <a:endParaRPr lang="en-US" sz="1150" dirty="0"/>
          </a:p>
        </p:txBody>
      </p:sp>
      <p:sp>
        <p:nvSpPr>
          <p:cNvPr id="16" name="Shape 14"/>
          <p:cNvSpPr/>
          <p:nvPr/>
        </p:nvSpPr>
        <p:spPr>
          <a:xfrm>
            <a:off x="2606040" y="2807208"/>
            <a:ext cx="7040880" cy="219456"/>
          </a:xfrm>
          <a:prstGeom prst="roundRect">
            <a:avLst>
              <a:gd name="adj" fmla="val 50000"/>
            </a:avLst>
          </a:prstGeom>
          <a:solidFill>
            <a:srgbClr val="0A1B2B"/>
          </a:solidFill>
          <a:ln w="12700">
            <a:solidFill>
              <a:srgbClr val="19334E"/>
            </a:solidFill>
            <a:prstDash val="solid"/>
          </a:ln>
        </p:spPr>
      </p:sp>
      <p:sp>
        <p:nvSpPr>
          <p:cNvPr id="17" name="Shape 15"/>
          <p:cNvSpPr/>
          <p:nvPr/>
        </p:nvSpPr>
        <p:spPr>
          <a:xfrm>
            <a:off x="2606040" y="2807208"/>
            <a:ext cx="5416062" cy="219456"/>
          </a:xfrm>
          <a:prstGeom prst="roundRect">
            <a:avLst>
              <a:gd name="adj" fmla="val 33333"/>
            </a:avLst>
          </a:prstGeom>
          <a:solidFill>
            <a:srgbClr val="6AA7FF"/>
          </a:solidFill>
          <a:ln w="12700">
            <a:solidFill>
              <a:srgbClr val="6AA7FF"/>
            </a:solidFill>
            <a:prstDash val="solid"/>
          </a:ln>
        </p:spPr>
      </p:sp>
      <p:sp>
        <p:nvSpPr>
          <p:cNvPr id="18" name="Text 16"/>
          <p:cNvSpPr/>
          <p:nvPr/>
        </p:nvSpPr>
        <p:spPr>
          <a:xfrm>
            <a:off x="9802368" y="2770632"/>
            <a:ext cx="475488" cy="256032"/>
          </a:xfrm>
          <a:prstGeom prst="rect">
            <a:avLst/>
          </a:prstGeom>
          <a:noFill/>
          <a:ln/>
        </p:spPr>
        <p:txBody>
          <a:bodyPr wrap="square" lIns="0" tIns="0" rIns="0" bIns="0" rtlCol="0" anchor="ctr">
            <a:normAutofit/>
          </a:bodyPr>
          <a:lstStyle/>
          <a:p>
            <a:pPr algn="r" indent="0" marL="0">
              <a:buNone/>
            </a:pPr>
            <a:r>
              <a:rPr lang="en-US" sz="1200" b="1" dirty="0">
                <a:solidFill>
                  <a:srgbClr val="F5F8FC"/>
                </a:solidFill>
                <a:latin typeface="Aptos" pitchFamily="34" charset="0"/>
                <a:ea typeface="Aptos" pitchFamily="34" charset="-122"/>
                <a:cs typeface="Aptos" pitchFamily="34" charset="-120"/>
              </a:rPr>
              <a:t>10</a:t>
            </a:r>
            <a:endParaRPr lang="en-US" sz="1200" dirty="0"/>
          </a:p>
        </p:txBody>
      </p:sp>
      <p:sp>
        <p:nvSpPr>
          <p:cNvPr id="19" name="Text 17"/>
          <p:cNvSpPr/>
          <p:nvPr/>
        </p:nvSpPr>
        <p:spPr>
          <a:xfrm>
            <a:off x="621792" y="3319272"/>
            <a:ext cx="1947672" cy="256032"/>
          </a:xfrm>
          <a:prstGeom prst="rect">
            <a:avLst/>
          </a:prstGeom>
          <a:noFill/>
          <a:ln/>
        </p:spPr>
        <p:txBody>
          <a:bodyPr wrap="square" lIns="0" tIns="0" rIns="0" bIns="0" rtlCol="0" anchor="ctr">
            <a:normAutofit/>
          </a:bodyPr>
          <a:lstStyle/>
          <a:p>
            <a:pPr algn="l" indent="0" marL="0">
              <a:buNone/>
            </a:pPr>
            <a:r>
              <a:rPr lang="en-US" sz="1150" dirty="0">
                <a:solidFill>
                  <a:srgbClr val="DFE9F6"/>
                </a:solidFill>
                <a:latin typeface="Aptos" pitchFamily="34" charset="0"/>
                <a:ea typeface="Aptos" pitchFamily="34" charset="-122"/>
                <a:cs typeface="Aptos" pitchFamily="34" charset="-120"/>
              </a:rPr>
              <a:t>Analog Layout</a:t>
            </a:r>
            <a:endParaRPr lang="en-US" sz="1150" dirty="0"/>
          </a:p>
        </p:txBody>
      </p:sp>
      <p:sp>
        <p:nvSpPr>
          <p:cNvPr id="20" name="Shape 18"/>
          <p:cNvSpPr/>
          <p:nvPr/>
        </p:nvSpPr>
        <p:spPr>
          <a:xfrm>
            <a:off x="2606040" y="3346704"/>
            <a:ext cx="7040880" cy="219456"/>
          </a:xfrm>
          <a:prstGeom prst="roundRect">
            <a:avLst>
              <a:gd name="adj" fmla="val 50000"/>
            </a:avLst>
          </a:prstGeom>
          <a:solidFill>
            <a:srgbClr val="0A1B2B"/>
          </a:solidFill>
          <a:ln w="12700">
            <a:solidFill>
              <a:srgbClr val="19334E"/>
            </a:solidFill>
            <a:prstDash val="solid"/>
          </a:ln>
        </p:spPr>
      </p:sp>
      <p:sp>
        <p:nvSpPr>
          <p:cNvPr id="21" name="Shape 19"/>
          <p:cNvSpPr/>
          <p:nvPr/>
        </p:nvSpPr>
        <p:spPr>
          <a:xfrm>
            <a:off x="2606040" y="3346704"/>
            <a:ext cx="3249637" cy="219456"/>
          </a:xfrm>
          <a:prstGeom prst="roundRect">
            <a:avLst>
              <a:gd name="adj" fmla="val 33333"/>
            </a:avLst>
          </a:prstGeom>
          <a:solidFill>
            <a:srgbClr val="FFB25B"/>
          </a:solidFill>
          <a:ln w="12700">
            <a:solidFill>
              <a:srgbClr val="FFB25B"/>
            </a:solidFill>
            <a:prstDash val="solid"/>
          </a:ln>
        </p:spPr>
      </p:sp>
      <p:sp>
        <p:nvSpPr>
          <p:cNvPr id="22" name="Text 20"/>
          <p:cNvSpPr/>
          <p:nvPr/>
        </p:nvSpPr>
        <p:spPr>
          <a:xfrm>
            <a:off x="9802368" y="3310128"/>
            <a:ext cx="475488" cy="256032"/>
          </a:xfrm>
          <a:prstGeom prst="rect">
            <a:avLst/>
          </a:prstGeom>
          <a:noFill/>
          <a:ln/>
        </p:spPr>
        <p:txBody>
          <a:bodyPr wrap="square" lIns="0" tIns="0" rIns="0" bIns="0" rtlCol="0" anchor="ctr">
            <a:normAutofit/>
          </a:bodyPr>
          <a:lstStyle/>
          <a:p>
            <a:pPr algn="r" indent="0" marL="0">
              <a:buNone/>
            </a:pPr>
            <a:r>
              <a:rPr lang="en-US" sz="1200" b="1" dirty="0">
                <a:solidFill>
                  <a:srgbClr val="F5F8FC"/>
                </a:solidFill>
                <a:latin typeface="Aptos" pitchFamily="34" charset="0"/>
                <a:ea typeface="Aptos" pitchFamily="34" charset="-122"/>
                <a:cs typeface="Aptos" pitchFamily="34" charset="-120"/>
              </a:rPr>
              <a:t>6</a:t>
            </a:r>
            <a:endParaRPr lang="en-US" sz="1200" dirty="0"/>
          </a:p>
        </p:txBody>
      </p:sp>
      <p:sp>
        <p:nvSpPr>
          <p:cNvPr id="23" name="Text 21"/>
          <p:cNvSpPr/>
          <p:nvPr/>
        </p:nvSpPr>
        <p:spPr>
          <a:xfrm>
            <a:off x="621792" y="3858768"/>
            <a:ext cx="1947672" cy="256032"/>
          </a:xfrm>
          <a:prstGeom prst="rect">
            <a:avLst/>
          </a:prstGeom>
          <a:noFill/>
          <a:ln/>
        </p:spPr>
        <p:txBody>
          <a:bodyPr wrap="square" lIns="0" tIns="0" rIns="0" bIns="0" rtlCol="0" anchor="ctr">
            <a:normAutofit/>
          </a:bodyPr>
          <a:lstStyle/>
          <a:p>
            <a:pPr algn="l" indent="0" marL="0">
              <a:buNone/>
            </a:pPr>
            <a:r>
              <a:rPr lang="en-US" sz="1150" dirty="0">
                <a:solidFill>
                  <a:srgbClr val="DFE9F6"/>
                </a:solidFill>
                <a:latin typeface="Aptos" pitchFamily="34" charset="0"/>
                <a:ea typeface="Aptos" pitchFamily="34" charset="-122"/>
                <a:cs typeface="Aptos" pitchFamily="34" charset="-120"/>
              </a:rPr>
              <a:t>Design Verification</a:t>
            </a:r>
            <a:endParaRPr lang="en-US" sz="1150" dirty="0"/>
          </a:p>
        </p:txBody>
      </p:sp>
      <p:sp>
        <p:nvSpPr>
          <p:cNvPr id="24" name="Shape 22"/>
          <p:cNvSpPr/>
          <p:nvPr/>
        </p:nvSpPr>
        <p:spPr>
          <a:xfrm>
            <a:off x="2606040" y="3886200"/>
            <a:ext cx="7040880" cy="219456"/>
          </a:xfrm>
          <a:prstGeom prst="roundRect">
            <a:avLst>
              <a:gd name="adj" fmla="val 50000"/>
            </a:avLst>
          </a:prstGeom>
          <a:solidFill>
            <a:srgbClr val="0A1B2B"/>
          </a:solidFill>
          <a:ln w="12700">
            <a:solidFill>
              <a:srgbClr val="19334E"/>
            </a:solidFill>
            <a:prstDash val="solid"/>
          </a:ln>
        </p:spPr>
      </p:sp>
      <p:sp>
        <p:nvSpPr>
          <p:cNvPr id="25" name="Shape 23"/>
          <p:cNvSpPr/>
          <p:nvPr/>
        </p:nvSpPr>
        <p:spPr>
          <a:xfrm>
            <a:off x="2606040" y="3886200"/>
            <a:ext cx="1624818" cy="219456"/>
          </a:xfrm>
          <a:prstGeom prst="roundRect">
            <a:avLst>
              <a:gd name="adj" fmla="val 33333"/>
            </a:avLst>
          </a:prstGeom>
          <a:solidFill>
            <a:srgbClr val="70D6A7"/>
          </a:solidFill>
          <a:ln w="12700">
            <a:solidFill>
              <a:srgbClr val="70D6A7"/>
            </a:solidFill>
            <a:prstDash val="solid"/>
          </a:ln>
        </p:spPr>
      </p:sp>
      <p:sp>
        <p:nvSpPr>
          <p:cNvPr id="26" name="Text 24"/>
          <p:cNvSpPr/>
          <p:nvPr/>
        </p:nvSpPr>
        <p:spPr>
          <a:xfrm>
            <a:off x="9802368" y="3849624"/>
            <a:ext cx="475488" cy="256032"/>
          </a:xfrm>
          <a:prstGeom prst="rect">
            <a:avLst/>
          </a:prstGeom>
          <a:noFill/>
          <a:ln/>
        </p:spPr>
        <p:txBody>
          <a:bodyPr wrap="square" lIns="0" tIns="0" rIns="0" bIns="0" rtlCol="0" anchor="ctr">
            <a:normAutofit/>
          </a:bodyPr>
          <a:lstStyle/>
          <a:p>
            <a:pPr algn="r" indent="0" marL="0">
              <a:buNone/>
            </a:pPr>
            <a:r>
              <a:rPr lang="en-US" sz="1200" b="1" dirty="0">
                <a:solidFill>
                  <a:srgbClr val="F5F8FC"/>
                </a:solidFill>
                <a:latin typeface="Aptos" pitchFamily="34" charset="0"/>
                <a:ea typeface="Aptos" pitchFamily="34" charset="-122"/>
                <a:cs typeface="Aptos" pitchFamily="34" charset="-120"/>
              </a:rPr>
              <a:t>3</a:t>
            </a:r>
            <a:endParaRPr lang="en-US" sz="1200" dirty="0"/>
          </a:p>
        </p:txBody>
      </p:sp>
      <p:sp>
        <p:nvSpPr>
          <p:cNvPr id="27" name="Text 25"/>
          <p:cNvSpPr/>
          <p:nvPr/>
        </p:nvSpPr>
        <p:spPr>
          <a:xfrm>
            <a:off x="621792" y="4398264"/>
            <a:ext cx="1947672" cy="256032"/>
          </a:xfrm>
          <a:prstGeom prst="rect">
            <a:avLst/>
          </a:prstGeom>
          <a:noFill/>
          <a:ln/>
        </p:spPr>
        <p:txBody>
          <a:bodyPr wrap="square" lIns="0" tIns="0" rIns="0" bIns="0" rtlCol="0" anchor="ctr">
            <a:normAutofit/>
          </a:bodyPr>
          <a:lstStyle/>
          <a:p>
            <a:pPr algn="l" indent="0" marL="0">
              <a:buNone/>
            </a:pPr>
            <a:r>
              <a:rPr lang="en-US" sz="1150" dirty="0">
                <a:solidFill>
                  <a:srgbClr val="DFE9F6"/>
                </a:solidFill>
                <a:latin typeface="Aptos" pitchFamily="34" charset="0"/>
                <a:ea typeface="Aptos" pitchFamily="34" charset="-122"/>
                <a:cs typeface="Aptos" pitchFamily="34" charset="-120"/>
              </a:rPr>
              <a:t>DFT</a:t>
            </a:r>
            <a:endParaRPr lang="en-US" sz="1150" dirty="0"/>
          </a:p>
        </p:txBody>
      </p:sp>
      <p:sp>
        <p:nvSpPr>
          <p:cNvPr id="28" name="Shape 26"/>
          <p:cNvSpPr/>
          <p:nvPr/>
        </p:nvSpPr>
        <p:spPr>
          <a:xfrm>
            <a:off x="2606040" y="4425696"/>
            <a:ext cx="7040880" cy="219456"/>
          </a:xfrm>
          <a:prstGeom prst="roundRect">
            <a:avLst>
              <a:gd name="adj" fmla="val 50000"/>
            </a:avLst>
          </a:prstGeom>
          <a:solidFill>
            <a:srgbClr val="0A1B2B"/>
          </a:solidFill>
          <a:ln w="12700">
            <a:solidFill>
              <a:srgbClr val="19334E"/>
            </a:solidFill>
            <a:prstDash val="solid"/>
          </a:ln>
        </p:spPr>
      </p:sp>
      <p:sp>
        <p:nvSpPr>
          <p:cNvPr id="29" name="Shape 27"/>
          <p:cNvSpPr/>
          <p:nvPr/>
        </p:nvSpPr>
        <p:spPr>
          <a:xfrm>
            <a:off x="2606040" y="4425696"/>
            <a:ext cx="1624818" cy="219456"/>
          </a:xfrm>
          <a:prstGeom prst="roundRect">
            <a:avLst>
              <a:gd name="adj" fmla="val 33333"/>
            </a:avLst>
          </a:prstGeom>
          <a:solidFill>
            <a:srgbClr val="70D6A7"/>
          </a:solidFill>
          <a:ln w="12700">
            <a:solidFill>
              <a:srgbClr val="70D6A7"/>
            </a:solidFill>
            <a:prstDash val="solid"/>
          </a:ln>
        </p:spPr>
      </p:sp>
      <p:sp>
        <p:nvSpPr>
          <p:cNvPr id="30" name="Text 28"/>
          <p:cNvSpPr/>
          <p:nvPr/>
        </p:nvSpPr>
        <p:spPr>
          <a:xfrm>
            <a:off x="9802368" y="4389120"/>
            <a:ext cx="475488" cy="256032"/>
          </a:xfrm>
          <a:prstGeom prst="rect">
            <a:avLst/>
          </a:prstGeom>
          <a:noFill/>
          <a:ln/>
        </p:spPr>
        <p:txBody>
          <a:bodyPr wrap="square" lIns="0" tIns="0" rIns="0" bIns="0" rtlCol="0" anchor="ctr">
            <a:normAutofit/>
          </a:bodyPr>
          <a:lstStyle/>
          <a:p>
            <a:pPr algn="r" indent="0" marL="0">
              <a:buNone/>
            </a:pPr>
            <a:r>
              <a:rPr lang="en-US" sz="1200" b="1" dirty="0">
                <a:solidFill>
                  <a:srgbClr val="F5F8FC"/>
                </a:solidFill>
                <a:latin typeface="Aptos" pitchFamily="34" charset="0"/>
                <a:ea typeface="Aptos" pitchFamily="34" charset="-122"/>
                <a:cs typeface="Aptos" pitchFamily="34" charset="-120"/>
              </a:rPr>
              <a:t>3</a:t>
            </a:r>
            <a:endParaRPr lang="en-US" sz="1200" dirty="0"/>
          </a:p>
        </p:txBody>
      </p:sp>
      <p:sp>
        <p:nvSpPr>
          <p:cNvPr id="31" name="Text 29"/>
          <p:cNvSpPr/>
          <p:nvPr/>
        </p:nvSpPr>
        <p:spPr>
          <a:xfrm>
            <a:off x="621792" y="4937760"/>
            <a:ext cx="1947672" cy="256032"/>
          </a:xfrm>
          <a:prstGeom prst="rect">
            <a:avLst/>
          </a:prstGeom>
          <a:noFill/>
          <a:ln/>
        </p:spPr>
        <p:txBody>
          <a:bodyPr wrap="square" lIns="0" tIns="0" rIns="0" bIns="0" rtlCol="0" anchor="ctr">
            <a:normAutofit/>
          </a:bodyPr>
          <a:lstStyle/>
          <a:p>
            <a:pPr algn="l" indent="0" marL="0">
              <a:buNone/>
            </a:pPr>
            <a:r>
              <a:rPr lang="en-US" sz="1150" dirty="0">
                <a:solidFill>
                  <a:srgbClr val="DFE9F6"/>
                </a:solidFill>
                <a:latin typeface="Aptos" pitchFamily="34" charset="0"/>
                <a:ea typeface="Aptos" pitchFamily="34" charset="-122"/>
                <a:cs typeface="Aptos" pitchFamily="34" charset="-120"/>
              </a:rPr>
              <a:t>STA</a:t>
            </a:r>
            <a:endParaRPr lang="en-US" sz="1150" dirty="0"/>
          </a:p>
        </p:txBody>
      </p:sp>
      <p:sp>
        <p:nvSpPr>
          <p:cNvPr id="32" name="Shape 30"/>
          <p:cNvSpPr/>
          <p:nvPr/>
        </p:nvSpPr>
        <p:spPr>
          <a:xfrm>
            <a:off x="2606040" y="4965192"/>
            <a:ext cx="7040880" cy="219456"/>
          </a:xfrm>
          <a:prstGeom prst="roundRect">
            <a:avLst>
              <a:gd name="adj" fmla="val 50000"/>
            </a:avLst>
          </a:prstGeom>
          <a:solidFill>
            <a:srgbClr val="0A1B2B"/>
          </a:solidFill>
          <a:ln w="12700">
            <a:solidFill>
              <a:srgbClr val="19334E"/>
            </a:solidFill>
            <a:prstDash val="solid"/>
          </a:ln>
        </p:spPr>
      </p:sp>
      <p:sp>
        <p:nvSpPr>
          <p:cNvPr id="33" name="Shape 31"/>
          <p:cNvSpPr/>
          <p:nvPr/>
        </p:nvSpPr>
        <p:spPr>
          <a:xfrm>
            <a:off x="2606040" y="4965192"/>
            <a:ext cx="1083212" cy="219456"/>
          </a:xfrm>
          <a:prstGeom prst="roundRect">
            <a:avLst>
              <a:gd name="adj" fmla="val 33333"/>
            </a:avLst>
          </a:prstGeom>
          <a:solidFill>
            <a:srgbClr val="6AA7FF"/>
          </a:solidFill>
          <a:ln w="12700">
            <a:solidFill>
              <a:srgbClr val="6AA7FF"/>
            </a:solidFill>
            <a:prstDash val="solid"/>
          </a:ln>
        </p:spPr>
      </p:sp>
      <p:sp>
        <p:nvSpPr>
          <p:cNvPr id="34" name="Text 32"/>
          <p:cNvSpPr/>
          <p:nvPr/>
        </p:nvSpPr>
        <p:spPr>
          <a:xfrm>
            <a:off x="9802368" y="4928616"/>
            <a:ext cx="475488" cy="256032"/>
          </a:xfrm>
          <a:prstGeom prst="rect">
            <a:avLst/>
          </a:prstGeom>
          <a:noFill/>
          <a:ln/>
        </p:spPr>
        <p:txBody>
          <a:bodyPr wrap="square" lIns="0" tIns="0" rIns="0" bIns="0" rtlCol="0" anchor="ctr">
            <a:normAutofit/>
          </a:bodyPr>
          <a:lstStyle/>
          <a:p>
            <a:pPr algn="r" indent="0" marL="0">
              <a:buNone/>
            </a:pPr>
            <a:r>
              <a:rPr lang="en-US" sz="1200" b="1" dirty="0">
                <a:solidFill>
                  <a:srgbClr val="F5F8FC"/>
                </a:solidFill>
                <a:latin typeface="Aptos" pitchFamily="34" charset="0"/>
                <a:ea typeface="Aptos" pitchFamily="34" charset="-122"/>
                <a:cs typeface="Aptos" pitchFamily="34" charset="-120"/>
              </a:rPr>
              <a:t>2</a:t>
            </a:r>
            <a:endParaRPr lang="en-US" sz="1200" dirty="0"/>
          </a:p>
        </p:txBody>
      </p:sp>
      <p:sp>
        <p:nvSpPr>
          <p:cNvPr id="35" name="Shape 33"/>
          <p:cNvSpPr/>
          <p:nvPr/>
        </p:nvSpPr>
        <p:spPr>
          <a:xfrm>
            <a:off x="10479024" y="1600200"/>
            <a:ext cx="1051560" cy="3931920"/>
          </a:xfrm>
          <a:prstGeom prst="roundRect">
            <a:avLst>
              <a:gd name="adj" fmla="val 10435"/>
            </a:avLst>
          </a:prstGeom>
          <a:solidFill>
            <a:srgbClr val="10263D"/>
          </a:solidFill>
          <a:ln w="12700">
            <a:solidFill>
              <a:srgbClr val="26415D"/>
            </a:solidFill>
            <a:prstDash val="solid"/>
          </a:ln>
        </p:spPr>
      </p:sp>
      <p:sp>
        <p:nvSpPr>
          <p:cNvPr id="36" name="Text 34"/>
          <p:cNvSpPr/>
          <p:nvPr/>
        </p:nvSpPr>
        <p:spPr>
          <a:xfrm>
            <a:off x="10607040" y="1938528"/>
            <a:ext cx="786384" cy="457200"/>
          </a:xfrm>
          <a:prstGeom prst="rect">
            <a:avLst/>
          </a:prstGeom>
          <a:noFill/>
          <a:ln/>
        </p:spPr>
        <p:txBody>
          <a:bodyPr wrap="square" lIns="0" tIns="0" rIns="0" bIns="0" rtlCol="0" anchor="ctr">
            <a:normAutofit/>
          </a:bodyPr>
          <a:lstStyle/>
          <a:p>
            <a:pPr algn="ctr" indent="0" marL="0">
              <a:buNone/>
            </a:pPr>
            <a:r>
              <a:rPr lang="en-US" sz="1220" b="1" dirty="0">
                <a:solidFill>
                  <a:srgbClr val="4FD1C5"/>
                </a:solidFill>
                <a:latin typeface="Aptos" pitchFamily="34" charset="0"/>
                <a:ea typeface="Aptos" pitchFamily="34" charset="-122"/>
                <a:cs typeface="Aptos" pitchFamily="34" charset="-120"/>
              </a:rPr>
              <a:t>Key</a:t>
            </a:r>
            <a:endParaRPr lang="en-US" sz="1220" dirty="0"/>
          </a:p>
          <a:p>
            <a:pPr algn="ctr" indent="0" marL="0">
              <a:buNone/>
            </a:pPr>
            <a:r>
              <a:rPr lang="en-US" sz="1220" b="1" dirty="0">
                <a:solidFill>
                  <a:srgbClr val="4FD1C5"/>
                </a:solidFill>
                <a:latin typeface="Aptos" pitchFamily="34" charset="0"/>
                <a:ea typeface="Aptos" pitchFamily="34" charset="-122"/>
                <a:cs typeface="Aptos" pitchFamily="34" charset="-120"/>
              </a:rPr>
              <a:t>message</a:t>
            </a:r>
            <a:endParaRPr lang="en-US" sz="1220" dirty="0"/>
          </a:p>
        </p:txBody>
      </p:sp>
      <p:sp>
        <p:nvSpPr>
          <p:cNvPr id="37" name="Text 35"/>
          <p:cNvSpPr/>
          <p:nvPr/>
        </p:nvSpPr>
        <p:spPr>
          <a:xfrm>
            <a:off x="10570464" y="2697480"/>
            <a:ext cx="877824" cy="1554480"/>
          </a:xfrm>
          <a:prstGeom prst="rect">
            <a:avLst/>
          </a:prstGeom>
          <a:noFill/>
          <a:ln/>
        </p:spPr>
        <p:txBody>
          <a:bodyPr wrap="square" lIns="0" tIns="0" rIns="0" bIns="0" rtlCol="0" anchor="ctr">
            <a:normAutofit/>
          </a:bodyPr>
          <a:lstStyle/>
          <a:p>
            <a:pPr algn="ctr" indent="0" marL="0">
              <a:buNone/>
            </a:pPr>
            <a:r>
              <a:rPr lang="en-US" sz="1370" b="1" dirty="0">
                <a:solidFill>
                  <a:srgbClr val="F5F8FC"/>
                </a:solidFill>
                <a:latin typeface="Aptos" pitchFamily="34" charset="0"/>
                <a:ea typeface="Aptos" pitchFamily="34" charset="-122"/>
                <a:cs typeface="Aptos" pitchFamily="34" charset="-120"/>
              </a:rPr>
              <a:t>Demand spans front-end, back-end and analog tracks.</a:t>
            </a:r>
            <a:endParaRPr lang="en-US" sz="1370" dirty="0"/>
          </a:p>
        </p:txBody>
      </p:sp>
      <p:sp>
        <p:nvSpPr>
          <p:cNvPr id="38" name="Text 36"/>
          <p:cNvSpPr/>
          <p:nvPr/>
        </p:nvSpPr>
        <p:spPr>
          <a:xfrm>
            <a:off x="10570464" y="4443984"/>
            <a:ext cx="877824" cy="822960"/>
          </a:xfrm>
          <a:prstGeom prst="rect">
            <a:avLst/>
          </a:prstGeom>
          <a:noFill/>
          <a:ln/>
        </p:spPr>
        <p:txBody>
          <a:bodyPr wrap="square" lIns="0" tIns="0" rIns="0" bIns="0" rtlCol="0" anchor="ctr">
            <a:normAutofit/>
          </a:bodyPr>
          <a:lstStyle/>
          <a:p>
            <a:pPr algn="ctr" indent="0" marL="0">
              <a:buNone/>
            </a:pPr>
            <a:r>
              <a:rPr lang="en-US" sz="930" dirty="0">
                <a:solidFill>
                  <a:srgbClr val="B7C4D6"/>
                </a:solidFill>
                <a:latin typeface="Aptos" pitchFamily="34" charset="0"/>
                <a:ea typeface="Aptos" pitchFamily="34" charset="-122"/>
                <a:cs typeface="Aptos" pitchFamily="34" charset="-120"/>
              </a:rPr>
              <a:t>Do not treat one snapshot as a permanent ranking of careers.</a:t>
            </a:r>
            <a:endParaRPr lang="en-US" sz="930" dirty="0"/>
          </a:p>
        </p:txBody>
      </p:sp>
      <p:sp>
        <p:nvSpPr>
          <p:cNvPr id="39" name="Text 37"/>
          <p:cNvSpPr/>
          <p:nvPr/>
        </p:nvSpPr>
        <p:spPr>
          <a:xfrm>
            <a:off x="576072" y="6236208"/>
            <a:ext cx="10835640" cy="164592"/>
          </a:xfrm>
          <a:prstGeom prst="rect">
            <a:avLst/>
          </a:prstGeom>
          <a:noFill/>
          <a:ln/>
        </p:spPr>
        <p:txBody>
          <a:bodyPr wrap="square" lIns="0" tIns="0" rIns="0" bIns="0" rtlCol="0" anchor="ctr">
            <a:normAutofit/>
          </a:bodyPr>
          <a:lstStyle/>
          <a:p>
            <a:pPr algn="l" indent="0" marL="0">
              <a:buNone/>
            </a:pPr>
            <a:r>
              <a:rPr lang="en-US" sz="730" dirty="0">
                <a:solidFill>
                  <a:srgbClr val="6F829A"/>
                </a:solidFill>
                <a:latin typeface="Aptos" pitchFamily="34" charset="0"/>
                <a:ea typeface="Aptos" pitchFamily="34" charset="-122"/>
                <a:cs typeface="Aptos" pitchFamily="34" charset="-120"/>
              </a:rPr>
              <a:t>Selected counts: Digital 13, Analog 13, Physical 10, Analog Layout 6, DV 3, DFT 3, STA 2. Other functions complete the 66-role snapshot.</a:t>
            </a:r>
            <a:endParaRPr lang="en-US" sz="730" dirty="0"/>
          </a:p>
        </p:txBody>
      </p:sp>
      <p:sp>
        <p:nvSpPr>
          <p:cNvPr id="25" name="Slide Number Placeholder 0"/>
          <p:cNvSpPr>
            <a:spLocks noGrp="1"/>
          </p:cNvSpPr>
          <p:nvPr>
            <p:ph type="sldNum" sz="quarter" idx="4294967295"/>
          </p:nvPr>
        </p:nvSpPr>
        <p:spPr>
          <a:xfrm>
            <a:off x="11201400" y="650138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F829A"/>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47472"/>
            <a:ext cx="5303520" cy="201168"/>
          </a:xfrm>
          <a:prstGeom prst="rect">
            <a:avLst/>
          </a:prstGeom>
          <a:noFill/>
          <a:ln/>
        </p:spPr>
        <p:txBody>
          <a:bodyPr wrap="square" lIns="0" tIns="0" rIns="0" bIns="0" rtlCol="0" anchor="ctr">
            <a:normAutofit/>
          </a:bodyPr>
          <a:lstStyle/>
          <a:p>
            <a:pPr algn="l" indent="0" marL="0">
              <a:buNone/>
            </a:pPr>
            <a:r>
              <a:rPr lang="en-US" sz="930" b="1" spc="140" kern="0" dirty="0">
                <a:solidFill>
                  <a:srgbClr val="4FD1C5"/>
                </a:solidFill>
                <a:latin typeface="Aptos" pitchFamily="34" charset="0"/>
                <a:ea typeface="Aptos" pitchFamily="34" charset="-122"/>
                <a:cs typeface="Aptos" pitchFamily="34" charset="-120"/>
              </a:rPr>
              <a:t>HOW STUDENTS CAN PREPARE</a:t>
            </a:r>
            <a:endParaRPr lang="en-US" sz="930" dirty="0"/>
          </a:p>
        </p:txBody>
      </p:sp>
      <p:sp>
        <p:nvSpPr>
          <p:cNvPr id="3" name="Text 1"/>
          <p:cNvSpPr/>
          <p:nvPr/>
        </p:nvSpPr>
        <p:spPr>
          <a:xfrm>
            <a:off x="566928" y="566928"/>
            <a:ext cx="10881360" cy="530352"/>
          </a:xfrm>
          <a:prstGeom prst="rect">
            <a:avLst/>
          </a:prstGeom>
          <a:noFill/>
          <a:ln/>
        </p:spPr>
        <p:txBody>
          <a:bodyPr wrap="square" lIns="0" tIns="0" rIns="0" bIns="0" rtlCol="0" anchor="ctr">
            <a:normAutofit/>
          </a:bodyPr>
          <a:lstStyle/>
          <a:p>
            <a:pPr algn="l" indent="0" marL="0">
              <a:buNone/>
            </a:pPr>
            <a:r>
              <a:rPr lang="en-US" sz="2750" b="1" dirty="0">
                <a:solidFill>
                  <a:srgbClr val="F5F8FC"/>
                </a:solidFill>
                <a:latin typeface="Aptos Display" pitchFamily="34" charset="0"/>
                <a:ea typeface="Aptos Display" pitchFamily="34" charset="-122"/>
                <a:cs typeface="Aptos Display" pitchFamily="34" charset="-120"/>
              </a:rPr>
              <a:t>Compensation, Benefits &amp; Student Roadmap</a:t>
            </a:r>
            <a:endParaRPr lang="en-US" sz="2750" dirty="0"/>
          </a:p>
        </p:txBody>
      </p:sp>
      <p:sp>
        <p:nvSpPr>
          <p:cNvPr id="4" name="Shape 2"/>
          <p:cNvSpPr/>
          <p:nvPr/>
        </p:nvSpPr>
        <p:spPr>
          <a:xfrm>
            <a:off x="9555480" y="338328"/>
            <a:ext cx="2057400" cy="310896"/>
          </a:xfrm>
          <a:prstGeom prst="roundRect">
            <a:avLst>
              <a:gd name="adj" fmla="val 35294"/>
            </a:avLst>
          </a:prstGeom>
          <a:solidFill>
            <a:srgbClr val="10263D"/>
          </a:solidFill>
          <a:ln w="12700">
            <a:solidFill>
              <a:srgbClr val="26415D"/>
            </a:solidFill>
            <a:prstDash val="solid"/>
          </a:ln>
        </p:spPr>
      </p:sp>
      <p:sp>
        <p:nvSpPr>
          <p:cNvPr id="5" name="Text 3"/>
          <p:cNvSpPr/>
          <p:nvPr/>
        </p:nvSpPr>
        <p:spPr>
          <a:xfrm>
            <a:off x="9646920" y="370332"/>
            <a:ext cx="1874520" cy="210312"/>
          </a:xfrm>
          <a:prstGeom prst="rect">
            <a:avLst/>
          </a:prstGeom>
          <a:noFill/>
          <a:ln/>
        </p:spPr>
        <p:txBody>
          <a:bodyPr wrap="square" lIns="0" tIns="0" rIns="0" bIns="0" rtlCol="0" anchor="ctr">
            <a:normAutofit/>
          </a:bodyPr>
          <a:lstStyle/>
          <a:p>
            <a:pPr algn="ctr" indent="0" marL="0">
              <a:buNone/>
            </a:pPr>
            <a:r>
              <a:rPr lang="en-US" sz="840" b="1" dirty="0">
                <a:solidFill>
                  <a:srgbClr val="D9E8F6"/>
                </a:solidFill>
                <a:latin typeface="Aptos" pitchFamily="34" charset="0"/>
                <a:ea typeface="Aptos" pitchFamily="34" charset="-122"/>
                <a:cs typeface="Aptos" pitchFamily="34" charset="-120"/>
              </a:rPr>
              <a:t>PHẠM TRIỆU KHANG DUY</a:t>
            </a:r>
            <a:endParaRPr lang="en-US" sz="840" dirty="0"/>
          </a:p>
        </p:txBody>
      </p:sp>
      <p:sp>
        <p:nvSpPr>
          <p:cNvPr id="6" name="Shape 4"/>
          <p:cNvSpPr/>
          <p:nvPr/>
        </p:nvSpPr>
        <p:spPr>
          <a:xfrm>
            <a:off x="585216" y="1344168"/>
            <a:ext cx="4828032" cy="4526280"/>
          </a:xfrm>
          <a:prstGeom prst="roundRect">
            <a:avLst>
              <a:gd name="adj" fmla="val 2424"/>
            </a:avLst>
          </a:prstGeom>
          <a:solidFill>
            <a:srgbClr val="0D1B2C"/>
          </a:solidFill>
          <a:ln w="12700">
            <a:solidFill>
              <a:srgbClr val="26415D"/>
            </a:solidFill>
            <a:prstDash val="solid"/>
          </a:ln>
        </p:spPr>
      </p:sp>
      <p:sp>
        <p:nvSpPr>
          <p:cNvPr id="7" name="Text 5"/>
          <p:cNvSpPr/>
          <p:nvPr/>
        </p:nvSpPr>
        <p:spPr>
          <a:xfrm>
            <a:off x="859536" y="1664208"/>
            <a:ext cx="3931920" cy="329184"/>
          </a:xfrm>
          <a:prstGeom prst="rect">
            <a:avLst/>
          </a:prstGeom>
          <a:noFill/>
          <a:ln/>
        </p:spPr>
        <p:txBody>
          <a:bodyPr wrap="square" lIns="0" tIns="0" rIns="0" bIns="0" rtlCol="0" anchor="ctr">
            <a:normAutofit/>
          </a:bodyPr>
          <a:lstStyle/>
          <a:p>
            <a:pPr algn="l" indent="0" marL="0">
              <a:buNone/>
            </a:pPr>
            <a:r>
              <a:rPr lang="en-US" sz="2000" b="1" dirty="0">
                <a:solidFill>
                  <a:srgbClr val="F5F8FC"/>
                </a:solidFill>
                <a:latin typeface="Aptos Display" pitchFamily="34" charset="0"/>
                <a:ea typeface="Aptos Display" pitchFamily="34" charset="-122"/>
                <a:cs typeface="Aptos Display" pitchFamily="34" charset="-120"/>
              </a:rPr>
              <a:t>Compensation &amp; benefits</a:t>
            </a:r>
            <a:endParaRPr lang="en-US" sz="2000" dirty="0"/>
          </a:p>
        </p:txBody>
      </p:sp>
      <p:sp>
        <p:nvSpPr>
          <p:cNvPr id="8" name="Shape 6"/>
          <p:cNvSpPr/>
          <p:nvPr/>
        </p:nvSpPr>
        <p:spPr>
          <a:xfrm>
            <a:off x="859536" y="2651760"/>
            <a:ext cx="4187952" cy="0"/>
          </a:xfrm>
          <a:prstGeom prst="line">
            <a:avLst/>
          </a:prstGeom>
          <a:noFill/>
          <a:ln w="12700">
            <a:solidFill>
              <a:srgbClr val="26415D"/>
            </a:solidFill>
            <a:prstDash val="solid"/>
            <a:headEnd type="none"/>
            <a:tailEnd type="none"/>
          </a:ln>
        </p:spPr>
      </p:sp>
      <p:sp>
        <p:nvSpPr>
          <p:cNvPr id="9" name="Text 7"/>
          <p:cNvSpPr/>
          <p:nvPr/>
        </p:nvSpPr>
        <p:spPr>
          <a:xfrm>
            <a:off x="859536" y="2212848"/>
            <a:ext cx="2148840" cy="265176"/>
          </a:xfrm>
          <a:prstGeom prst="rect">
            <a:avLst/>
          </a:prstGeom>
          <a:noFill/>
          <a:ln/>
        </p:spPr>
        <p:txBody>
          <a:bodyPr wrap="square" lIns="0" tIns="0" rIns="0" bIns="0" rtlCol="0" anchor="ctr">
            <a:normAutofit/>
          </a:bodyPr>
          <a:lstStyle/>
          <a:p>
            <a:pPr algn="l" indent="0" marL="0">
              <a:buNone/>
            </a:pPr>
            <a:r>
              <a:rPr lang="en-US" sz="1160" dirty="0">
                <a:solidFill>
                  <a:srgbClr val="B7C4D6"/>
                </a:solidFill>
                <a:latin typeface="Aptos" pitchFamily="34" charset="0"/>
                <a:ea typeface="Aptos" pitchFamily="34" charset="-122"/>
                <a:cs typeface="Aptos" pitchFamily="34" charset="-120"/>
              </a:rPr>
              <a:t>Internship allowance</a:t>
            </a:r>
            <a:endParaRPr lang="en-US" sz="1160" dirty="0"/>
          </a:p>
        </p:txBody>
      </p:sp>
      <p:sp>
        <p:nvSpPr>
          <p:cNvPr id="10" name="Text 8"/>
          <p:cNvSpPr/>
          <p:nvPr/>
        </p:nvSpPr>
        <p:spPr>
          <a:xfrm>
            <a:off x="2880360" y="2212848"/>
            <a:ext cx="2103120" cy="265176"/>
          </a:xfrm>
          <a:prstGeom prst="rect">
            <a:avLst/>
          </a:prstGeom>
          <a:noFill/>
          <a:ln/>
        </p:spPr>
        <p:txBody>
          <a:bodyPr wrap="square" lIns="0" tIns="0" rIns="0" bIns="0" rtlCol="0" anchor="ctr">
            <a:normAutofit/>
          </a:bodyPr>
          <a:lstStyle/>
          <a:p>
            <a:pPr algn="r" indent="0" marL="0">
              <a:buNone/>
            </a:pPr>
            <a:r>
              <a:rPr lang="en-US" sz="1150" b="1" dirty="0">
                <a:solidFill>
                  <a:srgbClr val="F5F8FC"/>
                </a:solidFill>
                <a:latin typeface="Aptos" pitchFamily="34" charset="0"/>
                <a:ea typeface="Aptos" pitchFamily="34" charset="-122"/>
                <a:cs typeface="Aptos" pitchFamily="34" charset="-120"/>
              </a:rPr>
              <a:t>Competitive monthly support</a:t>
            </a:r>
            <a:endParaRPr lang="en-US" sz="1150" dirty="0"/>
          </a:p>
        </p:txBody>
      </p:sp>
      <p:sp>
        <p:nvSpPr>
          <p:cNvPr id="11" name="Shape 9"/>
          <p:cNvSpPr/>
          <p:nvPr/>
        </p:nvSpPr>
        <p:spPr>
          <a:xfrm>
            <a:off x="859536" y="3218688"/>
            <a:ext cx="4187952" cy="0"/>
          </a:xfrm>
          <a:prstGeom prst="line">
            <a:avLst/>
          </a:prstGeom>
          <a:noFill/>
          <a:ln w="12700">
            <a:solidFill>
              <a:srgbClr val="26415D"/>
            </a:solidFill>
            <a:prstDash val="solid"/>
            <a:headEnd type="none"/>
            <a:tailEnd type="none"/>
          </a:ln>
        </p:spPr>
      </p:sp>
      <p:sp>
        <p:nvSpPr>
          <p:cNvPr id="12" name="Text 10"/>
          <p:cNvSpPr/>
          <p:nvPr/>
        </p:nvSpPr>
        <p:spPr>
          <a:xfrm>
            <a:off x="859536" y="2779776"/>
            <a:ext cx="2148840" cy="265176"/>
          </a:xfrm>
          <a:prstGeom prst="rect">
            <a:avLst/>
          </a:prstGeom>
          <a:noFill/>
          <a:ln/>
        </p:spPr>
        <p:txBody>
          <a:bodyPr wrap="square" lIns="0" tIns="0" rIns="0" bIns="0" rtlCol="0" anchor="ctr">
            <a:normAutofit/>
          </a:bodyPr>
          <a:lstStyle/>
          <a:p>
            <a:pPr algn="l" indent="0" marL="0">
              <a:buNone/>
            </a:pPr>
            <a:r>
              <a:rPr lang="en-US" sz="1160" dirty="0">
                <a:solidFill>
                  <a:srgbClr val="B7C4D6"/>
                </a:solidFill>
                <a:latin typeface="Aptos" pitchFamily="34" charset="0"/>
                <a:ea typeface="Aptos" pitchFamily="34" charset="-122"/>
                <a:cs typeface="Aptos" pitchFamily="34" charset="-120"/>
              </a:rPr>
              <a:t>13th-month salary</a:t>
            </a:r>
            <a:endParaRPr lang="en-US" sz="1160" dirty="0"/>
          </a:p>
        </p:txBody>
      </p:sp>
      <p:sp>
        <p:nvSpPr>
          <p:cNvPr id="13" name="Text 11"/>
          <p:cNvSpPr/>
          <p:nvPr/>
        </p:nvSpPr>
        <p:spPr>
          <a:xfrm>
            <a:off x="2880360" y="2779776"/>
            <a:ext cx="2103120" cy="265176"/>
          </a:xfrm>
          <a:prstGeom prst="rect">
            <a:avLst/>
          </a:prstGeom>
          <a:noFill/>
          <a:ln/>
        </p:spPr>
        <p:txBody>
          <a:bodyPr wrap="square" lIns="0" tIns="0" rIns="0" bIns="0" rtlCol="0" anchor="ctr">
            <a:normAutofit/>
          </a:bodyPr>
          <a:lstStyle/>
          <a:p>
            <a:pPr algn="r" indent="0" marL="0">
              <a:buNone/>
            </a:pPr>
            <a:r>
              <a:rPr lang="en-US" sz="1150" b="1" dirty="0">
                <a:solidFill>
                  <a:srgbClr val="F5F8FC"/>
                </a:solidFill>
                <a:latin typeface="Aptos" pitchFamily="34" charset="0"/>
                <a:ea typeface="Aptos" pitchFamily="34" charset="-122"/>
                <a:cs typeface="Aptos" pitchFamily="34" charset="-120"/>
              </a:rPr>
              <a:t>For full-time employees</a:t>
            </a:r>
            <a:endParaRPr lang="en-US" sz="1150" dirty="0"/>
          </a:p>
        </p:txBody>
      </p:sp>
      <p:sp>
        <p:nvSpPr>
          <p:cNvPr id="14" name="Shape 12"/>
          <p:cNvSpPr/>
          <p:nvPr/>
        </p:nvSpPr>
        <p:spPr>
          <a:xfrm>
            <a:off x="859536" y="3785616"/>
            <a:ext cx="4187952" cy="0"/>
          </a:xfrm>
          <a:prstGeom prst="line">
            <a:avLst/>
          </a:prstGeom>
          <a:noFill/>
          <a:ln w="12700">
            <a:solidFill>
              <a:srgbClr val="26415D"/>
            </a:solidFill>
            <a:prstDash val="solid"/>
            <a:headEnd type="none"/>
            <a:tailEnd type="none"/>
          </a:ln>
        </p:spPr>
      </p:sp>
      <p:sp>
        <p:nvSpPr>
          <p:cNvPr id="15" name="Text 13"/>
          <p:cNvSpPr/>
          <p:nvPr/>
        </p:nvSpPr>
        <p:spPr>
          <a:xfrm>
            <a:off x="859536" y="3346704"/>
            <a:ext cx="2148840" cy="265176"/>
          </a:xfrm>
          <a:prstGeom prst="rect">
            <a:avLst/>
          </a:prstGeom>
          <a:noFill/>
          <a:ln/>
        </p:spPr>
        <p:txBody>
          <a:bodyPr wrap="square" lIns="0" tIns="0" rIns="0" bIns="0" rtlCol="0" anchor="ctr">
            <a:normAutofit/>
          </a:bodyPr>
          <a:lstStyle/>
          <a:p>
            <a:pPr algn="l" indent="0" marL="0">
              <a:buNone/>
            </a:pPr>
            <a:r>
              <a:rPr lang="en-US" sz="1160" dirty="0">
                <a:solidFill>
                  <a:srgbClr val="B7C4D6"/>
                </a:solidFill>
                <a:latin typeface="Aptos" pitchFamily="34" charset="0"/>
                <a:ea typeface="Aptos" pitchFamily="34" charset="-122"/>
                <a:cs typeface="Aptos" pitchFamily="34" charset="-120"/>
              </a:rPr>
              <a:t>Performance bonus</a:t>
            </a:r>
            <a:endParaRPr lang="en-US" sz="1160" dirty="0"/>
          </a:p>
        </p:txBody>
      </p:sp>
      <p:sp>
        <p:nvSpPr>
          <p:cNvPr id="16" name="Text 14"/>
          <p:cNvSpPr/>
          <p:nvPr/>
        </p:nvSpPr>
        <p:spPr>
          <a:xfrm>
            <a:off x="2880360" y="3346704"/>
            <a:ext cx="2103120" cy="265176"/>
          </a:xfrm>
          <a:prstGeom prst="rect">
            <a:avLst/>
          </a:prstGeom>
          <a:noFill/>
          <a:ln/>
        </p:spPr>
        <p:txBody>
          <a:bodyPr wrap="square" lIns="0" tIns="0" rIns="0" bIns="0" rtlCol="0" anchor="ctr">
            <a:normAutofit/>
          </a:bodyPr>
          <a:lstStyle/>
          <a:p>
            <a:pPr algn="r" indent="0" marL="0">
              <a:buNone/>
            </a:pPr>
            <a:r>
              <a:rPr lang="en-US" sz="1150" b="1" dirty="0">
                <a:solidFill>
                  <a:srgbClr val="F5F8FC"/>
                </a:solidFill>
                <a:latin typeface="Aptos" pitchFamily="34" charset="0"/>
                <a:ea typeface="Aptos" pitchFamily="34" charset="-122"/>
                <a:cs typeface="Aptos" pitchFamily="34" charset="-120"/>
              </a:rPr>
              <a:t>Variable by role / performance</a:t>
            </a:r>
            <a:endParaRPr lang="en-US" sz="1150" dirty="0"/>
          </a:p>
        </p:txBody>
      </p:sp>
      <p:sp>
        <p:nvSpPr>
          <p:cNvPr id="17" name="Shape 15"/>
          <p:cNvSpPr/>
          <p:nvPr/>
        </p:nvSpPr>
        <p:spPr>
          <a:xfrm>
            <a:off x="859536" y="4352544"/>
            <a:ext cx="4187952" cy="0"/>
          </a:xfrm>
          <a:prstGeom prst="line">
            <a:avLst/>
          </a:prstGeom>
          <a:noFill/>
          <a:ln w="12700">
            <a:solidFill>
              <a:srgbClr val="26415D"/>
            </a:solidFill>
            <a:prstDash val="solid"/>
            <a:headEnd type="none"/>
            <a:tailEnd type="none"/>
          </a:ln>
        </p:spPr>
      </p:sp>
      <p:sp>
        <p:nvSpPr>
          <p:cNvPr id="18" name="Text 16"/>
          <p:cNvSpPr/>
          <p:nvPr/>
        </p:nvSpPr>
        <p:spPr>
          <a:xfrm>
            <a:off x="859536" y="3913632"/>
            <a:ext cx="2148840" cy="265176"/>
          </a:xfrm>
          <a:prstGeom prst="rect">
            <a:avLst/>
          </a:prstGeom>
          <a:noFill/>
          <a:ln/>
        </p:spPr>
        <p:txBody>
          <a:bodyPr wrap="square" lIns="0" tIns="0" rIns="0" bIns="0" rtlCol="0" anchor="ctr">
            <a:normAutofit/>
          </a:bodyPr>
          <a:lstStyle/>
          <a:p>
            <a:pPr algn="l" indent="0" marL="0">
              <a:buNone/>
            </a:pPr>
            <a:r>
              <a:rPr lang="en-US" sz="1160" dirty="0">
                <a:solidFill>
                  <a:srgbClr val="B7C4D6"/>
                </a:solidFill>
                <a:latin typeface="Aptos" pitchFamily="34" charset="0"/>
                <a:ea typeface="Aptos" pitchFamily="34" charset="-122"/>
                <a:cs typeface="Aptos" pitchFamily="34" charset="-120"/>
              </a:rPr>
              <a:t>RSU</a:t>
            </a:r>
            <a:endParaRPr lang="en-US" sz="1160" dirty="0"/>
          </a:p>
        </p:txBody>
      </p:sp>
      <p:sp>
        <p:nvSpPr>
          <p:cNvPr id="19" name="Text 17"/>
          <p:cNvSpPr/>
          <p:nvPr/>
        </p:nvSpPr>
        <p:spPr>
          <a:xfrm>
            <a:off x="2880360" y="3913632"/>
            <a:ext cx="2103120" cy="265176"/>
          </a:xfrm>
          <a:prstGeom prst="rect">
            <a:avLst/>
          </a:prstGeom>
          <a:noFill/>
          <a:ln/>
        </p:spPr>
        <p:txBody>
          <a:bodyPr wrap="square" lIns="0" tIns="0" rIns="0" bIns="0" rtlCol="0" anchor="ctr">
            <a:normAutofit/>
          </a:bodyPr>
          <a:lstStyle/>
          <a:p>
            <a:pPr algn="r" indent="0" marL="0">
              <a:buNone/>
            </a:pPr>
            <a:r>
              <a:rPr lang="en-US" sz="1150" b="1" dirty="0">
                <a:solidFill>
                  <a:srgbClr val="F5F8FC"/>
                </a:solidFill>
                <a:latin typeface="Aptos" pitchFamily="34" charset="0"/>
                <a:ea typeface="Aptos" pitchFamily="34" charset="-122"/>
                <a:cs typeface="Aptos" pitchFamily="34" charset="-120"/>
              </a:rPr>
              <a:t>Restricted Stock Units</a:t>
            </a:r>
            <a:endParaRPr lang="en-US" sz="1150" dirty="0"/>
          </a:p>
        </p:txBody>
      </p:sp>
      <p:sp>
        <p:nvSpPr>
          <p:cNvPr id="20" name="Shape 18"/>
          <p:cNvSpPr/>
          <p:nvPr/>
        </p:nvSpPr>
        <p:spPr>
          <a:xfrm>
            <a:off x="859536" y="4919472"/>
            <a:ext cx="4187952" cy="0"/>
          </a:xfrm>
          <a:prstGeom prst="line">
            <a:avLst/>
          </a:prstGeom>
          <a:noFill/>
          <a:ln w="12700">
            <a:solidFill>
              <a:srgbClr val="26415D"/>
            </a:solidFill>
            <a:prstDash val="solid"/>
            <a:headEnd type="none"/>
            <a:tailEnd type="none"/>
          </a:ln>
        </p:spPr>
      </p:sp>
      <p:sp>
        <p:nvSpPr>
          <p:cNvPr id="21" name="Text 19"/>
          <p:cNvSpPr/>
          <p:nvPr/>
        </p:nvSpPr>
        <p:spPr>
          <a:xfrm>
            <a:off x="859536" y="4480560"/>
            <a:ext cx="2148840" cy="265176"/>
          </a:xfrm>
          <a:prstGeom prst="rect">
            <a:avLst/>
          </a:prstGeom>
          <a:noFill/>
          <a:ln/>
        </p:spPr>
        <p:txBody>
          <a:bodyPr wrap="square" lIns="0" tIns="0" rIns="0" bIns="0" rtlCol="0" anchor="ctr">
            <a:normAutofit/>
          </a:bodyPr>
          <a:lstStyle/>
          <a:p>
            <a:pPr algn="l" indent="0" marL="0">
              <a:buNone/>
            </a:pPr>
            <a:r>
              <a:rPr lang="en-US" sz="1160" dirty="0">
                <a:solidFill>
                  <a:srgbClr val="B7C4D6"/>
                </a:solidFill>
                <a:latin typeface="Aptos" pitchFamily="34" charset="0"/>
                <a:ea typeface="Aptos" pitchFamily="34" charset="-122"/>
                <a:cs typeface="Aptos" pitchFamily="34" charset="-120"/>
              </a:rPr>
              <a:t>Health insurance</a:t>
            </a:r>
            <a:endParaRPr lang="en-US" sz="1160" dirty="0"/>
          </a:p>
        </p:txBody>
      </p:sp>
      <p:sp>
        <p:nvSpPr>
          <p:cNvPr id="22" name="Text 20"/>
          <p:cNvSpPr/>
          <p:nvPr/>
        </p:nvSpPr>
        <p:spPr>
          <a:xfrm>
            <a:off x="2880360" y="4480560"/>
            <a:ext cx="2103120" cy="265176"/>
          </a:xfrm>
          <a:prstGeom prst="rect">
            <a:avLst/>
          </a:prstGeom>
          <a:noFill/>
          <a:ln/>
        </p:spPr>
        <p:txBody>
          <a:bodyPr wrap="square" lIns="0" tIns="0" rIns="0" bIns="0" rtlCol="0" anchor="ctr">
            <a:normAutofit/>
          </a:bodyPr>
          <a:lstStyle/>
          <a:p>
            <a:pPr algn="r" indent="0" marL="0">
              <a:buNone/>
            </a:pPr>
            <a:r>
              <a:rPr lang="en-US" sz="1150" b="1" dirty="0">
                <a:solidFill>
                  <a:srgbClr val="F5F8FC"/>
                </a:solidFill>
                <a:latin typeface="Aptos" pitchFamily="34" charset="0"/>
                <a:ea typeface="Aptos" pitchFamily="34" charset="-122"/>
                <a:cs typeface="Aptos" pitchFamily="34" charset="-120"/>
              </a:rPr>
              <a:t>Employee benefit package</a:t>
            </a:r>
            <a:endParaRPr lang="en-US" sz="1150" dirty="0"/>
          </a:p>
        </p:txBody>
      </p:sp>
      <p:sp>
        <p:nvSpPr>
          <p:cNvPr id="23" name="Text 21"/>
          <p:cNvSpPr/>
          <p:nvPr/>
        </p:nvSpPr>
        <p:spPr>
          <a:xfrm>
            <a:off x="877824" y="5221224"/>
            <a:ext cx="4050792" cy="457200"/>
          </a:xfrm>
          <a:prstGeom prst="rect">
            <a:avLst/>
          </a:prstGeom>
          <a:noFill/>
          <a:ln/>
        </p:spPr>
        <p:txBody>
          <a:bodyPr wrap="square" lIns="0" tIns="0" rIns="0" bIns="0" rtlCol="0" anchor="ctr">
            <a:normAutofit/>
          </a:bodyPr>
          <a:lstStyle/>
          <a:p>
            <a:pPr algn="ctr" indent="0" marL="0">
              <a:buNone/>
            </a:pPr>
            <a:r>
              <a:rPr lang="en-US" sz="1040" i="1" dirty="0">
                <a:solidFill>
                  <a:srgbClr val="FFB25B"/>
                </a:solidFill>
                <a:latin typeface="Aptos" pitchFamily="34" charset="0"/>
                <a:ea typeface="Aptos" pitchFamily="34" charset="-122"/>
                <a:cs typeface="Aptos" pitchFamily="34" charset="-120"/>
              </a:rPr>
              <a:t>Avoid quoting a fixed salary unless you have a current, role-specific official source.</a:t>
            </a:r>
            <a:endParaRPr lang="en-US" sz="1040" dirty="0"/>
          </a:p>
        </p:txBody>
      </p:sp>
      <p:sp>
        <p:nvSpPr>
          <p:cNvPr id="24" name="Shape 22"/>
          <p:cNvSpPr/>
          <p:nvPr/>
        </p:nvSpPr>
        <p:spPr>
          <a:xfrm>
            <a:off x="5632704" y="1344168"/>
            <a:ext cx="5961888" cy="4526280"/>
          </a:xfrm>
          <a:prstGeom prst="roundRect">
            <a:avLst>
              <a:gd name="adj" fmla="val 2424"/>
            </a:avLst>
          </a:prstGeom>
          <a:solidFill>
            <a:srgbClr val="10263D"/>
          </a:solidFill>
          <a:ln w="12700">
            <a:solidFill>
              <a:srgbClr val="26415D"/>
            </a:solidFill>
            <a:prstDash val="solid"/>
          </a:ln>
        </p:spPr>
      </p:sp>
      <p:sp>
        <p:nvSpPr>
          <p:cNvPr id="25" name="Text 23"/>
          <p:cNvSpPr/>
          <p:nvPr/>
        </p:nvSpPr>
        <p:spPr>
          <a:xfrm>
            <a:off x="5925312" y="1664208"/>
            <a:ext cx="5120640" cy="329184"/>
          </a:xfrm>
          <a:prstGeom prst="rect">
            <a:avLst/>
          </a:prstGeom>
          <a:noFill/>
          <a:ln/>
        </p:spPr>
        <p:txBody>
          <a:bodyPr wrap="square" lIns="0" tIns="0" rIns="0" bIns="0" rtlCol="0" anchor="ctr">
            <a:normAutofit/>
          </a:bodyPr>
          <a:lstStyle/>
          <a:p>
            <a:pPr algn="l" indent="0" marL="0">
              <a:buNone/>
            </a:pPr>
            <a:r>
              <a:rPr lang="en-US" sz="2000" b="1" dirty="0">
                <a:solidFill>
                  <a:srgbClr val="F5F8FC"/>
                </a:solidFill>
                <a:latin typeface="Aptos Display" pitchFamily="34" charset="0"/>
                <a:ea typeface="Aptos Display" pitchFamily="34" charset="-122"/>
                <a:cs typeface="Aptos Display" pitchFamily="34" charset="-120"/>
              </a:rPr>
              <a:t>Student preparation roadmap</a:t>
            </a:r>
            <a:endParaRPr lang="en-US" sz="2000" dirty="0"/>
          </a:p>
        </p:txBody>
      </p:sp>
      <p:sp>
        <p:nvSpPr>
          <p:cNvPr id="26" name="Shape 24"/>
          <p:cNvSpPr/>
          <p:nvPr/>
        </p:nvSpPr>
        <p:spPr>
          <a:xfrm>
            <a:off x="5925312" y="2258568"/>
            <a:ext cx="2359152" cy="1014984"/>
          </a:xfrm>
          <a:prstGeom prst="roundRect">
            <a:avLst>
              <a:gd name="adj" fmla="val 10811"/>
            </a:avLst>
          </a:prstGeom>
          <a:solidFill>
            <a:srgbClr val="0C1D30"/>
          </a:solidFill>
          <a:ln w="12700">
            <a:solidFill>
              <a:srgbClr val="26415D"/>
            </a:solidFill>
            <a:prstDash val="solid"/>
          </a:ln>
        </p:spPr>
      </p:sp>
      <p:sp>
        <p:nvSpPr>
          <p:cNvPr id="27" name="Text 25"/>
          <p:cNvSpPr/>
          <p:nvPr/>
        </p:nvSpPr>
        <p:spPr>
          <a:xfrm>
            <a:off x="6071616" y="2368296"/>
            <a:ext cx="347472" cy="219456"/>
          </a:xfrm>
          <a:prstGeom prst="rect">
            <a:avLst/>
          </a:prstGeom>
          <a:noFill/>
          <a:ln/>
        </p:spPr>
        <p:txBody>
          <a:bodyPr wrap="square" lIns="0" tIns="0" rIns="0" bIns="0" rtlCol="0" anchor="ctr">
            <a:normAutofit/>
          </a:bodyPr>
          <a:lstStyle/>
          <a:p>
            <a:pPr algn="l" indent="0" marL="0">
              <a:buNone/>
            </a:pPr>
            <a:r>
              <a:rPr lang="en-US" sz="940" b="1" dirty="0">
                <a:solidFill>
                  <a:srgbClr val="4FD1C5"/>
                </a:solidFill>
                <a:latin typeface="Aptos" pitchFamily="34" charset="0"/>
                <a:ea typeface="Aptos" pitchFamily="34" charset="-122"/>
                <a:cs typeface="Aptos" pitchFamily="34" charset="-120"/>
              </a:rPr>
              <a:t>01</a:t>
            </a:r>
            <a:endParaRPr lang="en-US" sz="940" dirty="0"/>
          </a:p>
        </p:txBody>
      </p:sp>
      <p:sp>
        <p:nvSpPr>
          <p:cNvPr id="28" name="Text 26"/>
          <p:cNvSpPr/>
          <p:nvPr/>
        </p:nvSpPr>
        <p:spPr>
          <a:xfrm>
            <a:off x="6071616" y="2606040"/>
            <a:ext cx="1938528" cy="228600"/>
          </a:xfrm>
          <a:prstGeom prst="rect">
            <a:avLst/>
          </a:prstGeom>
          <a:noFill/>
          <a:ln/>
        </p:spPr>
        <p:txBody>
          <a:bodyPr wrap="square" lIns="0" tIns="0" rIns="0" bIns="0" rtlCol="0" anchor="ctr">
            <a:normAutofit/>
          </a:bodyPr>
          <a:lstStyle/>
          <a:p>
            <a:pPr algn="l" indent="0" marL="0">
              <a:buNone/>
            </a:pPr>
            <a:r>
              <a:rPr lang="en-US" sz="1260" b="1" dirty="0">
                <a:solidFill>
                  <a:srgbClr val="F5F8FC"/>
                </a:solidFill>
                <a:latin typeface="Aptos" pitchFamily="34" charset="0"/>
                <a:ea typeface="Aptos" pitchFamily="34" charset="-122"/>
                <a:cs typeface="Aptos" pitchFamily="34" charset="-120"/>
              </a:rPr>
              <a:t>Foundation</a:t>
            </a:r>
            <a:endParaRPr lang="en-US" sz="1260" dirty="0"/>
          </a:p>
        </p:txBody>
      </p:sp>
      <p:sp>
        <p:nvSpPr>
          <p:cNvPr id="29" name="Text 27"/>
          <p:cNvSpPr/>
          <p:nvPr/>
        </p:nvSpPr>
        <p:spPr>
          <a:xfrm>
            <a:off x="6071616" y="2871216"/>
            <a:ext cx="1965960" cy="310896"/>
          </a:xfrm>
          <a:prstGeom prst="rect">
            <a:avLst/>
          </a:prstGeom>
          <a:noFill/>
          <a:ln/>
        </p:spPr>
        <p:txBody>
          <a:bodyPr wrap="square" lIns="0" tIns="0" rIns="0" bIns="0" rtlCol="0" anchor="t">
            <a:normAutofit/>
          </a:bodyPr>
          <a:lstStyle/>
          <a:p>
            <a:pPr algn="l" indent="0" marL="0">
              <a:buNone/>
            </a:pPr>
            <a:r>
              <a:rPr lang="en-US" sz="970" dirty="0">
                <a:solidFill>
                  <a:srgbClr val="B7C4D6"/>
                </a:solidFill>
                <a:latin typeface="Aptos" pitchFamily="34" charset="0"/>
                <a:ea typeface="Aptos" pitchFamily="34" charset="-122"/>
                <a:cs typeface="Aptos" pitchFamily="34" charset="-120"/>
              </a:rPr>
              <a:t>Digital logic · analog basics · computer architecture</a:t>
            </a:r>
            <a:endParaRPr lang="en-US" sz="970" dirty="0"/>
          </a:p>
        </p:txBody>
      </p:sp>
      <p:sp>
        <p:nvSpPr>
          <p:cNvPr id="30" name="Shape 28"/>
          <p:cNvSpPr/>
          <p:nvPr/>
        </p:nvSpPr>
        <p:spPr>
          <a:xfrm>
            <a:off x="8540496" y="2258568"/>
            <a:ext cx="2359152" cy="1014984"/>
          </a:xfrm>
          <a:prstGeom prst="roundRect">
            <a:avLst>
              <a:gd name="adj" fmla="val 10811"/>
            </a:avLst>
          </a:prstGeom>
          <a:solidFill>
            <a:srgbClr val="0C1D30"/>
          </a:solidFill>
          <a:ln w="12700">
            <a:solidFill>
              <a:srgbClr val="26415D"/>
            </a:solidFill>
            <a:prstDash val="solid"/>
          </a:ln>
        </p:spPr>
      </p:sp>
      <p:sp>
        <p:nvSpPr>
          <p:cNvPr id="31" name="Text 29"/>
          <p:cNvSpPr/>
          <p:nvPr/>
        </p:nvSpPr>
        <p:spPr>
          <a:xfrm>
            <a:off x="8686800" y="2368296"/>
            <a:ext cx="347472" cy="219456"/>
          </a:xfrm>
          <a:prstGeom prst="rect">
            <a:avLst/>
          </a:prstGeom>
          <a:noFill/>
          <a:ln/>
        </p:spPr>
        <p:txBody>
          <a:bodyPr wrap="square" lIns="0" tIns="0" rIns="0" bIns="0" rtlCol="0" anchor="ctr">
            <a:normAutofit/>
          </a:bodyPr>
          <a:lstStyle/>
          <a:p>
            <a:pPr algn="l" indent="0" marL="0">
              <a:buNone/>
            </a:pPr>
            <a:r>
              <a:rPr lang="en-US" sz="940" b="1" dirty="0">
                <a:solidFill>
                  <a:srgbClr val="4FD1C5"/>
                </a:solidFill>
                <a:latin typeface="Aptos" pitchFamily="34" charset="0"/>
                <a:ea typeface="Aptos" pitchFamily="34" charset="-122"/>
                <a:cs typeface="Aptos" pitchFamily="34" charset="-120"/>
              </a:rPr>
              <a:t>02</a:t>
            </a:r>
            <a:endParaRPr lang="en-US" sz="940" dirty="0"/>
          </a:p>
        </p:txBody>
      </p:sp>
      <p:sp>
        <p:nvSpPr>
          <p:cNvPr id="32" name="Text 30"/>
          <p:cNvSpPr/>
          <p:nvPr/>
        </p:nvSpPr>
        <p:spPr>
          <a:xfrm>
            <a:off x="8686800" y="2606040"/>
            <a:ext cx="1938528" cy="228600"/>
          </a:xfrm>
          <a:prstGeom prst="rect">
            <a:avLst/>
          </a:prstGeom>
          <a:noFill/>
          <a:ln/>
        </p:spPr>
        <p:txBody>
          <a:bodyPr wrap="square" lIns="0" tIns="0" rIns="0" bIns="0" rtlCol="0" anchor="ctr">
            <a:normAutofit/>
          </a:bodyPr>
          <a:lstStyle/>
          <a:p>
            <a:pPr algn="l" indent="0" marL="0">
              <a:buNone/>
            </a:pPr>
            <a:r>
              <a:rPr lang="en-US" sz="1260" b="1" dirty="0">
                <a:solidFill>
                  <a:srgbClr val="F5F8FC"/>
                </a:solidFill>
                <a:latin typeface="Aptos" pitchFamily="34" charset="0"/>
                <a:ea typeface="Aptos" pitchFamily="34" charset="-122"/>
                <a:cs typeface="Aptos" pitchFamily="34" charset="-120"/>
              </a:rPr>
              <a:t>Practice</a:t>
            </a:r>
            <a:endParaRPr lang="en-US" sz="1260" dirty="0"/>
          </a:p>
        </p:txBody>
      </p:sp>
      <p:sp>
        <p:nvSpPr>
          <p:cNvPr id="33" name="Text 31"/>
          <p:cNvSpPr/>
          <p:nvPr/>
        </p:nvSpPr>
        <p:spPr>
          <a:xfrm>
            <a:off x="8686800" y="2871216"/>
            <a:ext cx="1965960" cy="310896"/>
          </a:xfrm>
          <a:prstGeom prst="rect">
            <a:avLst/>
          </a:prstGeom>
          <a:noFill/>
          <a:ln/>
        </p:spPr>
        <p:txBody>
          <a:bodyPr wrap="square" lIns="0" tIns="0" rIns="0" bIns="0" rtlCol="0" anchor="t">
            <a:normAutofit/>
          </a:bodyPr>
          <a:lstStyle/>
          <a:p>
            <a:pPr algn="l" indent="0" marL="0">
              <a:buNone/>
            </a:pPr>
            <a:r>
              <a:rPr lang="en-US" sz="970" dirty="0">
                <a:solidFill>
                  <a:srgbClr val="B7C4D6"/>
                </a:solidFill>
                <a:latin typeface="Aptos" pitchFamily="34" charset="0"/>
                <a:ea typeface="Aptos" pitchFamily="34" charset="-122"/>
                <a:cs typeface="Aptos" pitchFamily="34" charset="-120"/>
              </a:rPr>
              <a:t>Verilog/SystemVerilog projects · GitHub portfolio</a:t>
            </a:r>
            <a:endParaRPr lang="en-US" sz="970" dirty="0"/>
          </a:p>
        </p:txBody>
      </p:sp>
      <p:sp>
        <p:nvSpPr>
          <p:cNvPr id="34" name="Shape 32"/>
          <p:cNvSpPr/>
          <p:nvPr/>
        </p:nvSpPr>
        <p:spPr>
          <a:xfrm>
            <a:off x="5925312" y="3520440"/>
            <a:ext cx="2359152" cy="1014984"/>
          </a:xfrm>
          <a:prstGeom prst="roundRect">
            <a:avLst>
              <a:gd name="adj" fmla="val 10811"/>
            </a:avLst>
          </a:prstGeom>
          <a:solidFill>
            <a:srgbClr val="0C1D30"/>
          </a:solidFill>
          <a:ln w="12700">
            <a:solidFill>
              <a:srgbClr val="26415D"/>
            </a:solidFill>
            <a:prstDash val="solid"/>
          </a:ln>
        </p:spPr>
      </p:sp>
      <p:sp>
        <p:nvSpPr>
          <p:cNvPr id="35" name="Text 33"/>
          <p:cNvSpPr/>
          <p:nvPr/>
        </p:nvSpPr>
        <p:spPr>
          <a:xfrm>
            <a:off x="6071616" y="3630168"/>
            <a:ext cx="347472" cy="219456"/>
          </a:xfrm>
          <a:prstGeom prst="rect">
            <a:avLst/>
          </a:prstGeom>
          <a:noFill/>
          <a:ln/>
        </p:spPr>
        <p:txBody>
          <a:bodyPr wrap="square" lIns="0" tIns="0" rIns="0" bIns="0" rtlCol="0" anchor="ctr">
            <a:normAutofit/>
          </a:bodyPr>
          <a:lstStyle/>
          <a:p>
            <a:pPr algn="l" indent="0" marL="0">
              <a:buNone/>
            </a:pPr>
            <a:r>
              <a:rPr lang="en-US" sz="940" b="1" dirty="0">
                <a:solidFill>
                  <a:srgbClr val="4FD1C5"/>
                </a:solidFill>
                <a:latin typeface="Aptos" pitchFamily="34" charset="0"/>
                <a:ea typeface="Aptos" pitchFamily="34" charset="-122"/>
                <a:cs typeface="Aptos" pitchFamily="34" charset="-120"/>
              </a:rPr>
              <a:t>03</a:t>
            </a:r>
            <a:endParaRPr lang="en-US" sz="940" dirty="0"/>
          </a:p>
        </p:txBody>
      </p:sp>
      <p:sp>
        <p:nvSpPr>
          <p:cNvPr id="36" name="Text 34"/>
          <p:cNvSpPr/>
          <p:nvPr/>
        </p:nvSpPr>
        <p:spPr>
          <a:xfrm>
            <a:off x="6071616" y="3867912"/>
            <a:ext cx="1938528" cy="228600"/>
          </a:xfrm>
          <a:prstGeom prst="rect">
            <a:avLst/>
          </a:prstGeom>
          <a:noFill/>
          <a:ln/>
        </p:spPr>
        <p:txBody>
          <a:bodyPr wrap="square" lIns="0" tIns="0" rIns="0" bIns="0" rtlCol="0" anchor="ctr">
            <a:normAutofit/>
          </a:bodyPr>
          <a:lstStyle/>
          <a:p>
            <a:pPr algn="l" indent="0" marL="0">
              <a:buNone/>
            </a:pPr>
            <a:r>
              <a:rPr lang="en-US" sz="1260" b="1" dirty="0">
                <a:solidFill>
                  <a:srgbClr val="F5F8FC"/>
                </a:solidFill>
                <a:latin typeface="Aptos" pitchFamily="34" charset="0"/>
                <a:ea typeface="Aptos" pitchFamily="34" charset="-122"/>
                <a:cs typeface="Aptos" pitchFamily="34" charset="-120"/>
              </a:rPr>
              <a:t>Tools</a:t>
            </a:r>
            <a:endParaRPr lang="en-US" sz="1260" dirty="0"/>
          </a:p>
        </p:txBody>
      </p:sp>
      <p:sp>
        <p:nvSpPr>
          <p:cNvPr id="37" name="Text 35"/>
          <p:cNvSpPr/>
          <p:nvPr/>
        </p:nvSpPr>
        <p:spPr>
          <a:xfrm>
            <a:off x="6071616" y="4133088"/>
            <a:ext cx="1965960" cy="310896"/>
          </a:xfrm>
          <a:prstGeom prst="rect">
            <a:avLst/>
          </a:prstGeom>
          <a:noFill/>
          <a:ln/>
        </p:spPr>
        <p:txBody>
          <a:bodyPr wrap="square" lIns="0" tIns="0" rIns="0" bIns="0" rtlCol="0" anchor="t">
            <a:normAutofit/>
          </a:bodyPr>
          <a:lstStyle/>
          <a:p>
            <a:pPr algn="l" indent="0" marL="0">
              <a:buNone/>
            </a:pPr>
            <a:r>
              <a:rPr lang="en-US" sz="970" dirty="0">
                <a:solidFill>
                  <a:srgbClr val="B7C4D6"/>
                </a:solidFill>
                <a:latin typeface="Aptos" pitchFamily="34" charset="0"/>
                <a:ea typeface="Aptos" pitchFamily="34" charset="-122"/>
                <a:cs typeface="Aptos" pitchFamily="34" charset="-120"/>
              </a:rPr>
              <a:t>Linux · Python/TCL · simulation / EDA exposure</a:t>
            </a:r>
            <a:endParaRPr lang="en-US" sz="970" dirty="0"/>
          </a:p>
        </p:txBody>
      </p:sp>
      <p:sp>
        <p:nvSpPr>
          <p:cNvPr id="38" name="Shape 36"/>
          <p:cNvSpPr/>
          <p:nvPr/>
        </p:nvSpPr>
        <p:spPr>
          <a:xfrm>
            <a:off x="8540496" y="3520440"/>
            <a:ext cx="2359152" cy="1014984"/>
          </a:xfrm>
          <a:prstGeom prst="roundRect">
            <a:avLst>
              <a:gd name="adj" fmla="val 10811"/>
            </a:avLst>
          </a:prstGeom>
          <a:solidFill>
            <a:srgbClr val="0C1D30"/>
          </a:solidFill>
          <a:ln w="12700">
            <a:solidFill>
              <a:srgbClr val="26415D"/>
            </a:solidFill>
            <a:prstDash val="solid"/>
          </a:ln>
        </p:spPr>
      </p:sp>
      <p:sp>
        <p:nvSpPr>
          <p:cNvPr id="39" name="Text 37"/>
          <p:cNvSpPr/>
          <p:nvPr/>
        </p:nvSpPr>
        <p:spPr>
          <a:xfrm>
            <a:off x="8686800" y="3630168"/>
            <a:ext cx="347472" cy="219456"/>
          </a:xfrm>
          <a:prstGeom prst="rect">
            <a:avLst/>
          </a:prstGeom>
          <a:noFill/>
          <a:ln/>
        </p:spPr>
        <p:txBody>
          <a:bodyPr wrap="square" lIns="0" tIns="0" rIns="0" bIns="0" rtlCol="0" anchor="ctr">
            <a:normAutofit/>
          </a:bodyPr>
          <a:lstStyle/>
          <a:p>
            <a:pPr algn="l" indent="0" marL="0">
              <a:buNone/>
            </a:pPr>
            <a:r>
              <a:rPr lang="en-US" sz="940" b="1" dirty="0">
                <a:solidFill>
                  <a:srgbClr val="4FD1C5"/>
                </a:solidFill>
                <a:latin typeface="Aptos" pitchFamily="34" charset="0"/>
                <a:ea typeface="Aptos" pitchFamily="34" charset="-122"/>
                <a:cs typeface="Aptos" pitchFamily="34" charset="-120"/>
              </a:rPr>
              <a:t>04</a:t>
            </a:r>
            <a:endParaRPr lang="en-US" sz="940" dirty="0"/>
          </a:p>
        </p:txBody>
      </p:sp>
      <p:sp>
        <p:nvSpPr>
          <p:cNvPr id="40" name="Text 38"/>
          <p:cNvSpPr/>
          <p:nvPr/>
        </p:nvSpPr>
        <p:spPr>
          <a:xfrm>
            <a:off x="8686800" y="3867912"/>
            <a:ext cx="1938528" cy="228600"/>
          </a:xfrm>
          <a:prstGeom prst="rect">
            <a:avLst/>
          </a:prstGeom>
          <a:noFill/>
          <a:ln/>
        </p:spPr>
        <p:txBody>
          <a:bodyPr wrap="square" lIns="0" tIns="0" rIns="0" bIns="0" rtlCol="0" anchor="ctr">
            <a:normAutofit/>
          </a:bodyPr>
          <a:lstStyle/>
          <a:p>
            <a:pPr algn="l" indent="0" marL="0">
              <a:buNone/>
            </a:pPr>
            <a:r>
              <a:rPr lang="en-US" sz="1260" b="1" dirty="0">
                <a:solidFill>
                  <a:srgbClr val="F5F8FC"/>
                </a:solidFill>
                <a:latin typeface="Aptos" pitchFamily="34" charset="0"/>
                <a:ea typeface="Aptos" pitchFamily="34" charset="-122"/>
                <a:cs typeface="Aptos" pitchFamily="34" charset="-120"/>
              </a:rPr>
              <a:t>Communication</a:t>
            </a:r>
            <a:endParaRPr lang="en-US" sz="1260" dirty="0"/>
          </a:p>
        </p:txBody>
      </p:sp>
      <p:sp>
        <p:nvSpPr>
          <p:cNvPr id="41" name="Text 39"/>
          <p:cNvSpPr/>
          <p:nvPr/>
        </p:nvSpPr>
        <p:spPr>
          <a:xfrm>
            <a:off x="8686800" y="4133088"/>
            <a:ext cx="1965960" cy="310896"/>
          </a:xfrm>
          <a:prstGeom prst="rect">
            <a:avLst/>
          </a:prstGeom>
          <a:noFill/>
          <a:ln/>
        </p:spPr>
        <p:txBody>
          <a:bodyPr wrap="square" lIns="0" tIns="0" rIns="0" bIns="0" rtlCol="0" anchor="t">
            <a:normAutofit/>
          </a:bodyPr>
          <a:lstStyle/>
          <a:p>
            <a:pPr algn="l" indent="0" marL="0">
              <a:buNone/>
            </a:pPr>
            <a:r>
              <a:rPr lang="en-US" sz="970" dirty="0">
                <a:solidFill>
                  <a:srgbClr val="B7C4D6"/>
                </a:solidFill>
                <a:latin typeface="Aptos" pitchFamily="34" charset="0"/>
                <a:ea typeface="Aptos" pitchFamily="34" charset="-122"/>
                <a:cs typeface="Aptos" pitchFamily="34" charset="-120"/>
              </a:rPr>
              <a:t>Technical English · teamwork · interview practice</a:t>
            </a:r>
            <a:endParaRPr lang="en-US" sz="970" dirty="0"/>
          </a:p>
        </p:txBody>
      </p:sp>
      <p:sp>
        <p:nvSpPr>
          <p:cNvPr id="42" name="Text 40"/>
          <p:cNvSpPr/>
          <p:nvPr/>
        </p:nvSpPr>
        <p:spPr>
          <a:xfrm>
            <a:off x="576072" y="6236208"/>
            <a:ext cx="10835640" cy="164592"/>
          </a:xfrm>
          <a:prstGeom prst="rect">
            <a:avLst/>
          </a:prstGeom>
          <a:noFill/>
          <a:ln/>
        </p:spPr>
        <p:txBody>
          <a:bodyPr wrap="square" lIns="0" tIns="0" rIns="0" bIns="0" rtlCol="0" anchor="ctr">
            <a:normAutofit/>
          </a:bodyPr>
          <a:lstStyle/>
          <a:p>
            <a:pPr algn="l" indent="0" marL="0">
              <a:buNone/>
            </a:pPr>
            <a:r>
              <a:rPr lang="en-US" sz="730" dirty="0">
                <a:solidFill>
                  <a:srgbClr val="6F829A"/>
                </a:solidFill>
                <a:latin typeface="Aptos" pitchFamily="34" charset="0"/>
                <a:ea typeface="Aptos" pitchFamily="34" charset="-122"/>
                <a:cs typeface="Aptos" pitchFamily="34" charset="-120"/>
              </a:rPr>
              <a:t>Benefit categories and roadmap are summarized from the group presentation; exact compensation can vary by role and time.</a:t>
            </a:r>
            <a:endParaRPr lang="en-US" sz="730" dirty="0"/>
          </a:p>
        </p:txBody>
      </p:sp>
      <p:sp>
        <p:nvSpPr>
          <p:cNvPr id="25" name="Slide Number Placeholder 0"/>
          <p:cNvSpPr>
            <a:spLocks noGrp="1"/>
          </p:cNvSpPr>
          <p:nvPr>
            <p:ph type="sldNum" sz="quarter" idx="4294967295"/>
          </p:nvPr>
        </p:nvSpPr>
        <p:spPr>
          <a:xfrm>
            <a:off x="11201400" y="650138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F829A"/>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47472"/>
            <a:ext cx="5303520" cy="201168"/>
          </a:xfrm>
          <a:prstGeom prst="rect">
            <a:avLst/>
          </a:prstGeom>
          <a:noFill/>
          <a:ln/>
        </p:spPr>
        <p:txBody>
          <a:bodyPr wrap="square" lIns="0" tIns="0" rIns="0" bIns="0" rtlCol="0" anchor="ctr">
            <a:normAutofit/>
          </a:bodyPr>
          <a:lstStyle/>
          <a:p>
            <a:pPr algn="l" indent="0" marL="0">
              <a:buNone/>
            </a:pPr>
            <a:r>
              <a:rPr lang="en-US" sz="930" b="1" spc="140" kern="0" dirty="0">
                <a:solidFill>
                  <a:srgbClr val="4FD1C5"/>
                </a:solidFill>
                <a:latin typeface="Aptos" pitchFamily="34" charset="0"/>
                <a:ea typeface="Aptos" pitchFamily="34" charset="-122"/>
                <a:cs typeface="Aptos" pitchFamily="34" charset="-120"/>
              </a:rPr>
              <a:t>CONCLUSION</a:t>
            </a:r>
            <a:endParaRPr lang="en-US" sz="930" dirty="0"/>
          </a:p>
        </p:txBody>
      </p:sp>
      <p:sp>
        <p:nvSpPr>
          <p:cNvPr id="3" name="Text 1"/>
          <p:cNvSpPr/>
          <p:nvPr/>
        </p:nvSpPr>
        <p:spPr>
          <a:xfrm>
            <a:off x="603504" y="1170432"/>
            <a:ext cx="9784080" cy="603504"/>
          </a:xfrm>
          <a:prstGeom prst="rect">
            <a:avLst/>
          </a:prstGeom>
          <a:noFill/>
          <a:ln/>
        </p:spPr>
        <p:txBody>
          <a:bodyPr wrap="square" lIns="0" tIns="0" rIns="0" bIns="0" rtlCol="0" anchor="ctr">
            <a:normAutofit/>
          </a:bodyPr>
          <a:lstStyle/>
          <a:p>
            <a:pPr algn="l" indent="0" marL="0">
              <a:buNone/>
            </a:pPr>
            <a:r>
              <a:rPr lang="en-US" sz="3800" b="1" dirty="0">
                <a:solidFill>
                  <a:srgbClr val="F5F8FC"/>
                </a:solidFill>
                <a:latin typeface="Aptos Display" pitchFamily="34" charset="0"/>
                <a:ea typeface="Aptos Display" pitchFamily="34" charset="-122"/>
                <a:cs typeface="Aptos Display" pitchFamily="34" charset="-120"/>
              </a:rPr>
              <a:t>Choose a track. Build depth.</a:t>
            </a:r>
            <a:endParaRPr lang="en-US" sz="3800" dirty="0"/>
          </a:p>
        </p:txBody>
      </p:sp>
      <p:sp>
        <p:nvSpPr>
          <p:cNvPr id="4" name="Text 2"/>
          <p:cNvSpPr/>
          <p:nvPr/>
        </p:nvSpPr>
        <p:spPr>
          <a:xfrm>
            <a:off x="603504" y="1810512"/>
            <a:ext cx="9784080" cy="603504"/>
          </a:xfrm>
          <a:prstGeom prst="rect">
            <a:avLst/>
          </a:prstGeom>
          <a:noFill/>
          <a:ln/>
        </p:spPr>
        <p:txBody>
          <a:bodyPr wrap="square" lIns="0" tIns="0" rIns="0" bIns="0" rtlCol="0" anchor="ctr">
            <a:normAutofit/>
          </a:bodyPr>
          <a:lstStyle/>
          <a:p>
            <a:pPr algn="l" indent="0" marL="0">
              <a:buNone/>
            </a:pPr>
            <a:r>
              <a:rPr lang="en-US" sz="3800" b="1" dirty="0">
                <a:solidFill>
                  <a:srgbClr val="4FD1C5"/>
                </a:solidFill>
                <a:latin typeface="Aptos Display" pitchFamily="34" charset="0"/>
                <a:ea typeface="Aptos Display" pitchFamily="34" charset="-122"/>
                <a:cs typeface="Aptos Display" pitchFamily="34" charset="-120"/>
              </a:rPr>
              <a:t>Then prove it with projects.</a:t>
            </a:r>
            <a:endParaRPr lang="en-US" sz="3800" dirty="0"/>
          </a:p>
        </p:txBody>
      </p:sp>
      <p:sp>
        <p:nvSpPr>
          <p:cNvPr id="5" name="Text 3"/>
          <p:cNvSpPr/>
          <p:nvPr/>
        </p:nvSpPr>
        <p:spPr>
          <a:xfrm>
            <a:off x="621792" y="2670048"/>
            <a:ext cx="9966960" cy="758952"/>
          </a:xfrm>
          <a:prstGeom prst="rect">
            <a:avLst/>
          </a:prstGeom>
          <a:noFill/>
          <a:ln/>
        </p:spPr>
        <p:txBody>
          <a:bodyPr wrap="square" lIns="0" tIns="0" rIns="0" bIns="0" rtlCol="0" anchor="ctr">
            <a:normAutofit/>
          </a:bodyPr>
          <a:lstStyle/>
          <a:p>
            <a:pPr algn="l" indent="0" marL="0">
              <a:buNone/>
            </a:pPr>
            <a:r>
              <a:rPr lang="en-US" sz="1740" dirty="0">
                <a:solidFill>
                  <a:srgbClr val="B7C4D6"/>
                </a:solidFill>
                <a:latin typeface="Aptos" pitchFamily="34" charset="0"/>
                <a:ea typeface="Aptos" pitchFamily="34" charset="-122"/>
                <a:cs typeface="Aptos" pitchFamily="34" charset="-120"/>
              </a:rPr>
              <a:t>Marvell Vietnam offers career paths across RTL Design, Verification, DFT, Physical Design, Analog/Mixed-Signal and silicon-facing roles.</a:t>
            </a:r>
            <a:endParaRPr lang="en-US" sz="1740" dirty="0"/>
          </a:p>
        </p:txBody>
      </p:sp>
      <p:sp>
        <p:nvSpPr>
          <p:cNvPr id="6" name="Shape 4"/>
          <p:cNvSpPr/>
          <p:nvPr/>
        </p:nvSpPr>
        <p:spPr>
          <a:xfrm>
            <a:off x="621792" y="3813048"/>
            <a:ext cx="1746504" cy="310896"/>
          </a:xfrm>
          <a:prstGeom prst="roundRect">
            <a:avLst>
              <a:gd name="adj" fmla="val 41176"/>
            </a:avLst>
          </a:prstGeom>
          <a:solidFill>
            <a:srgbClr val="0D2435">
              <a:alpha val="90000"/>
            </a:srgbClr>
          </a:solidFill>
          <a:ln w="12700">
            <a:solidFill>
              <a:srgbClr val="4FD1C5">
                <a:alpha val="60000"/>
              </a:srgbClr>
            </a:solidFill>
            <a:prstDash val="solid"/>
          </a:ln>
        </p:spPr>
      </p:sp>
      <p:sp>
        <p:nvSpPr>
          <p:cNvPr id="7" name="Shape 5"/>
          <p:cNvSpPr/>
          <p:nvPr/>
        </p:nvSpPr>
        <p:spPr>
          <a:xfrm>
            <a:off x="713232" y="3918204"/>
            <a:ext cx="73152" cy="73152"/>
          </a:xfrm>
          <a:prstGeom prst="ellipse">
            <a:avLst/>
          </a:prstGeom>
          <a:solidFill>
            <a:srgbClr val="4FD1C5"/>
          </a:solidFill>
          <a:ln w="12700">
            <a:solidFill>
              <a:srgbClr val="4FD1C5"/>
            </a:solidFill>
            <a:prstDash val="solid"/>
          </a:ln>
        </p:spPr>
      </p:sp>
      <p:sp>
        <p:nvSpPr>
          <p:cNvPr id="8" name="Text 6"/>
          <p:cNvSpPr/>
          <p:nvPr/>
        </p:nvSpPr>
        <p:spPr>
          <a:xfrm>
            <a:off x="832104" y="3831336"/>
            <a:ext cx="1499616"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RTL / Digital</a:t>
            </a:r>
            <a:endParaRPr lang="en-US" sz="920" dirty="0"/>
          </a:p>
        </p:txBody>
      </p:sp>
      <p:sp>
        <p:nvSpPr>
          <p:cNvPr id="9" name="Shape 7"/>
          <p:cNvSpPr/>
          <p:nvPr/>
        </p:nvSpPr>
        <p:spPr>
          <a:xfrm>
            <a:off x="2679192" y="3813048"/>
            <a:ext cx="1746504" cy="310896"/>
          </a:xfrm>
          <a:prstGeom prst="roundRect">
            <a:avLst>
              <a:gd name="adj" fmla="val 41176"/>
            </a:avLst>
          </a:prstGeom>
          <a:solidFill>
            <a:srgbClr val="0D2435">
              <a:alpha val="90000"/>
            </a:srgbClr>
          </a:solidFill>
          <a:ln w="12700">
            <a:solidFill>
              <a:srgbClr val="6AA7FF">
                <a:alpha val="60000"/>
              </a:srgbClr>
            </a:solidFill>
            <a:prstDash val="solid"/>
          </a:ln>
        </p:spPr>
      </p:sp>
      <p:sp>
        <p:nvSpPr>
          <p:cNvPr id="10" name="Shape 8"/>
          <p:cNvSpPr/>
          <p:nvPr/>
        </p:nvSpPr>
        <p:spPr>
          <a:xfrm>
            <a:off x="2770632" y="3918204"/>
            <a:ext cx="73152" cy="73152"/>
          </a:xfrm>
          <a:prstGeom prst="ellipse">
            <a:avLst/>
          </a:prstGeom>
          <a:solidFill>
            <a:srgbClr val="6AA7FF"/>
          </a:solidFill>
          <a:ln w="12700">
            <a:solidFill>
              <a:srgbClr val="6AA7FF"/>
            </a:solidFill>
            <a:prstDash val="solid"/>
          </a:ln>
        </p:spPr>
      </p:sp>
      <p:sp>
        <p:nvSpPr>
          <p:cNvPr id="11" name="Text 9"/>
          <p:cNvSpPr/>
          <p:nvPr/>
        </p:nvSpPr>
        <p:spPr>
          <a:xfrm>
            <a:off x="2889504" y="3831336"/>
            <a:ext cx="1499616"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Verification</a:t>
            </a:r>
            <a:endParaRPr lang="en-US" sz="920" dirty="0"/>
          </a:p>
        </p:txBody>
      </p:sp>
      <p:sp>
        <p:nvSpPr>
          <p:cNvPr id="12" name="Shape 10"/>
          <p:cNvSpPr/>
          <p:nvPr/>
        </p:nvSpPr>
        <p:spPr>
          <a:xfrm>
            <a:off x="4736592" y="3813048"/>
            <a:ext cx="1746504" cy="310896"/>
          </a:xfrm>
          <a:prstGeom prst="roundRect">
            <a:avLst>
              <a:gd name="adj" fmla="val 41176"/>
            </a:avLst>
          </a:prstGeom>
          <a:solidFill>
            <a:srgbClr val="0D2435">
              <a:alpha val="90000"/>
            </a:srgbClr>
          </a:solidFill>
          <a:ln w="12700">
            <a:solidFill>
              <a:srgbClr val="70D6A7">
                <a:alpha val="60000"/>
              </a:srgbClr>
            </a:solidFill>
            <a:prstDash val="solid"/>
          </a:ln>
        </p:spPr>
      </p:sp>
      <p:sp>
        <p:nvSpPr>
          <p:cNvPr id="13" name="Shape 11"/>
          <p:cNvSpPr/>
          <p:nvPr/>
        </p:nvSpPr>
        <p:spPr>
          <a:xfrm>
            <a:off x="4828032" y="3918204"/>
            <a:ext cx="73152" cy="73152"/>
          </a:xfrm>
          <a:prstGeom prst="ellipse">
            <a:avLst/>
          </a:prstGeom>
          <a:solidFill>
            <a:srgbClr val="70D6A7"/>
          </a:solidFill>
          <a:ln w="12700">
            <a:solidFill>
              <a:srgbClr val="70D6A7"/>
            </a:solidFill>
            <a:prstDash val="solid"/>
          </a:ln>
        </p:spPr>
      </p:sp>
      <p:sp>
        <p:nvSpPr>
          <p:cNvPr id="14" name="Text 12"/>
          <p:cNvSpPr/>
          <p:nvPr/>
        </p:nvSpPr>
        <p:spPr>
          <a:xfrm>
            <a:off x="4946904" y="3831336"/>
            <a:ext cx="1499616"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DFT</a:t>
            </a:r>
            <a:endParaRPr lang="en-US" sz="920" dirty="0"/>
          </a:p>
        </p:txBody>
      </p:sp>
      <p:sp>
        <p:nvSpPr>
          <p:cNvPr id="15" name="Shape 13"/>
          <p:cNvSpPr/>
          <p:nvPr/>
        </p:nvSpPr>
        <p:spPr>
          <a:xfrm>
            <a:off x="6793992" y="3813048"/>
            <a:ext cx="1746504" cy="310896"/>
          </a:xfrm>
          <a:prstGeom prst="roundRect">
            <a:avLst>
              <a:gd name="adj" fmla="val 41176"/>
            </a:avLst>
          </a:prstGeom>
          <a:solidFill>
            <a:srgbClr val="0D2435">
              <a:alpha val="90000"/>
            </a:srgbClr>
          </a:solidFill>
          <a:ln w="12700">
            <a:solidFill>
              <a:srgbClr val="6AA7FF">
                <a:alpha val="60000"/>
              </a:srgbClr>
            </a:solidFill>
            <a:prstDash val="solid"/>
          </a:ln>
        </p:spPr>
      </p:sp>
      <p:sp>
        <p:nvSpPr>
          <p:cNvPr id="16" name="Shape 14"/>
          <p:cNvSpPr/>
          <p:nvPr/>
        </p:nvSpPr>
        <p:spPr>
          <a:xfrm>
            <a:off x="6885432" y="3918204"/>
            <a:ext cx="73152" cy="73152"/>
          </a:xfrm>
          <a:prstGeom prst="ellipse">
            <a:avLst/>
          </a:prstGeom>
          <a:solidFill>
            <a:srgbClr val="6AA7FF"/>
          </a:solidFill>
          <a:ln w="12700">
            <a:solidFill>
              <a:srgbClr val="6AA7FF"/>
            </a:solidFill>
            <a:prstDash val="solid"/>
          </a:ln>
        </p:spPr>
      </p:sp>
      <p:sp>
        <p:nvSpPr>
          <p:cNvPr id="17" name="Text 15"/>
          <p:cNvSpPr/>
          <p:nvPr/>
        </p:nvSpPr>
        <p:spPr>
          <a:xfrm>
            <a:off x="7004304" y="3831336"/>
            <a:ext cx="1499616"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Physical / STA</a:t>
            </a:r>
            <a:endParaRPr lang="en-US" sz="920" dirty="0"/>
          </a:p>
        </p:txBody>
      </p:sp>
      <p:sp>
        <p:nvSpPr>
          <p:cNvPr id="18" name="Shape 16"/>
          <p:cNvSpPr/>
          <p:nvPr/>
        </p:nvSpPr>
        <p:spPr>
          <a:xfrm>
            <a:off x="8851392" y="3813048"/>
            <a:ext cx="1746504" cy="310896"/>
          </a:xfrm>
          <a:prstGeom prst="roundRect">
            <a:avLst>
              <a:gd name="adj" fmla="val 41176"/>
            </a:avLst>
          </a:prstGeom>
          <a:solidFill>
            <a:srgbClr val="0D2435">
              <a:alpha val="90000"/>
            </a:srgbClr>
          </a:solidFill>
          <a:ln w="12700">
            <a:solidFill>
              <a:srgbClr val="B08CFF">
                <a:alpha val="60000"/>
              </a:srgbClr>
            </a:solidFill>
            <a:prstDash val="solid"/>
          </a:ln>
        </p:spPr>
      </p:sp>
      <p:sp>
        <p:nvSpPr>
          <p:cNvPr id="19" name="Shape 17"/>
          <p:cNvSpPr/>
          <p:nvPr/>
        </p:nvSpPr>
        <p:spPr>
          <a:xfrm>
            <a:off x="8942832" y="3918204"/>
            <a:ext cx="73152" cy="73152"/>
          </a:xfrm>
          <a:prstGeom prst="ellipse">
            <a:avLst/>
          </a:prstGeom>
          <a:solidFill>
            <a:srgbClr val="B08CFF"/>
          </a:solidFill>
          <a:ln w="12700">
            <a:solidFill>
              <a:srgbClr val="B08CFF"/>
            </a:solidFill>
            <a:prstDash val="solid"/>
          </a:ln>
        </p:spPr>
      </p:sp>
      <p:sp>
        <p:nvSpPr>
          <p:cNvPr id="20" name="Text 18"/>
          <p:cNvSpPr/>
          <p:nvPr/>
        </p:nvSpPr>
        <p:spPr>
          <a:xfrm>
            <a:off x="9061704" y="3831336"/>
            <a:ext cx="1499616" cy="274320"/>
          </a:xfrm>
          <a:prstGeom prst="rect">
            <a:avLst/>
          </a:prstGeom>
          <a:noFill/>
          <a:ln/>
        </p:spPr>
        <p:txBody>
          <a:bodyPr wrap="square" lIns="0" tIns="0" rIns="0" bIns="0" rtlCol="0" anchor="ctr">
            <a:normAutofit/>
          </a:bodyPr>
          <a:lstStyle/>
          <a:p>
            <a:pPr algn="l" indent="0" marL="0">
              <a:buNone/>
            </a:pPr>
            <a:r>
              <a:rPr lang="en-US" sz="920" b="1" dirty="0">
                <a:solidFill>
                  <a:srgbClr val="D8FFFB"/>
                </a:solidFill>
                <a:latin typeface="Aptos" pitchFamily="34" charset="0"/>
                <a:ea typeface="Aptos" pitchFamily="34" charset="-122"/>
                <a:cs typeface="Aptos" pitchFamily="34" charset="-120"/>
              </a:rPr>
              <a:t>Analog / AMS</a:t>
            </a:r>
            <a:endParaRPr lang="en-US" sz="920" dirty="0"/>
          </a:p>
        </p:txBody>
      </p:sp>
      <p:sp>
        <p:nvSpPr>
          <p:cNvPr id="21" name="Shape 19"/>
          <p:cNvSpPr/>
          <p:nvPr/>
        </p:nvSpPr>
        <p:spPr>
          <a:xfrm>
            <a:off x="621792" y="4617720"/>
            <a:ext cx="10954512" cy="832104"/>
          </a:xfrm>
          <a:prstGeom prst="roundRect">
            <a:avLst>
              <a:gd name="adj" fmla="val 13187"/>
            </a:avLst>
          </a:prstGeom>
          <a:solidFill>
            <a:srgbClr val="0A2232"/>
          </a:solidFill>
          <a:ln w="12700">
            <a:solidFill>
              <a:srgbClr val="1D4B52"/>
            </a:solidFill>
            <a:prstDash val="solid"/>
          </a:ln>
        </p:spPr>
      </p:sp>
      <p:sp>
        <p:nvSpPr>
          <p:cNvPr id="22" name="Text 20"/>
          <p:cNvSpPr/>
          <p:nvPr/>
        </p:nvSpPr>
        <p:spPr>
          <a:xfrm>
            <a:off x="877824" y="4818888"/>
            <a:ext cx="10405872" cy="438912"/>
          </a:xfrm>
          <a:prstGeom prst="rect">
            <a:avLst/>
          </a:prstGeom>
          <a:noFill/>
          <a:ln/>
        </p:spPr>
        <p:txBody>
          <a:bodyPr wrap="square" lIns="0" tIns="0" rIns="0" bIns="0" rtlCol="0" anchor="ctr">
            <a:normAutofit/>
          </a:bodyPr>
          <a:lstStyle/>
          <a:p>
            <a:pPr algn="ctr" indent="0" marL="0">
              <a:buNone/>
            </a:pPr>
            <a:r>
              <a:rPr lang="en-US" sz="1570" b="1" dirty="0">
                <a:solidFill>
                  <a:srgbClr val="DFFCF9"/>
                </a:solidFill>
                <a:latin typeface="Aptos" pitchFamily="34" charset="0"/>
                <a:ea typeface="Aptos" pitchFamily="34" charset="-122"/>
                <a:cs typeface="Aptos" pitchFamily="34" charset="-120"/>
              </a:rPr>
              <a:t>For students, the goal is not to master every domain at once—it is to select a direction, strengthen the fundamentals and build evidence through real projects.</a:t>
            </a:r>
            <a:endParaRPr lang="en-US" sz="1570" dirty="0"/>
          </a:p>
        </p:txBody>
      </p:sp>
      <p:sp>
        <p:nvSpPr>
          <p:cNvPr id="23" name="Text 21"/>
          <p:cNvSpPr/>
          <p:nvPr/>
        </p:nvSpPr>
        <p:spPr>
          <a:xfrm>
            <a:off x="10012680" y="5623560"/>
            <a:ext cx="1234440" cy="438912"/>
          </a:xfrm>
          <a:prstGeom prst="rect">
            <a:avLst/>
          </a:prstGeom>
          <a:noFill/>
          <a:ln/>
        </p:spPr>
        <p:txBody>
          <a:bodyPr wrap="square" lIns="0" tIns="0" rIns="0" bIns="0" rtlCol="0" anchor="ctr">
            <a:normAutofit/>
          </a:bodyPr>
          <a:lstStyle/>
          <a:p>
            <a:pPr algn="r" indent="0" marL="0">
              <a:buNone/>
            </a:pPr>
            <a:r>
              <a:rPr lang="en-US" sz="2500" b="1" dirty="0">
                <a:solidFill>
                  <a:srgbClr val="F5F8FC"/>
                </a:solidFill>
                <a:latin typeface="Aptos" pitchFamily="34" charset="0"/>
                <a:ea typeface="Aptos" pitchFamily="34" charset="-122"/>
                <a:cs typeface="Aptos" pitchFamily="34" charset="-120"/>
              </a:rPr>
              <a:t>Q&amp;A</a:t>
            </a:r>
            <a:endParaRPr lang="en-US" sz="2500" dirty="0"/>
          </a:p>
        </p:txBody>
      </p:sp>
      <p:sp>
        <p:nvSpPr>
          <p:cNvPr id="24" name="Shape 22"/>
          <p:cNvSpPr/>
          <p:nvPr/>
        </p:nvSpPr>
        <p:spPr>
          <a:xfrm>
            <a:off x="9555480" y="338328"/>
            <a:ext cx="2057400" cy="310896"/>
          </a:xfrm>
          <a:prstGeom prst="roundRect">
            <a:avLst>
              <a:gd name="adj" fmla="val 35294"/>
            </a:avLst>
          </a:prstGeom>
          <a:solidFill>
            <a:srgbClr val="10263D"/>
          </a:solidFill>
          <a:ln w="12700">
            <a:solidFill>
              <a:srgbClr val="26415D"/>
            </a:solidFill>
            <a:prstDash val="solid"/>
          </a:ln>
        </p:spPr>
      </p:sp>
      <p:sp>
        <p:nvSpPr>
          <p:cNvPr id="25" name="Text 23"/>
          <p:cNvSpPr/>
          <p:nvPr/>
        </p:nvSpPr>
        <p:spPr>
          <a:xfrm>
            <a:off x="9646920" y="370332"/>
            <a:ext cx="1874520" cy="210312"/>
          </a:xfrm>
          <a:prstGeom prst="rect">
            <a:avLst/>
          </a:prstGeom>
          <a:noFill/>
          <a:ln/>
        </p:spPr>
        <p:txBody>
          <a:bodyPr wrap="square" lIns="0" tIns="0" rIns="0" bIns="0" rtlCol="0" anchor="ctr">
            <a:normAutofit/>
          </a:bodyPr>
          <a:lstStyle/>
          <a:p>
            <a:pPr algn="ctr" indent="0" marL="0">
              <a:buNone/>
            </a:pPr>
            <a:r>
              <a:rPr lang="en-US" sz="840" b="1" dirty="0">
                <a:solidFill>
                  <a:srgbClr val="D9E8F6"/>
                </a:solidFill>
                <a:latin typeface="Aptos" pitchFamily="34" charset="0"/>
                <a:ea typeface="Aptos" pitchFamily="34" charset="-122"/>
                <a:cs typeface="Aptos" pitchFamily="34" charset="-120"/>
              </a:rPr>
              <a:t>PHẠM TRIỆU KHANG DUY</a:t>
            </a:r>
            <a:endParaRPr lang="en-US" sz="840" dirty="0"/>
          </a:p>
        </p:txBody>
      </p:sp>
      <p:sp>
        <p:nvSpPr>
          <p:cNvPr id="25" name="Slide Number Placeholder 0"/>
          <p:cNvSpPr>
            <a:spLocks noGrp="1"/>
          </p:cNvSpPr>
          <p:nvPr>
            <p:ph type="sldNum" sz="quarter" idx="4294967295"/>
          </p:nvPr>
        </p:nvSpPr>
        <p:spPr>
          <a:xfrm>
            <a:off x="11201400" y="650138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F829A"/>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Class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 Opportunities in IC Design at Marvell Vietnam</dc:title>
  <dc:subject>Career Opportunities in IC Design at Marvell Vietnam</dc:subject>
  <dc:creator>OpenAI</dc:creator>
  <cp:lastModifiedBy>OpenAI</cp:lastModifiedBy>
  <cp:revision>1</cp:revision>
  <dcterms:created xsi:type="dcterms:W3CDTF">2026-08-27T02:07:57Z</dcterms:created>
  <dcterms:modified xsi:type="dcterms:W3CDTF">2026-08-27T02:07:57Z</dcterms:modified>
</cp:coreProperties>
</file>